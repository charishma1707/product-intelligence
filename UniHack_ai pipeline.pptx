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 name="Google Shape;3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 name="Google Shape;4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 name="Google Shape;7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 name="Google Shape;7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 name="Google Shape;17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facd107bc0_0_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g3facd107bc0_0_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g3facd107bc0_0_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7" name="Google Shape;32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8" name="Google Shape;32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3" name="Google Shape;37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8" name="Google Shape;42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9" name="Google Shape;429;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facd107bc0_0_1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facd107bc0_0_1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3" name="Google Shape;463;g3facd107bc0_0_1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8" name="Google Shape;46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9" name="Google Shape;46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3facd107bc0_0_1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3facd107bc0_0_12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3" name="Google Shape;493;g3facd107bc0_0_12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facd107bc0_0_1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3facd107bc0_0_13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0" name="Google Shape;500;g3facd107bc0_0_13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5" name="Google Shape;50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6" name="Google Shape;50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8" name="Google Shape;53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9" name="Google Shape;53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3facd107bc0_0_1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3facd107bc0_0_14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0" name="Google Shape;570;g3facd107bc0_0_14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3facd107bc0_0_1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3facd107bc0_0_14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6" name="Google Shape;576;g3facd107bc0_0_14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3facd107bc0_0_1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81" name="Google Shape;581;g3facd107bc0_0_15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2" name="Google Shape;582;g3facd107bc0_0_15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3facd107bc0_0_1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3facd107bc0_0_15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8" name="Google Shape;588;g3facd107bc0_0_15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3facd107bc0_0_1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93" name="Google Shape;593;g3facd107bc0_0_16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4" name="Google Shape;594;g3facd107bc0_0_16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3facd107bc0_0_1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99" name="Google Shape;599;g3facd107bc0_0_15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0" name="Google Shape;600;g3facd107bc0_0_15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3facd107bc0_0_1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3facd107bc0_0_17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6" name="Google Shape;606;g3facd107bc0_0_17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3facd107bc0_0_1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11" name="Google Shape;611;g3facd107bc0_0_17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2" name="Google Shape;612;g3facd107bc0_0_17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3facd107bc0_0_1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3facd107bc0_0_18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8" name="Google Shape;618;g3facd107bc0_0_18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3facd107bc0_0_1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23" name="Google Shape;623;g3facd107bc0_0_18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4" name="Google Shape;624;g3facd107bc0_0_18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3facd107bc0_0_1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29" name="Google Shape;629;g3facd107bc0_0_19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0" name="Google Shape;630;g3facd107bc0_0_19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2.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5" name="Shape 15"/>
        <p:cNvGrpSpPr/>
        <p:nvPr/>
      </p:nvGrpSpPr>
      <p:grpSpPr>
        <a:xfrm>
          <a:off x="0" y="0"/>
          <a:ext cx="0" cy="0"/>
          <a:chOff x="0" y="0"/>
          <a:chExt cx="0" cy="0"/>
        </a:xfrm>
      </p:grpSpPr>
      <p:pic>
        <p:nvPicPr>
          <p:cNvPr descr="image.png" id="16" name="Google Shape;16;p3"/>
          <p:cNvPicPr preferRelativeResize="0"/>
          <p:nvPr/>
        </p:nvPicPr>
        <p:blipFill rotWithShape="1">
          <a:blip r:embed="rId3">
            <a:alphaModFix/>
          </a:blip>
          <a:srcRect b="0" l="0" r="0" t="0"/>
          <a:stretch/>
        </p:blipFill>
        <p:spPr>
          <a:xfrm>
            <a:off x="0" y="0"/>
            <a:ext cx="12192000" cy="6858000"/>
          </a:xfrm>
          <a:prstGeom prst="rect">
            <a:avLst/>
          </a:prstGeom>
          <a:noFill/>
          <a:ln>
            <a:noFill/>
          </a:ln>
        </p:spPr>
      </p:pic>
      <p:cxnSp>
        <p:nvCxnSpPr>
          <p:cNvPr id="17" name="Google Shape;17;p3"/>
          <p:cNvCxnSpPr/>
          <p:nvPr/>
        </p:nvCxnSpPr>
        <p:spPr>
          <a:xfrm>
            <a:off x="9418320" y="2103120"/>
            <a:ext cx="1188600" cy="548700"/>
          </a:xfrm>
          <a:prstGeom prst="straightConnector1">
            <a:avLst/>
          </a:prstGeom>
          <a:noFill/>
          <a:ln cap="flat" cmpd="sng" w="19050">
            <a:solidFill>
              <a:srgbClr val="1E3A5F"/>
            </a:solidFill>
            <a:prstDash val="solid"/>
            <a:round/>
            <a:headEnd len="sm" w="sm" type="none"/>
            <a:tailEnd len="sm" w="sm" type="none"/>
          </a:ln>
        </p:spPr>
      </p:cxnSp>
      <p:cxnSp>
        <p:nvCxnSpPr>
          <p:cNvPr id="18" name="Google Shape;18;p3"/>
          <p:cNvCxnSpPr/>
          <p:nvPr/>
        </p:nvCxnSpPr>
        <p:spPr>
          <a:xfrm>
            <a:off x="9052560" y="2651760"/>
            <a:ext cx="1554600" cy="548700"/>
          </a:xfrm>
          <a:prstGeom prst="straightConnector1">
            <a:avLst/>
          </a:prstGeom>
          <a:noFill/>
          <a:ln cap="flat" cmpd="sng" w="19050">
            <a:solidFill>
              <a:srgbClr val="1E3A5F"/>
            </a:solidFill>
            <a:prstDash val="solid"/>
            <a:round/>
            <a:headEnd len="sm" w="sm" type="none"/>
            <a:tailEnd len="sm" w="sm" type="none"/>
          </a:ln>
        </p:spPr>
      </p:cxnSp>
      <p:sp>
        <p:nvSpPr>
          <p:cNvPr id="19" name="Google Shape;19;p3"/>
          <p:cNvSpPr/>
          <p:nvPr/>
        </p:nvSpPr>
        <p:spPr>
          <a:xfrm>
            <a:off x="9418320" y="2103120"/>
            <a:ext cx="146400" cy="146400"/>
          </a:xfrm>
          <a:prstGeom prst="ellipse">
            <a:avLst/>
          </a:prstGeom>
          <a:solidFill>
            <a:srgbClr val="38BDF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 name="Google Shape;20;p3"/>
          <p:cNvSpPr/>
          <p:nvPr/>
        </p:nvSpPr>
        <p:spPr>
          <a:xfrm>
            <a:off x="9052560" y="3200400"/>
            <a:ext cx="146400" cy="146400"/>
          </a:xfrm>
          <a:prstGeom prst="ellipse">
            <a:avLst/>
          </a:prstGeom>
          <a:solidFill>
            <a:srgbClr val="38BDF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 name="Google Shape;21;p3"/>
          <p:cNvSpPr/>
          <p:nvPr/>
        </p:nvSpPr>
        <p:spPr>
          <a:xfrm>
            <a:off x="8778240" y="1463040"/>
            <a:ext cx="146400" cy="146400"/>
          </a:xfrm>
          <a:prstGeom prst="ellipse">
            <a:avLst/>
          </a:prstGeom>
          <a:solidFill>
            <a:srgbClr val="38BDF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 name="Google Shape;22;p3"/>
          <p:cNvSpPr/>
          <p:nvPr/>
        </p:nvSpPr>
        <p:spPr>
          <a:xfrm>
            <a:off x="640080" y="1417320"/>
            <a:ext cx="91440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172A"/>
              </a:buClr>
              <a:buSzPts val="1600"/>
              <a:buFont typeface="Calibri"/>
              <a:buNone/>
            </a:pPr>
            <a:r>
              <a:rPr b="1" lang="en-US" sz="1600">
                <a:solidFill>
                  <a:srgbClr val="0F172A"/>
                </a:solidFill>
                <a:latin typeface="Calibri"/>
                <a:ea typeface="Calibri"/>
                <a:cs typeface="Calibri"/>
                <a:sym typeface="Calibri"/>
              </a:rPr>
              <a:t>PRODUCT INTELLIGENCE &amp; AUTOMATED CATALOG ENRICHMENT</a:t>
            </a:r>
            <a:endParaRPr sz="1200">
              <a:solidFill>
                <a:schemeClr val="dk1"/>
              </a:solidFill>
              <a:latin typeface="Calibri"/>
              <a:ea typeface="Calibri"/>
              <a:cs typeface="Calibri"/>
              <a:sym typeface="Calibri"/>
            </a:endParaRPr>
          </a:p>
        </p:txBody>
      </p:sp>
      <p:sp>
        <p:nvSpPr>
          <p:cNvPr id="23" name="Google Shape;23;p3"/>
          <p:cNvSpPr/>
          <p:nvPr/>
        </p:nvSpPr>
        <p:spPr>
          <a:xfrm>
            <a:off x="640080" y="1828800"/>
            <a:ext cx="9875400" cy="173730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8FAFC"/>
              </a:buClr>
              <a:buSzPts val="3200"/>
              <a:buFont typeface="Calibri"/>
              <a:buNone/>
            </a:pPr>
            <a:r>
              <a:rPr b="1" lang="en-US" sz="3200">
                <a:solidFill>
                  <a:schemeClr val="dk1"/>
                </a:solidFill>
                <a:latin typeface="Calibri"/>
                <a:ea typeface="Calibri"/>
                <a:cs typeface="Calibri"/>
                <a:sym typeface="Calibri"/>
              </a:rPr>
              <a:t>Autonomous Unilog Product</a:t>
            </a:r>
            <a:endParaRPr sz="4400">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8FAFC"/>
              </a:buClr>
              <a:buSzPts val="3200"/>
              <a:buFont typeface="Calibri"/>
              <a:buNone/>
            </a:pPr>
            <a:r>
              <a:rPr b="1" lang="en-US" sz="3200">
                <a:solidFill>
                  <a:schemeClr val="dk1"/>
                </a:solidFill>
                <a:latin typeface="Calibri"/>
                <a:ea typeface="Calibri"/>
                <a:cs typeface="Calibri"/>
                <a:sym typeface="Calibri"/>
              </a:rPr>
              <a:t>Intelligence Pipeline</a:t>
            </a:r>
            <a:endParaRPr sz="4400">
              <a:solidFill>
                <a:schemeClr val="dk1"/>
              </a:solidFill>
              <a:latin typeface="Calibri"/>
              <a:ea typeface="Calibri"/>
              <a:cs typeface="Calibri"/>
              <a:sym typeface="Calibri"/>
            </a:endParaRPr>
          </a:p>
        </p:txBody>
      </p:sp>
      <p:sp>
        <p:nvSpPr>
          <p:cNvPr id="24" name="Google Shape;24;p3"/>
          <p:cNvSpPr/>
          <p:nvPr/>
        </p:nvSpPr>
        <p:spPr>
          <a:xfrm>
            <a:off x="640080" y="3566160"/>
            <a:ext cx="8778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4A3B8"/>
              </a:buClr>
              <a:buSzPts val="2200"/>
              <a:buFont typeface="Calibri"/>
              <a:buNone/>
            </a:pPr>
            <a:r>
              <a:rPr i="1" lang="en-US" sz="2200">
                <a:solidFill>
                  <a:srgbClr val="34D399"/>
                </a:solidFill>
                <a:latin typeface="Calibri"/>
                <a:ea typeface="Calibri"/>
                <a:cs typeface="Calibri"/>
                <a:sym typeface="Calibri"/>
              </a:rPr>
              <a:t>High-Accuracy Multi-Agent Sourcing, Evidence RAG &amp; Human-in-the-Loop System</a:t>
            </a:r>
            <a:endParaRPr sz="1600">
              <a:solidFill>
                <a:srgbClr val="34D399"/>
              </a:solidFill>
              <a:latin typeface="Calibri"/>
              <a:ea typeface="Calibri"/>
              <a:cs typeface="Calibri"/>
              <a:sym typeface="Calibri"/>
            </a:endParaRPr>
          </a:p>
        </p:txBody>
      </p:sp>
      <p:sp>
        <p:nvSpPr>
          <p:cNvPr id="25" name="Google Shape;25;p3"/>
          <p:cNvSpPr/>
          <p:nvPr/>
        </p:nvSpPr>
        <p:spPr>
          <a:xfrm>
            <a:off x="640080" y="4434840"/>
            <a:ext cx="19203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8BDF8"/>
              </a:buClr>
              <a:buSzPts val="1300"/>
              <a:buFont typeface="Calibri"/>
              <a:buNone/>
            </a:pPr>
            <a:r>
              <a:rPr b="1" lang="en-US" sz="1300">
                <a:solidFill>
                  <a:srgbClr val="38BDF8"/>
                </a:solidFill>
                <a:latin typeface="Calibri"/>
                <a:ea typeface="Calibri"/>
                <a:cs typeface="Calibri"/>
                <a:sym typeface="Calibri"/>
              </a:rPr>
              <a:t>PROJECT</a:t>
            </a:r>
            <a:endParaRPr sz="1050">
              <a:solidFill>
                <a:schemeClr val="dk1"/>
              </a:solidFill>
              <a:latin typeface="Calibri"/>
              <a:ea typeface="Calibri"/>
              <a:cs typeface="Calibri"/>
              <a:sym typeface="Calibri"/>
            </a:endParaRPr>
          </a:p>
        </p:txBody>
      </p:sp>
      <p:sp>
        <p:nvSpPr>
          <p:cNvPr id="26" name="Google Shape;26;p3"/>
          <p:cNvSpPr/>
          <p:nvPr/>
        </p:nvSpPr>
        <p:spPr>
          <a:xfrm>
            <a:off x="2606040" y="4434840"/>
            <a:ext cx="84126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8FAFC"/>
              </a:buClr>
              <a:buSzPts val="1600"/>
              <a:buFont typeface="Calibri"/>
              <a:buNone/>
            </a:pPr>
            <a:r>
              <a:rPr lang="en-US" sz="1600">
                <a:latin typeface="Calibri"/>
                <a:ea typeface="Calibri"/>
                <a:cs typeface="Calibri"/>
                <a:sym typeface="Calibri"/>
              </a:rPr>
              <a:t>Unilog Product Intelligence — Unilog Catalog Automation Framework</a:t>
            </a:r>
            <a:endParaRPr sz="1300">
              <a:latin typeface="Calibri"/>
              <a:ea typeface="Calibri"/>
              <a:cs typeface="Calibri"/>
              <a:sym typeface="Calibri"/>
            </a:endParaRPr>
          </a:p>
        </p:txBody>
      </p:sp>
      <p:sp>
        <p:nvSpPr>
          <p:cNvPr id="27" name="Google Shape;27;p3"/>
          <p:cNvSpPr/>
          <p:nvPr/>
        </p:nvSpPr>
        <p:spPr>
          <a:xfrm>
            <a:off x="640080" y="4837176"/>
            <a:ext cx="19203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8BDF8"/>
              </a:buClr>
              <a:buSzPts val="1300"/>
              <a:buFont typeface="Calibri"/>
              <a:buNone/>
            </a:pPr>
            <a:r>
              <a:rPr b="1" lang="en-US" sz="1300">
                <a:solidFill>
                  <a:srgbClr val="38BDF8"/>
                </a:solidFill>
                <a:latin typeface="Calibri"/>
                <a:ea typeface="Calibri"/>
                <a:cs typeface="Calibri"/>
                <a:sym typeface="Calibri"/>
              </a:rPr>
              <a:t>TEAM</a:t>
            </a:r>
            <a:endParaRPr sz="1050">
              <a:solidFill>
                <a:schemeClr val="dk1"/>
              </a:solidFill>
              <a:latin typeface="Calibri"/>
              <a:ea typeface="Calibri"/>
              <a:cs typeface="Calibri"/>
              <a:sym typeface="Calibri"/>
            </a:endParaRPr>
          </a:p>
        </p:txBody>
      </p:sp>
      <p:sp>
        <p:nvSpPr>
          <p:cNvPr id="28" name="Google Shape;28;p3"/>
          <p:cNvSpPr/>
          <p:nvPr/>
        </p:nvSpPr>
        <p:spPr>
          <a:xfrm>
            <a:off x="2606040" y="4837176"/>
            <a:ext cx="84126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8FAFC"/>
              </a:buClr>
              <a:buSzPts val="1600"/>
              <a:buFont typeface="Calibri"/>
              <a:buNone/>
            </a:pPr>
            <a:r>
              <a:rPr lang="en-US" sz="1600">
                <a:solidFill>
                  <a:schemeClr val="dk1"/>
                </a:solidFill>
                <a:latin typeface="Calibri"/>
                <a:ea typeface="Calibri"/>
                <a:cs typeface="Calibri"/>
                <a:sym typeface="Calibri"/>
              </a:rPr>
              <a:t>codewithcofee   ·   Team Leader: Charishma Alam</a:t>
            </a:r>
            <a:endParaRPr sz="1300">
              <a:solidFill>
                <a:schemeClr val="dk1"/>
              </a:solidFill>
              <a:latin typeface="Calibri"/>
              <a:ea typeface="Calibri"/>
              <a:cs typeface="Calibri"/>
              <a:sym typeface="Calibri"/>
            </a:endParaRPr>
          </a:p>
        </p:txBody>
      </p:sp>
      <p:sp>
        <p:nvSpPr>
          <p:cNvPr id="29" name="Google Shape;29;p3"/>
          <p:cNvSpPr/>
          <p:nvPr/>
        </p:nvSpPr>
        <p:spPr>
          <a:xfrm>
            <a:off x="640080" y="5239512"/>
            <a:ext cx="19203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8BDF8"/>
              </a:buClr>
              <a:buSzPts val="1300"/>
              <a:buFont typeface="Calibri"/>
              <a:buNone/>
            </a:pPr>
            <a:r>
              <a:rPr b="1" lang="en-US" sz="1300">
                <a:solidFill>
                  <a:srgbClr val="38BDF8"/>
                </a:solidFill>
                <a:latin typeface="Calibri"/>
                <a:ea typeface="Calibri"/>
                <a:cs typeface="Calibri"/>
                <a:sym typeface="Calibri"/>
              </a:rPr>
              <a:t>DELIVERY STANDARD</a:t>
            </a:r>
            <a:endParaRPr sz="1050">
              <a:solidFill>
                <a:schemeClr val="dk1"/>
              </a:solidFill>
              <a:latin typeface="Calibri"/>
              <a:ea typeface="Calibri"/>
              <a:cs typeface="Calibri"/>
              <a:sym typeface="Calibri"/>
            </a:endParaRPr>
          </a:p>
        </p:txBody>
      </p:sp>
      <p:sp>
        <p:nvSpPr>
          <p:cNvPr id="30" name="Google Shape;30;p3"/>
          <p:cNvSpPr/>
          <p:nvPr/>
        </p:nvSpPr>
        <p:spPr>
          <a:xfrm>
            <a:off x="2606040" y="5239512"/>
            <a:ext cx="84126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8FAFC"/>
              </a:buClr>
              <a:buSzPts val="1600"/>
              <a:buFont typeface="Calibri"/>
              <a:buNone/>
            </a:pPr>
            <a:r>
              <a:rPr lang="en-US" sz="1600">
                <a:solidFill>
                  <a:schemeClr val="dk1"/>
                </a:solidFill>
                <a:latin typeface="Calibri"/>
                <a:ea typeface="Calibri"/>
                <a:cs typeface="Calibri"/>
                <a:sym typeface="Calibri"/>
              </a:rPr>
              <a:t>Unilog 252-Column Master Catalog E-Commerce CSV Standard</a:t>
            </a:r>
            <a:endParaRPr sz="1300">
              <a:solidFill>
                <a:schemeClr val="dk1"/>
              </a:solidFill>
              <a:latin typeface="Calibri"/>
              <a:ea typeface="Calibri"/>
              <a:cs typeface="Calibri"/>
              <a:sym typeface="Calibri"/>
            </a:endParaRPr>
          </a:p>
        </p:txBody>
      </p:sp>
      <p:sp>
        <p:nvSpPr>
          <p:cNvPr id="31" name="Google Shape;31;p3"/>
          <p:cNvSpPr/>
          <p:nvPr/>
        </p:nvSpPr>
        <p:spPr>
          <a:xfrm>
            <a:off x="640080" y="5641848"/>
            <a:ext cx="19203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8BDF8"/>
              </a:buClr>
              <a:buSzPts val="1300"/>
              <a:buFont typeface="Calibri"/>
              <a:buNone/>
            </a:pPr>
            <a:r>
              <a:rPr b="1" lang="en-US" sz="1300">
                <a:solidFill>
                  <a:srgbClr val="38BDF8"/>
                </a:solidFill>
                <a:latin typeface="Calibri"/>
                <a:ea typeface="Calibri"/>
                <a:cs typeface="Calibri"/>
                <a:sym typeface="Calibri"/>
              </a:rPr>
              <a:t>GITHUB</a:t>
            </a:r>
            <a:endParaRPr sz="1050">
              <a:solidFill>
                <a:schemeClr val="dk1"/>
              </a:solidFill>
              <a:latin typeface="Calibri"/>
              <a:ea typeface="Calibri"/>
              <a:cs typeface="Calibri"/>
              <a:sym typeface="Calibri"/>
            </a:endParaRPr>
          </a:p>
        </p:txBody>
      </p:sp>
      <p:sp>
        <p:nvSpPr>
          <p:cNvPr id="32" name="Google Shape;32;p3"/>
          <p:cNvSpPr/>
          <p:nvPr/>
        </p:nvSpPr>
        <p:spPr>
          <a:xfrm>
            <a:off x="2606040" y="5641848"/>
            <a:ext cx="84126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8FAFC"/>
              </a:buClr>
              <a:buSzPts val="1600"/>
              <a:buFont typeface="Calibri"/>
              <a:buNone/>
            </a:pPr>
            <a:r>
              <a:rPr lang="en-US" sz="1600">
                <a:solidFill>
                  <a:schemeClr val="dk1"/>
                </a:solidFill>
                <a:latin typeface="Calibri"/>
                <a:ea typeface="Calibri"/>
                <a:cs typeface="Calibri"/>
                <a:sym typeface="Calibri"/>
              </a:rPr>
              <a:t>github.com/Charishma1707/product-intelligence</a:t>
            </a:r>
            <a:endParaRPr sz="1300">
              <a:solidFill>
                <a:schemeClr val="dk1"/>
              </a:solidFill>
              <a:latin typeface="Calibri"/>
              <a:ea typeface="Calibri"/>
              <a:cs typeface="Calibri"/>
              <a:sym typeface="Calibri"/>
            </a:endParaRPr>
          </a:p>
        </p:txBody>
      </p:sp>
      <p:sp>
        <p:nvSpPr>
          <p:cNvPr id="33" name="Google Shape;33;p3"/>
          <p:cNvSpPr/>
          <p:nvPr/>
        </p:nvSpPr>
        <p:spPr>
          <a:xfrm>
            <a:off x="457200" y="6473952"/>
            <a:ext cx="73152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172A"/>
              </a:buClr>
              <a:buSzPts val="1300"/>
              <a:buFont typeface="Calibri"/>
              <a:buNone/>
            </a:pPr>
            <a:r>
              <a:rPr lang="en-US" sz="1300">
                <a:solidFill>
                  <a:srgbClr val="0F172A"/>
                </a:solidFill>
                <a:latin typeface="Calibri"/>
                <a:ea typeface="Calibri"/>
                <a:cs typeface="Calibri"/>
                <a:sym typeface="Calibri"/>
              </a:rPr>
              <a:t>01 / 15   •   Cover</a:t>
            </a:r>
            <a:endParaRPr sz="900">
              <a:solidFill>
                <a:schemeClr val="dk1"/>
              </a:solidFill>
              <a:latin typeface="Calibri"/>
              <a:ea typeface="Calibri"/>
              <a:cs typeface="Calibri"/>
              <a:sym typeface="Calibri"/>
            </a:endParaRPr>
          </a:p>
        </p:txBody>
      </p:sp>
      <p:sp>
        <p:nvSpPr>
          <p:cNvPr id="34" name="Google Shape;34;p3"/>
          <p:cNvSpPr txBox="1"/>
          <p:nvPr/>
        </p:nvSpPr>
        <p:spPr>
          <a:xfrm>
            <a:off x="6116875" y="-2730525"/>
            <a:ext cx="1225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sp>
        <p:nvSpPr>
          <p:cNvPr id="35" name="Google Shape;35;p3"/>
          <p:cNvSpPr txBox="1"/>
          <p:nvPr/>
        </p:nvSpPr>
        <p:spPr>
          <a:xfrm>
            <a:off x="7197950" y="345850"/>
            <a:ext cx="146400" cy="7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txBox="1"/>
          <p:nvPr/>
        </p:nvSpPr>
        <p:spPr>
          <a:xfrm>
            <a:off x="3860575" y="5445025"/>
            <a:ext cx="8362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41" name="Shape 41"/>
        <p:cNvGrpSpPr/>
        <p:nvPr/>
      </p:nvGrpSpPr>
      <p:grpSpPr>
        <a:xfrm>
          <a:off x="0" y="0"/>
          <a:ext cx="0" cy="0"/>
          <a:chOff x="0" y="0"/>
          <a:chExt cx="0" cy="0"/>
        </a:xfrm>
      </p:grpSpPr>
      <p:pic>
        <p:nvPicPr>
          <p:cNvPr descr="image.png" id="42" name="Google Shape;42;p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3" name="Google Shape;43;p4"/>
          <p:cNvSpPr/>
          <p:nvPr/>
        </p:nvSpPr>
        <p:spPr>
          <a:xfrm>
            <a:off x="548640" y="347472"/>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172A"/>
              </a:buClr>
              <a:buSzPts val="1300"/>
              <a:buFont typeface="Calibri"/>
              <a:buNone/>
            </a:pPr>
            <a:r>
              <a:rPr b="1" lang="en-US" sz="1300">
                <a:solidFill>
                  <a:srgbClr val="0F172A"/>
                </a:solidFill>
                <a:latin typeface="Calibri"/>
                <a:ea typeface="Calibri"/>
                <a:cs typeface="Calibri"/>
                <a:sym typeface="Calibri"/>
              </a:rPr>
              <a:t>TEAM &amp; PERFORMANCE</a:t>
            </a:r>
            <a:endParaRPr sz="1100">
              <a:solidFill>
                <a:schemeClr val="dk1"/>
              </a:solidFill>
              <a:latin typeface="Calibri"/>
              <a:ea typeface="Calibri"/>
              <a:cs typeface="Calibri"/>
              <a:sym typeface="Calibri"/>
            </a:endParaRPr>
          </a:p>
        </p:txBody>
      </p:sp>
      <p:sp>
        <p:nvSpPr>
          <p:cNvPr id="44" name="Google Shape;44;p4"/>
          <p:cNvSpPr/>
          <p:nvPr/>
        </p:nvSpPr>
        <p:spPr>
          <a:xfrm>
            <a:off x="548640" y="603504"/>
            <a:ext cx="11064240" cy="86868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0F172A"/>
              </a:buClr>
              <a:buSzPts val="3200"/>
              <a:buFont typeface="Calibri"/>
              <a:buNone/>
            </a:pPr>
            <a:r>
              <a:rPr b="1" lang="en-US" sz="3200">
                <a:solidFill>
                  <a:srgbClr val="0F172A"/>
                </a:solidFill>
                <a:latin typeface="Calibri"/>
                <a:ea typeface="Calibri"/>
                <a:cs typeface="Calibri"/>
                <a:sym typeface="Calibri"/>
              </a:rPr>
              <a:t>Team Details &amp; Key Performance Snapshot</a:t>
            </a:r>
            <a:endParaRPr sz="3000">
              <a:solidFill>
                <a:schemeClr val="dk1"/>
              </a:solidFill>
              <a:latin typeface="Calibri"/>
              <a:ea typeface="Calibri"/>
              <a:cs typeface="Calibri"/>
              <a:sym typeface="Calibri"/>
            </a:endParaRPr>
          </a:p>
        </p:txBody>
      </p:sp>
      <p:sp>
        <p:nvSpPr>
          <p:cNvPr id="45" name="Google Shape;45;p4"/>
          <p:cNvSpPr/>
          <p:nvPr/>
        </p:nvSpPr>
        <p:spPr>
          <a:xfrm>
            <a:off x="548640" y="1691640"/>
            <a:ext cx="3794760" cy="2331720"/>
          </a:xfrm>
          <a:prstGeom prst="roundRect">
            <a:avLst>
              <a:gd fmla="val 3529" name="adj"/>
            </a:avLst>
          </a:prstGeom>
          <a:solidFill>
            <a:srgbClr val="1E293B"/>
          </a:solidFill>
          <a:ln>
            <a:noFill/>
          </a:ln>
          <a:effectLst>
            <a:outerShdw blurRad="1016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 name="Google Shape;46;p4"/>
          <p:cNvSpPr/>
          <p:nvPr/>
        </p:nvSpPr>
        <p:spPr>
          <a:xfrm>
            <a:off x="868680" y="1874520"/>
            <a:ext cx="3200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4D399"/>
              </a:buClr>
              <a:buSzPts val="1300"/>
              <a:buFont typeface="Calibri"/>
              <a:buNone/>
            </a:pPr>
            <a:r>
              <a:rPr b="1" lang="en-US" sz="1300">
                <a:solidFill>
                  <a:srgbClr val="34D399"/>
                </a:solidFill>
                <a:latin typeface="Calibri"/>
                <a:ea typeface="Calibri"/>
                <a:cs typeface="Calibri"/>
                <a:sym typeface="Calibri"/>
              </a:rPr>
              <a:t>TEAM DETAILS</a:t>
            </a:r>
            <a:endParaRPr sz="1100">
              <a:solidFill>
                <a:schemeClr val="dk1"/>
              </a:solidFill>
              <a:latin typeface="Calibri"/>
              <a:ea typeface="Calibri"/>
              <a:cs typeface="Calibri"/>
              <a:sym typeface="Calibri"/>
            </a:endParaRPr>
          </a:p>
        </p:txBody>
      </p:sp>
      <p:sp>
        <p:nvSpPr>
          <p:cNvPr id="47" name="Google Shape;47;p4"/>
          <p:cNvSpPr/>
          <p:nvPr/>
        </p:nvSpPr>
        <p:spPr>
          <a:xfrm>
            <a:off x="868680" y="2286000"/>
            <a:ext cx="32004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4A3B8"/>
              </a:buClr>
              <a:buSzPts val="1300"/>
              <a:buFont typeface="Calibri"/>
              <a:buNone/>
            </a:pPr>
            <a:r>
              <a:rPr b="1" lang="en-US" sz="1300">
                <a:solidFill>
                  <a:srgbClr val="94A3B8"/>
                </a:solidFill>
                <a:latin typeface="Calibri"/>
                <a:ea typeface="Calibri"/>
                <a:cs typeface="Calibri"/>
                <a:sym typeface="Calibri"/>
              </a:rPr>
              <a:t>Team Name</a:t>
            </a:r>
            <a:endParaRPr sz="1150">
              <a:solidFill>
                <a:schemeClr val="dk1"/>
              </a:solidFill>
              <a:latin typeface="Calibri"/>
              <a:ea typeface="Calibri"/>
              <a:cs typeface="Calibri"/>
              <a:sym typeface="Calibri"/>
            </a:endParaRPr>
          </a:p>
        </p:txBody>
      </p:sp>
      <p:sp>
        <p:nvSpPr>
          <p:cNvPr id="48" name="Google Shape;48;p4"/>
          <p:cNvSpPr/>
          <p:nvPr/>
        </p:nvSpPr>
        <p:spPr>
          <a:xfrm>
            <a:off x="868680" y="2542032"/>
            <a:ext cx="3200400"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8FAFC"/>
              </a:buClr>
              <a:buSzPts val="1600"/>
              <a:buFont typeface="Calibri"/>
              <a:buNone/>
            </a:pPr>
            <a:r>
              <a:rPr lang="en-US" sz="1600">
                <a:solidFill>
                  <a:srgbClr val="F8FAFC"/>
                </a:solidFill>
                <a:latin typeface="Calibri"/>
                <a:ea typeface="Calibri"/>
                <a:cs typeface="Calibri"/>
                <a:sym typeface="Calibri"/>
              </a:rPr>
              <a:t>codewithcofee</a:t>
            </a:r>
            <a:endParaRPr sz="1300">
              <a:solidFill>
                <a:schemeClr val="dk1"/>
              </a:solidFill>
              <a:latin typeface="Calibri"/>
              <a:ea typeface="Calibri"/>
              <a:cs typeface="Calibri"/>
              <a:sym typeface="Calibri"/>
            </a:endParaRPr>
          </a:p>
        </p:txBody>
      </p:sp>
      <p:sp>
        <p:nvSpPr>
          <p:cNvPr id="49" name="Google Shape;49;p4"/>
          <p:cNvSpPr/>
          <p:nvPr/>
        </p:nvSpPr>
        <p:spPr>
          <a:xfrm>
            <a:off x="868680" y="3090672"/>
            <a:ext cx="32004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4A3B8"/>
              </a:buClr>
              <a:buSzPts val="1300"/>
              <a:buFont typeface="Calibri"/>
              <a:buNone/>
            </a:pPr>
            <a:r>
              <a:rPr b="1" lang="en-US" sz="1300">
                <a:solidFill>
                  <a:srgbClr val="94A3B8"/>
                </a:solidFill>
                <a:latin typeface="Calibri"/>
                <a:ea typeface="Calibri"/>
                <a:cs typeface="Calibri"/>
                <a:sym typeface="Calibri"/>
              </a:rPr>
              <a:t>Team Leader</a:t>
            </a:r>
            <a:endParaRPr sz="1150">
              <a:solidFill>
                <a:schemeClr val="dk1"/>
              </a:solidFill>
              <a:latin typeface="Calibri"/>
              <a:ea typeface="Calibri"/>
              <a:cs typeface="Calibri"/>
              <a:sym typeface="Calibri"/>
            </a:endParaRPr>
          </a:p>
        </p:txBody>
      </p:sp>
      <p:sp>
        <p:nvSpPr>
          <p:cNvPr id="50" name="Google Shape;50;p4"/>
          <p:cNvSpPr/>
          <p:nvPr/>
        </p:nvSpPr>
        <p:spPr>
          <a:xfrm>
            <a:off x="868680" y="3346704"/>
            <a:ext cx="3200400"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8FAFC"/>
              </a:buClr>
              <a:buSzPts val="1600"/>
              <a:buFont typeface="Calibri"/>
              <a:buNone/>
            </a:pPr>
            <a:r>
              <a:rPr lang="en-US" sz="1600">
                <a:solidFill>
                  <a:srgbClr val="F8FAFC"/>
                </a:solidFill>
                <a:latin typeface="Calibri"/>
                <a:ea typeface="Calibri"/>
                <a:cs typeface="Calibri"/>
                <a:sym typeface="Calibri"/>
              </a:rPr>
              <a:t>Charishma Alam</a:t>
            </a:r>
            <a:endParaRPr sz="1300">
              <a:solidFill>
                <a:schemeClr val="dk1"/>
              </a:solidFill>
              <a:latin typeface="Calibri"/>
              <a:ea typeface="Calibri"/>
              <a:cs typeface="Calibri"/>
              <a:sym typeface="Calibri"/>
            </a:endParaRPr>
          </a:p>
        </p:txBody>
      </p:sp>
      <p:sp>
        <p:nvSpPr>
          <p:cNvPr id="51" name="Google Shape;51;p4"/>
          <p:cNvSpPr/>
          <p:nvPr/>
        </p:nvSpPr>
        <p:spPr>
          <a:xfrm>
            <a:off x="548655" y="4782307"/>
            <a:ext cx="32004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4A3B8"/>
              </a:buClr>
              <a:buSzPts val="1300"/>
              <a:buFont typeface="Calibri"/>
              <a:buNone/>
            </a:pPr>
            <a:r>
              <a:rPr b="1" lang="en-US" sz="1300">
                <a:solidFill>
                  <a:srgbClr val="94A3B8"/>
                </a:solidFill>
                <a:latin typeface="Calibri"/>
                <a:ea typeface="Calibri"/>
                <a:cs typeface="Calibri"/>
                <a:sym typeface="Calibri"/>
              </a:rPr>
              <a:t>Track</a:t>
            </a:r>
            <a:endParaRPr sz="1150">
              <a:solidFill>
                <a:schemeClr val="dk1"/>
              </a:solidFill>
              <a:latin typeface="Calibri"/>
              <a:ea typeface="Calibri"/>
              <a:cs typeface="Calibri"/>
              <a:sym typeface="Calibri"/>
            </a:endParaRPr>
          </a:p>
        </p:txBody>
      </p:sp>
      <p:sp>
        <p:nvSpPr>
          <p:cNvPr id="52" name="Google Shape;52;p4"/>
          <p:cNvSpPr/>
          <p:nvPr/>
        </p:nvSpPr>
        <p:spPr>
          <a:xfrm>
            <a:off x="868680" y="4151376"/>
            <a:ext cx="3200400" cy="50280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8FAFC"/>
              </a:buClr>
              <a:buSzPts val="1600"/>
              <a:buFont typeface="Calibri"/>
              <a:buNone/>
            </a:pPr>
            <a:r>
              <a:rPr lang="en-US" sz="1600">
                <a:solidFill>
                  <a:schemeClr val="dk1"/>
                </a:solidFill>
                <a:latin typeface="Calibri"/>
                <a:ea typeface="Calibri"/>
                <a:cs typeface="Calibri"/>
                <a:sym typeface="Calibri"/>
              </a:rPr>
              <a:t>Product Intelligence &amp; Automated Catalog Enrichment</a:t>
            </a:r>
            <a:endParaRPr sz="1300">
              <a:solidFill>
                <a:schemeClr val="dk1"/>
              </a:solidFill>
              <a:latin typeface="Calibri"/>
              <a:ea typeface="Calibri"/>
              <a:cs typeface="Calibri"/>
              <a:sym typeface="Calibri"/>
            </a:endParaRPr>
          </a:p>
        </p:txBody>
      </p:sp>
      <p:sp>
        <p:nvSpPr>
          <p:cNvPr id="53" name="Google Shape;53;p4"/>
          <p:cNvSpPr/>
          <p:nvPr/>
        </p:nvSpPr>
        <p:spPr>
          <a:xfrm>
            <a:off x="4617720" y="1691640"/>
            <a:ext cx="3429000" cy="2331720"/>
          </a:xfrm>
          <a:prstGeom prst="roundRect">
            <a:avLst>
              <a:gd fmla="val 3529" name="adj"/>
            </a:avLst>
          </a:prstGeom>
          <a:solidFill>
            <a:srgbClr val="16213A"/>
          </a:solidFill>
          <a:ln>
            <a:noFill/>
          </a:ln>
          <a:effectLst>
            <a:outerShdw blurRad="1016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 name="Google Shape;54;p4"/>
          <p:cNvSpPr/>
          <p:nvPr/>
        </p:nvSpPr>
        <p:spPr>
          <a:xfrm>
            <a:off x="4846320" y="1856232"/>
            <a:ext cx="29718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4D399"/>
              </a:buClr>
              <a:buSzPts val="3200"/>
              <a:buFont typeface="Calibri"/>
              <a:buNone/>
            </a:pPr>
            <a:r>
              <a:rPr b="1" lang="en-US" sz="3200">
                <a:solidFill>
                  <a:srgbClr val="34D399"/>
                </a:solidFill>
                <a:latin typeface="Calibri"/>
                <a:ea typeface="Calibri"/>
                <a:cs typeface="Calibri"/>
                <a:sym typeface="Calibri"/>
              </a:rPr>
              <a:t>95%</a:t>
            </a:r>
            <a:endParaRPr sz="3800">
              <a:solidFill>
                <a:schemeClr val="dk1"/>
              </a:solidFill>
              <a:latin typeface="Calibri"/>
              <a:ea typeface="Calibri"/>
              <a:cs typeface="Calibri"/>
              <a:sym typeface="Calibri"/>
            </a:endParaRPr>
          </a:p>
        </p:txBody>
      </p:sp>
      <p:sp>
        <p:nvSpPr>
          <p:cNvPr id="55" name="Google Shape;55;p4"/>
          <p:cNvSpPr/>
          <p:nvPr/>
        </p:nvSpPr>
        <p:spPr>
          <a:xfrm>
            <a:off x="4846320" y="2560320"/>
            <a:ext cx="29718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8FAFC"/>
              </a:buClr>
              <a:buSzPts val="1600"/>
              <a:buFont typeface="Calibri"/>
              <a:buNone/>
            </a:pPr>
            <a:r>
              <a:rPr b="1" lang="en-US" sz="1600">
                <a:solidFill>
                  <a:srgbClr val="F8FAFC"/>
                </a:solidFill>
                <a:latin typeface="Calibri"/>
                <a:ea typeface="Calibri"/>
                <a:cs typeface="Calibri"/>
                <a:sym typeface="Calibri"/>
              </a:rPr>
              <a:t>Onboarding Time Reduction</a:t>
            </a:r>
            <a:endParaRPr sz="1300">
              <a:solidFill>
                <a:schemeClr val="dk1"/>
              </a:solidFill>
              <a:latin typeface="Calibri"/>
              <a:ea typeface="Calibri"/>
              <a:cs typeface="Calibri"/>
              <a:sym typeface="Calibri"/>
            </a:endParaRPr>
          </a:p>
        </p:txBody>
      </p:sp>
      <p:sp>
        <p:nvSpPr>
          <p:cNvPr id="56" name="Google Shape;56;p4"/>
          <p:cNvSpPr/>
          <p:nvPr/>
        </p:nvSpPr>
        <p:spPr>
          <a:xfrm>
            <a:off x="4846320" y="2926080"/>
            <a:ext cx="2971800" cy="1005840"/>
          </a:xfrm>
          <a:prstGeom prst="rect">
            <a:avLst/>
          </a:prstGeom>
          <a:noFill/>
          <a:ln>
            <a:noFill/>
          </a:ln>
        </p:spPr>
        <p:txBody>
          <a:bodyPr anchorCtr="0" anchor="ctr" bIns="45700" lIns="91425" spcFirstLastPara="1" rIns="91425" wrap="square" tIns="45700">
            <a:noAutofit/>
          </a:bodyPr>
          <a:lstStyle/>
          <a:p>
            <a:pPr indent="0" lvl="0" marL="0" rtl="0" algn="l">
              <a:lnSpc>
                <a:spcPct val="110000"/>
              </a:lnSpc>
              <a:spcBef>
                <a:spcPts val="0"/>
              </a:spcBef>
              <a:spcAft>
                <a:spcPts val="0"/>
              </a:spcAft>
              <a:buClr>
                <a:schemeClr val="dk1"/>
              </a:buClr>
              <a:buSzPts val="1100"/>
              <a:buFont typeface="Arial"/>
              <a:buNone/>
            </a:pPr>
            <a:r>
              <a:rPr lang="en-US">
                <a:solidFill>
                  <a:srgbClr val="FFFFFF"/>
                </a:solidFill>
                <a:latin typeface="Calibri"/>
                <a:ea typeface="Calibri"/>
                <a:cs typeface="Calibri"/>
                <a:sym typeface="Calibri"/>
              </a:rPr>
              <a:t>AI automates product data extraction and catalog creation, reducing </a:t>
            </a:r>
            <a:r>
              <a:rPr b="1" lang="en-US">
                <a:solidFill>
                  <a:srgbClr val="FFFFFF"/>
                </a:solidFill>
                <a:latin typeface="Calibri"/>
                <a:ea typeface="Calibri"/>
                <a:cs typeface="Calibri"/>
                <a:sym typeface="Calibri"/>
              </a:rPr>
              <a:t>100+ hours of manual work .</a:t>
            </a:r>
            <a:endParaRPr b="1">
              <a:solidFill>
                <a:srgbClr val="FFFFFF"/>
              </a:solidFill>
              <a:latin typeface="Calibri"/>
              <a:ea typeface="Calibri"/>
              <a:cs typeface="Calibri"/>
              <a:sym typeface="Calibri"/>
            </a:endParaRPr>
          </a:p>
          <a:p>
            <a:pPr indent="0" lvl="0" marL="0" marR="0" rtl="0" algn="l">
              <a:lnSpc>
                <a:spcPct val="110000"/>
              </a:lnSpc>
              <a:spcBef>
                <a:spcPts val="0"/>
              </a:spcBef>
              <a:spcAft>
                <a:spcPts val="0"/>
              </a:spcAft>
              <a:buClr>
                <a:srgbClr val="94A3B8"/>
              </a:buClr>
              <a:buSzPts val="1300"/>
              <a:buFont typeface="Calibri"/>
              <a:buNone/>
            </a:pPr>
            <a:r>
              <a:t/>
            </a:r>
            <a:endParaRPr sz="1300">
              <a:solidFill>
                <a:srgbClr val="94A3B8"/>
              </a:solidFill>
              <a:latin typeface="Calibri"/>
              <a:ea typeface="Calibri"/>
              <a:cs typeface="Calibri"/>
              <a:sym typeface="Calibri"/>
            </a:endParaRPr>
          </a:p>
        </p:txBody>
      </p:sp>
      <p:sp>
        <p:nvSpPr>
          <p:cNvPr id="57" name="Google Shape;57;p4"/>
          <p:cNvSpPr/>
          <p:nvPr/>
        </p:nvSpPr>
        <p:spPr>
          <a:xfrm>
            <a:off x="8302752" y="1691640"/>
            <a:ext cx="3429000" cy="2331720"/>
          </a:xfrm>
          <a:prstGeom prst="roundRect">
            <a:avLst>
              <a:gd fmla="val 3529" name="adj"/>
            </a:avLst>
          </a:prstGeom>
          <a:solidFill>
            <a:srgbClr val="16213A"/>
          </a:solidFill>
          <a:ln>
            <a:noFill/>
          </a:ln>
          <a:effectLst>
            <a:outerShdw blurRad="1016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 name="Google Shape;58;p4"/>
          <p:cNvSpPr/>
          <p:nvPr/>
        </p:nvSpPr>
        <p:spPr>
          <a:xfrm>
            <a:off x="8531352" y="1856232"/>
            <a:ext cx="29718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4D399"/>
              </a:buClr>
              <a:buSzPts val="3200"/>
              <a:buFont typeface="Calibri"/>
              <a:buNone/>
            </a:pPr>
            <a:r>
              <a:rPr b="1" lang="en-US" sz="3200">
                <a:solidFill>
                  <a:srgbClr val="34D399"/>
                </a:solidFill>
                <a:latin typeface="Calibri"/>
                <a:ea typeface="Calibri"/>
                <a:cs typeface="Calibri"/>
                <a:sym typeface="Calibri"/>
              </a:rPr>
              <a:t>$0.00</a:t>
            </a:r>
            <a:endParaRPr sz="3800">
              <a:solidFill>
                <a:schemeClr val="dk1"/>
              </a:solidFill>
              <a:latin typeface="Calibri"/>
              <a:ea typeface="Calibri"/>
              <a:cs typeface="Calibri"/>
              <a:sym typeface="Calibri"/>
            </a:endParaRPr>
          </a:p>
        </p:txBody>
      </p:sp>
      <p:sp>
        <p:nvSpPr>
          <p:cNvPr id="59" name="Google Shape;59;p4"/>
          <p:cNvSpPr/>
          <p:nvPr/>
        </p:nvSpPr>
        <p:spPr>
          <a:xfrm>
            <a:off x="8531352" y="2560320"/>
            <a:ext cx="29718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8FAFC"/>
              </a:buClr>
              <a:buSzPts val="1600"/>
              <a:buFont typeface="Calibri"/>
              <a:buNone/>
            </a:pPr>
            <a:r>
              <a:rPr b="1" lang="en-US" sz="1600">
                <a:solidFill>
                  <a:srgbClr val="F8FAFC"/>
                </a:solidFill>
                <a:latin typeface="Calibri"/>
                <a:ea typeface="Calibri"/>
                <a:cs typeface="Calibri"/>
                <a:sym typeface="Calibri"/>
              </a:rPr>
              <a:t>Primary Inference Cost</a:t>
            </a:r>
            <a:endParaRPr sz="1300">
              <a:solidFill>
                <a:schemeClr val="dk1"/>
              </a:solidFill>
              <a:latin typeface="Calibri"/>
              <a:ea typeface="Calibri"/>
              <a:cs typeface="Calibri"/>
              <a:sym typeface="Calibri"/>
            </a:endParaRPr>
          </a:p>
        </p:txBody>
      </p:sp>
      <p:sp>
        <p:nvSpPr>
          <p:cNvPr id="60" name="Google Shape;60;p4"/>
          <p:cNvSpPr/>
          <p:nvPr/>
        </p:nvSpPr>
        <p:spPr>
          <a:xfrm>
            <a:off x="8531352" y="2926080"/>
            <a:ext cx="2971800" cy="1005840"/>
          </a:xfrm>
          <a:prstGeom prst="rect">
            <a:avLst/>
          </a:prstGeom>
          <a:noFill/>
          <a:ln>
            <a:noFill/>
          </a:ln>
        </p:spPr>
        <p:txBody>
          <a:bodyPr anchorCtr="0" anchor="ctr" bIns="45700" lIns="91425" spcFirstLastPara="1" rIns="91425" wrap="square" tIns="45700">
            <a:noAutofit/>
          </a:bodyPr>
          <a:lstStyle/>
          <a:p>
            <a:pPr indent="0" lvl="0" marL="0" rtl="0" algn="l">
              <a:lnSpc>
                <a:spcPct val="110000"/>
              </a:lnSpc>
              <a:spcBef>
                <a:spcPts val="0"/>
              </a:spcBef>
              <a:spcAft>
                <a:spcPts val="0"/>
              </a:spcAft>
              <a:buClr>
                <a:schemeClr val="dk1"/>
              </a:buClr>
              <a:buSzPts val="1100"/>
              <a:buFont typeface="Arial"/>
              <a:buNone/>
            </a:pPr>
            <a:r>
              <a:rPr lang="en-US" sz="1300">
                <a:solidFill>
                  <a:srgbClr val="FFFFFF"/>
                </a:solidFill>
                <a:latin typeface="Calibri"/>
                <a:ea typeface="Calibri"/>
                <a:cs typeface="Calibri"/>
                <a:sym typeface="Calibri"/>
              </a:rPr>
              <a:t>Powered by local air-gapped Ollama (qwen2.5:3b)(-no wifi)  with Groq / Gemini API cloud fallback.</a:t>
            </a:r>
            <a:endParaRPr sz="1300">
              <a:solidFill>
                <a:srgbClr val="FFFFFF"/>
              </a:solidFill>
              <a:latin typeface="Calibri"/>
              <a:ea typeface="Calibri"/>
              <a:cs typeface="Calibri"/>
              <a:sym typeface="Calibri"/>
            </a:endParaRPr>
          </a:p>
          <a:p>
            <a:pPr indent="0" lvl="0" marL="0" marR="0" rtl="0" algn="l">
              <a:lnSpc>
                <a:spcPct val="110000"/>
              </a:lnSpc>
              <a:spcBef>
                <a:spcPts val="0"/>
              </a:spcBef>
              <a:spcAft>
                <a:spcPts val="0"/>
              </a:spcAft>
              <a:buClr>
                <a:srgbClr val="94A3B8"/>
              </a:buClr>
              <a:buSzPts val="1300"/>
              <a:buFont typeface="Calibri"/>
              <a:buNone/>
            </a:pPr>
            <a:r>
              <a:t/>
            </a:r>
            <a:endParaRPr sz="1300">
              <a:solidFill>
                <a:srgbClr val="94A3B8"/>
              </a:solidFill>
              <a:latin typeface="Calibri"/>
              <a:ea typeface="Calibri"/>
              <a:cs typeface="Calibri"/>
              <a:sym typeface="Calibri"/>
            </a:endParaRPr>
          </a:p>
        </p:txBody>
      </p:sp>
      <p:sp>
        <p:nvSpPr>
          <p:cNvPr id="61" name="Google Shape;61;p4"/>
          <p:cNvSpPr/>
          <p:nvPr/>
        </p:nvSpPr>
        <p:spPr>
          <a:xfrm>
            <a:off x="4617720" y="4279392"/>
            <a:ext cx="3429000" cy="2331720"/>
          </a:xfrm>
          <a:prstGeom prst="roundRect">
            <a:avLst>
              <a:gd fmla="val 3529" name="adj"/>
            </a:avLst>
          </a:prstGeom>
          <a:solidFill>
            <a:srgbClr val="16213A"/>
          </a:solidFill>
          <a:ln>
            <a:noFill/>
          </a:ln>
          <a:effectLst>
            <a:outerShdw blurRad="1016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 name="Google Shape;62;p4"/>
          <p:cNvSpPr/>
          <p:nvPr/>
        </p:nvSpPr>
        <p:spPr>
          <a:xfrm>
            <a:off x="4846320" y="4443984"/>
            <a:ext cx="29718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4D399"/>
              </a:buClr>
              <a:buSzPts val="3200"/>
              <a:buFont typeface="Calibri"/>
              <a:buNone/>
            </a:pPr>
            <a:r>
              <a:rPr b="1" lang="en-US" sz="3200">
                <a:solidFill>
                  <a:srgbClr val="34D399"/>
                </a:solidFill>
                <a:latin typeface="Calibri"/>
                <a:ea typeface="Calibri"/>
                <a:cs typeface="Calibri"/>
                <a:sym typeface="Calibri"/>
              </a:rPr>
              <a:t>Transparent</a:t>
            </a:r>
            <a:endParaRPr sz="3800">
              <a:solidFill>
                <a:schemeClr val="dk1"/>
              </a:solidFill>
              <a:latin typeface="Calibri"/>
              <a:ea typeface="Calibri"/>
              <a:cs typeface="Calibri"/>
              <a:sym typeface="Calibri"/>
            </a:endParaRPr>
          </a:p>
        </p:txBody>
      </p:sp>
      <p:sp>
        <p:nvSpPr>
          <p:cNvPr id="63" name="Google Shape;63;p4"/>
          <p:cNvSpPr/>
          <p:nvPr/>
        </p:nvSpPr>
        <p:spPr>
          <a:xfrm>
            <a:off x="4846320" y="5148072"/>
            <a:ext cx="29718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8FAFC"/>
              </a:buClr>
              <a:buSzPts val="1600"/>
              <a:buFont typeface="Calibri"/>
              <a:buNone/>
            </a:pPr>
            <a:r>
              <a:rPr b="1" lang="en-US" sz="1600">
                <a:solidFill>
                  <a:srgbClr val="F8FAFC"/>
                </a:solidFill>
                <a:latin typeface="Calibri"/>
                <a:ea typeface="Calibri"/>
                <a:cs typeface="Calibri"/>
                <a:sym typeface="Calibri"/>
              </a:rPr>
              <a:t>Confidence Rationale</a:t>
            </a:r>
            <a:endParaRPr sz="1300">
              <a:solidFill>
                <a:schemeClr val="dk1"/>
              </a:solidFill>
              <a:latin typeface="Calibri"/>
              <a:ea typeface="Calibri"/>
              <a:cs typeface="Calibri"/>
              <a:sym typeface="Calibri"/>
            </a:endParaRPr>
          </a:p>
        </p:txBody>
      </p:sp>
      <p:sp>
        <p:nvSpPr>
          <p:cNvPr id="64" name="Google Shape;64;p4"/>
          <p:cNvSpPr/>
          <p:nvPr/>
        </p:nvSpPr>
        <p:spPr>
          <a:xfrm>
            <a:off x="4846320" y="5513832"/>
            <a:ext cx="2971800" cy="1005840"/>
          </a:xfrm>
          <a:prstGeom prst="rect">
            <a:avLst/>
          </a:prstGeom>
          <a:noFill/>
          <a:ln>
            <a:noFill/>
          </a:ln>
        </p:spPr>
        <p:txBody>
          <a:bodyPr anchorCtr="0" anchor="ctr" bIns="45700" lIns="91425" spcFirstLastPara="1" rIns="91425" wrap="square" tIns="45700">
            <a:noAutofit/>
          </a:bodyPr>
          <a:lstStyle/>
          <a:p>
            <a:pPr indent="0" lvl="0" marL="0" rtl="0" algn="l">
              <a:lnSpc>
                <a:spcPct val="110000"/>
              </a:lnSpc>
              <a:spcBef>
                <a:spcPts val="0"/>
              </a:spcBef>
              <a:spcAft>
                <a:spcPts val="0"/>
              </a:spcAft>
              <a:buClr>
                <a:schemeClr val="dk1"/>
              </a:buClr>
              <a:buSzPts val="1100"/>
              <a:buFont typeface="Arial"/>
              <a:buNone/>
            </a:pPr>
            <a:r>
              <a:rPr lang="en-US" sz="1300">
                <a:solidFill>
                  <a:srgbClr val="FFFFFF"/>
                </a:solidFill>
                <a:latin typeface="Calibri"/>
                <a:ea typeface="Calibri"/>
                <a:cs typeface="Calibri"/>
                <a:sym typeface="Calibri"/>
              </a:rPr>
              <a:t>Low AI confidence = baseline escrow. 100% confidence requires Human Manager Approval.</a:t>
            </a:r>
            <a:endParaRPr sz="1300">
              <a:solidFill>
                <a:srgbClr val="FFFFFF"/>
              </a:solidFill>
              <a:latin typeface="Calibri"/>
              <a:ea typeface="Calibri"/>
              <a:cs typeface="Calibri"/>
              <a:sym typeface="Calibri"/>
            </a:endParaRPr>
          </a:p>
          <a:p>
            <a:pPr indent="0" lvl="0" marL="0" marR="0" rtl="0" algn="l">
              <a:lnSpc>
                <a:spcPct val="110000"/>
              </a:lnSpc>
              <a:spcBef>
                <a:spcPts val="0"/>
              </a:spcBef>
              <a:spcAft>
                <a:spcPts val="0"/>
              </a:spcAft>
              <a:buClr>
                <a:srgbClr val="94A3B8"/>
              </a:buClr>
              <a:buSzPts val="1300"/>
              <a:buFont typeface="Calibri"/>
              <a:buNone/>
            </a:pPr>
            <a:r>
              <a:t/>
            </a:r>
            <a:endParaRPr sz="1300">
              <a:solidFill>
                <a:srgbClr val="94A3B8"/>
              </a:solidFill>
              <a:latin typeface="Calibri"/>
              <a:ea typeface="Calibri"/>
              <a:cs typeface="Calibri"/>
              <a:sym typeface="Calibri"/>
            </a:endParaRPr>
          </a:p>
        </p:txBody>
      </p:sp>
      <p:sp>
        <p:nvSpPr>
          <p:cNvPr id="65" name="Google Shape;65;p4"/>
          <p:cNvSpPr/>
          <p:nvPr/>
        </p:nvSpPr>
        <p:spPr>
          <a:xfrm>
            <a:off x="8302752" y="4279392"/>
            <a:ext cx="3429000" cy="2331720"/>
          </a:xfrm>
          <a:prstGeom prst="roundRect">
            <a:avLst>
              <a:gd fmla="val 3529" name="adj"/>
            </a:avLst>
          </a:prstGeom>
          <a:solidFill>
            <a:srgbClr val="16213A"/>
          </a:solidFill>
          <a:ln>
            <a:noFill/>
          </a:ln>
          <a:effectLst>
            <a:outerShdw blurRad="1016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 name="Google Shape;66;p4"/>
          <p:cNvSpPr/>
          <p:nvPr/>
        </p:nvSpPr>
        <p:spPr>
          <a:xfrm>
            <a:off x="8531352" y="4443984"/>
            <a:ext cx="29718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4D399"/>
              </a:buClr>
              <a:buSzPts val="3200"/>
              <a:buFont typeface="Calibri"/>
              <a:buNone/>
            </a:pPr>
            <a:r>
              <a:rPr b="1" lang="en-US" sz="3200">
                <a:solidFill>
                  <a:srgbClr val="34D399"/>
                </a:solidFill>
                <a:latin typeface="Calibri"/>
                <a:ea typeface="Calibri"/>
                <a:cs typeface="Calibri"/>
                <a:sym typeface="Calibri"/>
              </a:rPr>
              <a:t>252</a:t>
            </a:r>
            <a:endParaRPr sz="3800">
              <a:solidFill>
                <a:schemeClr val="dk1"/>
              </a:solidFill>
              <a:latin typeface="Calibri"/>
              <a:ea typeface="Calibri"/>
              <a:cs typeface="Calibri"/>
              <a:sym typeface="Calibri"/>
            </a:endParaRPr>
          </a:p>
        </p:txBody>
      </p:sp>
      <p:sp>
        <p:nvSpPr>
          <p:cNvPr id="67" name="Google Shape;67;p4"/>
          <p:cNvSpPr/>
          <p:nvPr/>
        </p:nvSpPr>
        <p:spPr>
          <a:xfrm>
            <a:off x="8531352" y="5148072"/>
            <a:ext cx="29718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8FAFC"/>
              </a:buClr>
              <a:buSzPts val="1600"/>
              <a:buFont typeface="Calibri"/>
              <a:buNone/>
            </a:pPr>
            <a:r>
              <a:rPr b="1" lang="en-US" sz="1600">
                <a:solidFill>
                  <a:srgbClr val="F8FAFC"/>
                </a:solidFill>
                <a:latin typeface="Calibri"/>
                <a:ea typeface="Calibri"/>
                <a:cs typeface="Calibri"/>
                <a:sym typeface="Calibri"/>
              </a:rPr>
              <a:t>Standardized Attributes</a:t>
            </a:r>
            <a:endParaRPr sz="1300">
              <a:solidFill>
                <a:schemeClr val="dk1"/>
              </a:solidFill>
              <a:latin typeface="Calibri"/>
              <a:ea typeface="Calibri"/>
              <a:cs typeface="Calibri"/>
              <a:sym typeface="Calibri"/>
            </a:endParaRPr>
          </a:p>
        </p:txBody>
      </p:sp>
      <p:sp>
        <p:nvSpPr>
          <p:cNvPr id="68" name="Google Shape;68;p4"/>
          <p:cNvSpPr/>
          <p:nvPr/>
        </p:nvSpPr>
        <p:spPr>
          <a:xfrm>
            <a:off x="8531352" y="5513832"/>
            <a:ext cx="2971800" cy="1005840"/>
          </a:xfrm>
          <a:prstGeom prst="rect">
            <a:avLst/>
          </a:prstGeom>
          <a:noFill/>
          <a:ln>
            <a:noFill/>
          </a:ln>
        </p:spPr>
        <p:txBody>
          <a:bodyPr anchorCtr="0" anchor="ctr" bIns="45700" lIns="91425" spcFirstLastPara="1" rIns="91425" wrap="square" tIns="45700">
            <a:noAutofit/>
          </a:bodyPr>
          <a:lstStyle/>
          <a:p>
            <a:pPr indent="0" lvl="0" marL="0" rtl="0" algn="l">
              <a:lnSpc>
                <a:spcPct val="110000"/>
              </a:lnSpc>
              <a:spcBef>
                <a:spcPts val="0"/>
              </a:spcBef>
              <a:spcAft>
                <a:spcPts val="0"/>
              </a:spcAft>
              <a:buClr>
                <a:schemeClr val="dk1"/>
              </a:buClr>
              <a:buSzPts val="1100"/>
              <a:buFont typeface="Arial"/>
              <a:buNone/>
            </a:pPr>
            <a:r>
              <a:rPr lang="en-US">
                <a:solidFill>
                  <a:srgbClr val="94A3B8"/>
                </a:solidFill>
                <a:latin typeface="Calibri"/>
                <a:ea typeface="Calibri"/>
                <a:cs typeface="Calibri"/>
                <a:sym typeface="Calibri"/>
              </a:rPr>
              <a:t>Extracted and formatted directly into Unilog's master delivery CSV structure.</a:t>
            </a:r>
            <a:endParaRPr>
              <a:solidFill>
                <a:srgbClr val="94A3B8"/>
              </a:solidFill>
              <a:latin typeface="Calibri"/>
              <a:ea typeface="Calibri"/>
              <a:cs typeface="Calibri"/>
              <a:sym typeface="Calibri"/>
            </a:endParaRPr>
          </a:p>
          <a:p>
            <a:pPr indent="0" lvl="0" marL="0" marR="0" rtl="0" algn="l">
              <a:lnSpc>
                <a:spcPct val="110000"/>
              </a:lnSpc>
              <a:spcBef>
                <a:spcPts val="0"/>
              </a:spcBef>
              <a:spcAft>
                <a:spcPts val="0"/>
              </a:spcAft>
              <a:buClr>
                <a:srgbClr val="94A3B8"/>
              </a:buClr>
              <a:buSzPts val="1300"/>
              <a:buFont typeface="Calibri"/>
              <a:buNone/>
            </a:pPr>
            <a:r>
              <a:t/>
            </a:r>
            <a:endParaRPr sz="1300">
              <a:solidFill>
                <a:srgbClr val="94A3B8"/>
              </a:solidFill>
              <a:latin typeface="Calibri"/>
              <a:ea typeface="Calibri"/>
              <a:cs typeface="Calibri"/>
              <a:sym typeface="Calibri"/>
            </a:endParaRPr>
          </a:p>
        </p:txBody>
      </p:sp>
      <p:sp>
        <p:nvSpPr>
          <p:cNvPr id="69" name="Google Shape;69;p4"/>
          <p:cNvSpPr/>
          <p:nvPr/>
        </p:nvSpPr>
        <p:spPr>
          <a:xfrm>
            <a:off x="45720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172A"/>
              </a:buClr>
              <a:buSzPts val="1300"/>
              <a:buFont typeface="Calibri"/>
              <a:buNone/>
            </a:pPr>
            <a:r>
              <a:rPr lang="en-US" sz="1300">
                <a:solidFill>
                  <a:srgbClr val="0F172A"/>
                </a:solidFill>
                <a:latin typeface="Calibri"/>
                <a:ea typeface="Calibri"/>
                <a:cs typeface="Calibri"/>
                <a:sym typeface="Calibri"/>
              </a:rPr>
              <a:t>02 / 15   •   Team &amp; Snapshot</a:t>
            </a:r>
            <a:endParaRPr sz="9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74" name="Shape 74"/>
        <p:cNvGrpSpPr/>
        <p:nvPr/>
      </p:nvGrpSpPr>
      <p:grpSpPr>
        <a:xfrm>
          <a:off x="0" y="0"/>
          <a:ext cx="0" cy="0"/>
          <a:chOff x="0" y="0"/>
          <a:chExt cx="0" cy="0"/>
        </a:xfrm>
      </p:grpSpPr>
      <p:pic>
        <p:nvPicPr>
          <p:cNvPr descr="image.png" id="75" name="Google Shape;75;p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76" name="Google Shape;76;p5"/>
          <p:cNvSpPr/>
          <p:nvPr/>
        </p:nvSpPr>
        <p:spPr>
          <a:xfrm>
            <a:off x="548640" y="347472"/>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172A"/>
              </a:buClr>
              <a:buSzPts val="1300"/>
              <a:buFont typeface="Calibri"/>
              <a:buNone/>
            </a:pPr>
            <a:r>
              <a:rPr b="1" lang="en-US" sz="1300">
                <a:solidFill>
                  <a:srgbClr val="0F172A"/>
                </a:solidFill>
                <a:latin typeface="Calibri"/>
                <a:ea typeface="Calibri"/>
                <a:cs typeface="Calibri"/>
                <a:sym typeface="Calibri"/>
              </a:rPr>
              <a:t>EXECUTIVE SUMMARY</a:t>
            </a:r>
            <a:endParaRPr sz="1100">
              <a:solidFill>
                <a:schemeClr val="dk1"/>
              </a:solidFill>
              <a:latin typeface="Calibri"/>
              <a:ea typeface="Calibri"/>
              <a:cs typeface="Calibri"/>
              <a:sym typeface="Calibri"/>
            </a:endParaRPr>
          </a:p>
        </p:txBody>
      </p:sp>
      <p:sp>
        <p:nvSpPr>
          <p:cNvPr id="77" name="Google Shape;77;p5"/>
          <p:cNvSpPr/>
          <p:nvPr/>
        </p:nvSpPr>
        <p:spPr>
          <a:xfrm>
            <a:off x="548640" y="603504"/>
            <a:ext cx="11064240" cy="86868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0F172A"/>
              </a:buClr>
              <a:buSzPts val="3200"/>
              <a:buFont typeface="Calibri"/>
              <a:buNone/>
            </a:pPr>
            <a:r>
              <a:rPr b="1" lang="en-US" sz="3200">
                <a:solidFill>
                  <a:srgbClr val="0F172A"/>
                </a:solidFill>
                <a:latin typeface="Calibri"/>
                <a:ea typeface="Calibri"/>
                <a:cs typeface="Calibri"/>
                <a:sym typeface="Calibri"/>
              </a:rPr>
              <a:t>Brief About Your Solution</a:t>
            </a:r>
            <a:endParaRPr sz="3000">
              <a:solidFill>
                <a:schemeClr val="dk1"/>
              </a:solidFill>
              <a:latin typeface="Calibri"/>
              <a:ea typeface="Calibri"/>
              <a:cs typeface="Calibri"/>
              <a:sym typeface="Calibri"/>
            </a:endParaRPr>
          </a:p>
        </p:txBody>
      </p:sp>
      <p:sp>
        <p:nvSpPr>
          <p:cNvPr id="78" name="Google Shape;78;p5"/>
          <p:cNvSpPr/>
          <p:nvPr/>
        </p:nvSpPr>
        <p:spPr>
          <a:xfrm>
            <a:off x="548640" y="1691640"/>
            <a:ext cx="5394960" cy="2148840"/>
          </a:xfrm>
          <a:prstGeom prst="roundRect">
            <a:avLst>
              <a:gd fmla="val 3830" name="adj"/>
            </a:avLst>
          </a:prstGeom>
          <a:solidFill>
            <a:srgbClr val="1E293B"/>
          </a:solidFill>
          <a:ln>
            <a:noFill/>
          </a:ln>
          <a:effectLst>
            <a:outerShdw blurRad="1016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 name="Google Shape;79;p5"/>
          <p:cNvSpPr/>
          <p:nvPr/>
        </p:nvSpPr>
        <p:spPr>
          <a:xfrm>
            <a:off x="822960" y="1874520"/>
            <a:ext cx="48463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8BDF8"/>
              </a:buClr>
              <a:buSzPts val="1300"/>
              <a:buFont typeface="Calibri"/>
              <a:buNone/>
            </a:pPr>
            <a:r>
              <a:rPr b="1" lang="en-US" sz="1300">
                <a:solidFill>
                  <a:srgbClr val="38BDF8"/>
                </a:solidFill>
                <a:latin typeface="Calibri"/>
                <a:ea typeface="Calibri"/>
                <a:cs typeface="Calibri"/>
                <a:sym typeface="Calibri"/>
              </a:rPr>
              <a:t>PROBLEM ADDRESSED</a:t>
            </a:r>
            <a:endParaRPr sz="1100">
              <a:solidFill>
                <a:schemeClr val="dk1"/>
              </a:solidFill>
              <a:latin typeface="Calibri"/>
              <a:ea typeface="Calibri"/>
              <a:cs typeface="Calibri"/>
              <a:sym typeface="Calibri"/>
            </a:endParaRPr>
          </a:p>
        </p:txBody>
      </p:sp>
      <p:sp>
        <p:nvSpPr>
          <p:cNvPr id="80" name="Google Shape;80;p5"/>
          <p:cNvSpPr/>
          <p:nvPr/>
        </p:nvSpPr>
        <p:spPr>
          <a:xfrm>
            <a:off x="822960" y="2212848"/>
            <a:ext cx="4846320" cy="155448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F8FAFC"/>
              </a:buClr>
              <a:buSzPts val="1600"/>
              <a:buFont typeface="Calibri"/>
              <a:buNone/>
            </a:pPr>
            <a:r>
              <a:rPr lang="en-US" sz="1600">
                <a:solidFill>
                  <a:srgbClr val="F8FAFC"/>
                </a:solidFill>
                <a:latin typeface="Calibri"/>
                <a:ea typeface="Calibri"/>
                <a:cs typeface="Calibri"/>
                <a:sym typeface="Calibri"/>
              </a:rPr>
              <a:t>Industrial supplier feeds arrive dirty (e.g. 'APPDE' instead of 'Whirlpool Corporation', 'Dishwasher SS'), missing specifications, and unformatted. Catalog teams waste 100+ manual hours per catalog finding datasheets.</a:t>
            </a:r>
            <a:endParaRPr sz="1250">
              <a:solidFill>
                <a:schemeClr val="dk1"/>
              </a:solidFill>
              <a:latin typeface="Calibri"/>
              <a:ea typeface="Calibri"/>
              <a:cs typeface="Calibri"/>
              <a:sym typeface="Calibri"/>
            </a:endParaRPr>
          </a:p>
        </p:txBody>
      </p:sp>
      <p:sp>
        <p:nvSpPr>
          <p:cNvPr id="81" name="Google Shape;81;p5"/>
          <p:cNvSpPr/>
          <p:nvPr/>
        </p:nvSpPr>
        <p:spPr>
          <a:xfrm>
            <a:off x="6172200" y="1691640"/>
            <a:ext cx="5468112" cy="2148840"/>
          </a:xfrm>
          <a:prstGeom prst="roundRect">
            <a:avLst>
              <a:gd fmla="val 3830" name="adj"/>
            </a:avLst>
          </a:prstGeom>
          <a:solidFill>
            <a:srgbClr val="16213A"/>
          </a:solidFill>
          <a:ln>
            <a:noFill/>
          </a:ln>
          <a:effectLst>
            <a:outerShdw blurRad="1016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 name="Google Shape;82;p5"/>
          <p:cNvSpPr/>
          <p:nvPr/>
        </p:nvSpPr>
        <p:spPr>
          <a:xfrm>
            <a:off x="6446520" y="1874520"/>
            <a:ext cx="4937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4D399"/>
              </a:buClr>
              <a:buSzPts val="1300"/>
              <a:buFont typeface="Calibri"/>
              <a:buNone/>
            </a:pPr>
            <a:r>
              <a:rPr b="1" lang="en-US" sz="1300">
                <a:solidFill>
                  <a:srgbClr val="34D399"/>
                </a:solidFill>
                <a:latin typeface="Calibri"/>
                <a:ea typeface="Calibri"/>
                <a:cs typeface="Calibri"/>
                <a:sym typeface="Calibri"/>
              </a:rPr>
              <a:t>PROPOSED SOLUTION</a:t>
            </a:r>
            <a:endParaRPr sz="1100">
              <a:solidFill>
                <a:schemeClr val="dk1"/>
              </a:solidFill>
              <a:latin typeface="Calibri"/>
              <a:ea typeface="Calibri"/>
              <a:cs typeface="Calibri"/>
              <a:sym typeface="Calibri"/>
            </a:endParaRPr>
          </a:p>
        </p:txBody>
      </p:sp>
      <p:sp>
        <p:nvSpPr>
          <p:cNvPr id="83" name="Google Shape;83;p5"/>
          <p:cNvSpPr/>
          <p:nvPr/>
        </p:nvSpPr>
        <p:spPr>
          <a:xfrm>
            <a:off x="6446520" y="2212848"/>
            <a:ext cx="4937760" cy="155448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F8FAFC"/>
              </a:buClr>
              <a:buSzPts val="1600"/>
              <a:buFont typeface="Calibri"/>
              <a:buNone/>
            </a:pPr>
            <a:r>
              <a:rPr lang="en-US" sz="1600">
                <a:solidFill>
                  <a:srgbClr val="F8FAFC"/>
                </a:solidFill>
                <a:latin typeface="Calibri"/>
                <a:ea typeface="Calibri"/>
                <a:cs typeface="Calibri"/>
                <a:sym typeface="Calibri"/>
              </a:rPr>
              <a:t>A 10-node state machine built on LangGraph that transforms 3 dirty input strings (Brand, MPN, Description) into a complete 252-column Unilog record in under 30 seconds.</a:t>
            </a:r>
            <a:endParaRPr sz="1250">
              <a:solidFill>
                <a:schemeClr val="dk1"/>
              </a:solidFill>
              <a:latin typeface="Calibri"/>
              <a:ea typeface="Calibri"/>
              <a:cs typeface="Calibri"/>
              <a:sym typeface="Calibri"/>
            </a:endParaRPr>
          </a:p>
        </p:txBody>
      </p:sp>
      <p:sp>
        <p:nvSpPr>
          <p:cNvPr id="84" name="Google Shape;84;p5"/>
          <p:cNvSpPr/>
          <p:nvPr/>
        </p:nvSpPr>
        <p:spPr>
          <a:xfrm>
            <a:off x="548640" y="402336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4A3B8"/>
              </a:buClr>
              <a:buSzPts val="1600"/>
              <a:buFont typeface="Calibri"/>
              <a:buNone/>
            </a:pPr>
            <a:r>
              <a:rPr b="1" lang="en-US" sz="1600">
                <a:solidFill>
                  <a:srgbClr val="94A3B8"/>
                </a:solidFill>
                <a:latin typeface="Calibri"/>
                <a:ea typeface="Calibri"/>
                <a:cs typeface="Calibri"/>
                <a:sym typeface="Calibri"/>
              </a:rPr>
              <a:t>THREE CORE ARCHITECTURAL PILLARS</a:t>
            </a:r>
            <a:endParaRPr sz="1200">
              <a:solidFill>
                <a:schemeClr val="dk1"/>
              </a:solidFill>
              <a:latin typeface="Calibri"/>
              <a:ea typeface="Calibri"/>
              <a:cs typeface="Calibri"/>
              <a:sym typeface="Calibri"/>
            </a:endParaRPr>
          </a:p>
        </p:txBody>
      </p:sp>
      <p:sp>
        <p:nvSpPr>
          <p:cNvPr id="85" name="Google Shape;85;p5"/>
          <p:cNvSpPr/>
          <p:nvPr/>
        </p:nvSpPr>
        <p:spPr>
          <a:xfrm>
            <a:off x="548490" y="4297682"/>
            <a:ext cx="3648600" cy="1874400"/>
          </a:xfrm>
          <a:prstGeom prst="roundRect">
            <a:avLst>
              <a:gd fmla="val 4390" name="adj"/>
            </a:avLst>
          </a:prstGeom>
          <a:solidFill>
            <a:srgbClr val="1E293B"/>
          </a:solidFill>
          <a:ln>
            <a:noFill/>
          </a:ln>
          <a:effectLst>
            <a:outerShdw blurRad="1016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 name="Google Shape;86;p5"/>
          <p:cNvSpPr/>
          <p:nvPr/>
        </p:nvSpPr>
        <p:spPr>
          <a:xfrm>
            <a:off x="804672" y="4626864"/>
            <a:ext cx="457200" cy="457200"/>
          </a:xfrm>
          <a:prstGeom prst="ellipse">
            <a:avLst/>
          </a:prstGeom>
          <a:solidFill>
            <a:srgbClr val="34D3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 name="Google Shape;87;p5"/>
          <p:cNvSpPr/>
          <p:nvPr/>
        </p:nvSpPr>
        <p:spPr>
          <a:xfrm>
            <a:off x="804672" y="4626864"/>
            <a:ext cx="457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2200"/>
              <a:buFont typeface="Calibri"/>
              <a:buNone/>
            </a:pPr>
            <a:r>
              <a:rPr b="1" lang="en-US" sz="2200">
                <a:solidFill>
                  <a:srgbClr val="0F172A"/>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
        <p:nvSpPr>
          <p:cNvPr id="88" name="Google Shape;88;p5"/>
          <p:cNvSpPr/>
          <p:nvPr/>
        </p:nvSpPr>
        <p:spPr>
          <a:xfrm>
            <a:off x="1348685" y="4517187"/>
            <a:ext cx="3136500" cy="50280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38BDF8"/>
              </a:buClr>
              <a:buSzPts val="1600"/>
              <a:buFont typeface="Calibri"/>
              <a:buNone/>
            </a:pPr>
            <a:r>
              <a:rPr b="1" lang="en-US" sz="1600">
                <a:solidFill>
                  <a:srgbClr val="38BDF8"/>
                </a:solidFill>
                <a:latin typeface="Calibri"/>
                <a:ea typeface="Calibri"/>
                <a:cs typeface="Calibri"/>
                <a:sym typeface="Calibri"/>
              </a:rPr>
              <a:t>OEM Domain-Locked Sourcing</a:t>
            </a:r>
            <a:endParaRPr sz="1300">
              <a:solidFill>
                <a:schemeClr val="dk1"/>
              </a:solidFill>
              <a:latin typeface="Calibri"/>
              <a:ea typeface="Calibri"/>
              <a:cs typeface="Calibri"/>
              <a:sym typeface="Calibri"/>
            </a:endParaRPr>
          </a:p>
        </p:txBody>
      </p:sp>
      <p:sp>
        <p:nvSpPr>
          <p:cNvPr id="89" name="Google Shape;89;p5"/>
          <p:cNvSpPr/>
          <p:nvPr/>
        </p:nvSpPr>
        <p:spPr>
          <a:xfrm>
            <a:off x="804672" y="5696712"/>
            <a:ext cx="3136392"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94A3B8"/>
              </a:buClr>
              <a:buSzPts val="1300"/>
              <a:buFont typeface="Calibri"/>
              <a:buNone/>
            </a:pPr>
            <a:r>
              <a:t/>
            </a:r>
            <a:endParaRPr sz="1000">
              <a:solidFill>
                <a:schemeClr val="dk1"/>
              </a:solidFill>
              <a:latin typeface="Calibri"/>
              <a:ea typeface="Calibri"/>
              <a:cs typeface="Calibri"/>
              <a:sym typeface="Calibri"/>
            </a:endParaRPr>
          </a:p>
        </p:txBody>
      </p:sp>
      <p:sp>
        <p:nvSpPr>
          <p:cNvPr id="90" name="Google Shape;90;p5"/>
          <p:cNvSpPr/>
          <p:nvPr/>
        </p:nvSpPr>
        <p:spPr>
          <a:xfrm>
            <a:off x="4315968" y="4370832"/>
            <a:ext cx="3648456" cy="1874520"/>
          </a:xfrm>
          <a:prstGeom prst="roundRect">
            <a:avLst>
              <a:gd fmla="val 4390" name="adj"/>
            </a:avLst>
          </a:prstGeom>
          <a:solidFill>
            <a:srgbClr val="1E293B"/>
          </a:solidFill>
          <a:ln>
            <a:noFill/>
          </a:ln>
          <a:effectLst>
            <a:outerShdw blurRad="1016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 name="Google Shape;91;p5"/>
          <p:cNvSpPr/>
          <p:nvPr/>
        </p:nvSpPr>
        <p:spPr>
          <a:xfrm>
            <a:off x="4572000" y="4626864"/>
            <a:ext cx="457200" cy="457200"/>
          </a:xfrm>
          <a:prstGeom prst="ellipse">
            <a:avLst/>
          </a:prstGeom>
          <a:solidFill>
            <a:srgbClr val="34D3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 name="Google Shape;92;p5"/>
          <p:cNvSpPr/>
          <p:nvPr/>
        </p:nvSpPr>
        <p:spPr>
          <a:xfrm>
            <a:off x="4572000" y="4626864"/>
            <a:ext cx="457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2200"/>
              <a:buFont typeface="Calibri"/>
              <a:buNone/>
            </a:pPr>
            <a:r>
              <a:rPr b="1" lang="en-US" sz="2200">
                <a:solidFill>
                  <a:srgbClr val="0F172A"/>
                </a:solidFill>
                <a:latin typeface="Calibri"/>
                <a:ea typeface="Calibri"/>
                <a:cs typeface="Calibri"/>
                <a:sym typeface="Calibri"/>
              </a:rPr>
              <a:t>2</a:t>
            </a:r>
            <a:endParaRPr sz="1800">
              <a:solidFill>
                <a:schemeClr val="dk1"/>
              </a:solidFill>
              <a:latin typeface="Calibri"/>
              <a:ea typeface="Calibri"/>
              <a:cs typeface="Calibri"/>
              <a:sym typeface="Calibri"/>
            </a:endParaRPr>
          </a:p>
        </p:txBody>
      </p:sp>
      <p:sp>
        <p:nvSpPr>
          <p:cNvPr id="93" name="Google Shape;93;p5"/>
          <p:cNvSpPr/>
          <p:nvPr/>
        </p:nvSpPr>
        <p:spPr>
          <a:xfrm>
            <a:off x="5116000" y="4480625"/>
            <a:ext cx="3136500" cy="50280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38BDF8"/>
              </a:buClr>
              <a:buSzPts val="1600"/>
              <a:buFont typeface="Calibri"/>
              <a:buNone/>
            </a:pPr>
            <a:r>
              <a:rPr b="1" lang="en-US" sz="1600">
                <a:solidFill>
                  <a:srgbClr val="38BDF8"/>
                </a:solidFill>
                <a:latin typeface="Calibri"/>
                <a:ea typeface="Calibri"/>
                <a:cs typeface="Calibri"/>
                <a:sym typeface="Calibri"/>
              </a:rPr>
              <a:t>Zero-Hallucination Evidence RAG</a:t>
            </a:r>
            <a:endParaRPr sz="1300">
              <a:solidFill>
                <a:schemeClr val="dk1"/>
              </a:solidFill>
              <a:latin typeface="Calibri"/>
              <a:ea typeface="Calibri"/>
              <a:cs typeface="Calibri"/>
              <a:sym typeface="Calibri"/>
            </a:endParaRPr>
          </a:p>
        </p:txBody>
      </p:sp>
      <p:sp>
        <p:nvSpPr>
          <p:cNvPr id="94" name="Google Shape;94;p5"/>
          <p:cNvSpPr/>
          <p:nvPr/>
        </p:nvSpPr>
        <p:spPr>
          <a:xfrm>
            <a:off x="5029200" y="5084075"/>
            <a:ext cx="2679300" cy="1115700"/>
          </a:xfrm>
          <a:prstGeom prst="rect">
            <a:avLst/>
          </a:prstGeom>
          <a:noFill/>
          <a:ln>
            <a:noFill/>
          </a:ln>
        </p:spPr>
        <p:txBody>
          <a:bodyPr anchorCtr="0" anchor="ctr" bIns="45700" lIns="91425" spcFirstLastPara="1" rIns="91425" wrap="square" tIns="45700">
            <a:noAutofit/>
          </a:bodyPr>
          <a:lstStyle/>
          <a:p>
            <a:pPr indent="0" lvl="0" marL="0" rtl="0" algn="l">
              <a:lnSpc>
                <a:spcPct val="110000"/>
              </a:lnSpc>
              <a:spcBef>
                <a:spcPts val="0"/>
              </a:spcBef>
              <a:spcAft>
                <a:spcPts val="0"/>
              </a:spcAft>
              <a:buClr>
                <a:schemeClr val="dk1"/>
              </a:buClr>
              <a:buSzPts val="1100"/>
              <a:buFont typeface="Arial"/>
              <a:buNone/>
            </a:pPr>
            <a:r>
              <a:rPr lang="en-US" sz="1300">
                <a:solidFill>
                  <a:srgbClr val="94A3B8"/>
                </a:solidFill>
                <a:latin typeface="Calibri"/>
                <a:ea typeface="Calibri"/>
                <a:cs typeface="Calibri"/>
                <a:sym typeface="Calibri"/>
              </a:rPr>
              <a:t>Ingests spec PDFs/HTML into ChromaDB vector store,Knowledge graph for future use. Every attribute is bound to exact source URL, page number, confidence score, and text snippet.</a:t>
            </a:r>
            <a:endParaRPr sz="1300">
              <a:solidFill>
                <a:srgbClr val="94A3B8"/>
              </a:solidFill>
              <a:latin typeface="Calibri"/>
              <a:ea typeface="Calibri"/>
              <a:cs typeface="Calibri"/>
              <a:sym typeface="Calibri"/>
            </a:endParaRPr>
          </a:p>
          <a:p>
            <a:pPr indent="0" lvl="0" marL="0" marR="0" rtl="0" algn="l">
              <a:lnSpc>
                <a:spcPct val="110000"/>
              </a:lnSpc>
              <a:spcBef>
                <a:spcPts val="0"/>
              </a:spcBef>
              <a:spcAft>
                <a:spcPts val="0"/>
              </a:spcAft>
              <a:buClr>
                <a:srgbClr val="94A3B8"/>
              </a:buClr>
              <a:buSzPts val="1300"/>
              <a:buFont typeface="Calibri"/>
              <a:buNone/>
            </a:pPr>
            <a:r>
              <a:t/>
            </a:r>
            <a:endParaRPr sz="1300">
              <a:solidFill>
                <a:srgbClr val="94A3B8"/>
              </a:solidFill>
              <a:latin typeface="Calibri"/>
              <a:ea typeface="Calibri"/>
              <a:cs typeface="Calibri"/>
              <a:sym typeface="Calibri"/>
            </a:endParaRPr>
          </a:p>
        </p:txBody>
      </p:sp>
      <p:sp>
        <p:nvSpPr>
          <p:cNvPr id="95" name="Google Shape;95;p5"/>
          <p:cNvSpPr/>
          <p:nvPr/>
        </p:nvSpPr>
        <p:spPr>
          <a:xfrm>
            <a:off x="8083296" y="4297670"/>
            <a:ext cx="3648600" cy="1874400"/>
          </a:xfrm>
          <a:prstGeom prst="roundRect">
            <a:avLst>
              <a:gd fmla="val 4390" name="adj"/>
            </a:avLst>
          </a:prstGeom>
          <a:solidFill>
            <a:srgbClr val="1E293B"/>
          </a:solidFill>
          <a:ln>
            <a:noFill/>
          </a:ln>
          <a:effectLst>
            <a:outerShdw blurRad="1016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 name="Google Shape;96;p5"/>
          <p:cNvSpPr/>
          <p:nvPr/>
        </p:nvSpPr>
        <p:spPr>
          <a:xfrm>
            <a:off x="8339328" y="4626864"/>
            <a:ext cx="457200" cy="457200"/>
          </a:xfrm>
          <a:prstGeom prst="ellipse">
            <a:avLst/>
          </a:prstGeom>
          <a:solidFill>
            <a:srgbClr val="34D3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 name="Google Shape;97;p5"/>
          <p:cNvSpPr/>
          <p:nvPr/>
        </p:nvSpPr>
        <p:spPr>
          <a:xfrm>
            <a:off x="8339328" y="4626864"/>
            <a:ext cx="457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2200"/>
              <a:buFont typeface="Calibri"/>
              <a:buNone/>
            </a:pPr>
            <a:r>
              <a:rPr b="1" lang="en-US" sz="2200">
                <a:solidFill>
                  <a:srgbClr val="0F172A"/>
                </a:solidFill>
                <a:latin typeface="Calibri"/>
                <a:ea typeface="Calibri"/>
                <a:cs typeface="Calibri"/>
                <a:sym typeface="Calibri"/>
              </a:rPr>
              <a:t>3</a:t>
            </a:r>
            <a:endParaRPr sz="1800">
              <a:solidFill>
                <a:schemeClr val="dk1"/>
              </a:solidFill>
              <a:latin typeface="Calibri"/>
              <a:ea typeface="Calibri"/>
              <a:cs typeface="Calibri"/>
              <a:sym typeface="Calibri"/>
            </a:endParaRPr>
          </a:p>
        </p:txBody>
      </p:sp>
      <p:sp>
        <p:nvSpPr>
          <p:cNvPr id="98" name="Google Shape;98;p5"/>
          <p:cNvSpPr/>
          <p:nvPr/>
        </p:nvSpPr>
        <p:spPr>
          <a:xfrm>
            <a:off x="8883353" y="4604075"/>
            <a:ext cx="3136500" cy="50280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38BDF8"/>
              </a:buClr>
              <a:buSzPts val="1600"/>
              <a:buFont typeface="Calibri"/>
              <a:buNone/>
            </a:pPr>
            <a:r>
              <a:rPr b="1" lang="en-US" sz="1600">
                <a:solidFill>
                  <a:srgbClr val="38BDF8"/>
                </a:solidFill>
                <a:latin typeface="Calibri"/>
                <a:ea typeface="Calibri"/>
                <a:cs typeface="Calibri"/>
                <a:sym typeface="Calibri"/>
              </a:rPr>
              <a:t>5-Stage Human-in-the-Loop Dashboard</a:t>
            </a:r>
            <a:endParaRPr sz="1300">
              <a:solidFill>
                <a:schemeClr val="dk1"/>
              </a:solidFill>
              <a:latin typeface="Calibri"/>
              <a:ea typeface="Calibri"/>
              <a:cs typeface="Calibri"/>
              <a:sym typeface="Calibri"/>
            </a:endParaRPr>
          </a:p>
        </p:txBody>
      </p:sp>
      <p:sp>
        <p:nvSpPr>
          <p:cNvPr id="99" name="Google Shape;99;p5"/>
          <p:cNvSpPr/>
          <p:nvPr/>
        </p:nvSpPr>
        <p:spPr>
          <a:xfrm>
            <a:off x="8339325" y="5317325"/>
            <a:ext cx="3648600" cy="798000"/>
          </a:xfrm>
          <a:prstGeom prst="rect">
            <a:avLst/>
          </a:prstGeom>
          <a:noFill/>
          <a:ln>
            <a:noFill/>
          </a:ln>
        </p:spPr>
        <p:txBody>
          <a:bodyPr anchorCtr="0" anchor="ctr" bIns="45700" lIns="91425" spcFirstLastPara="1" rIns="91425" wrap="square" tIns="45700">
            <a:noAutofit/>
          </a:bodyPr>
          <a:lstStyle/>
          <a:p>
            <a:pPr indent="0" lvl="0" marL="0" rtl="0" algn="l">
              <a:lnSpc>
                <a:spcPct val="110000"/>
              </a:lnSpc>
              <a:spcBef>
                <a:spcPts val="0"/>
              </a:spcBef>
              <a:spcAft>
                <a:spcPts val="0"/>
              </a:spcAft>
              <a:buClr>
                <a:schemeClr val="dk1"/>
              </a:buClr>
              <a:buSzPts val="1100"/>
              <a:buFont typeface="Arial"/>
              <a:buNone/>
            </a:pPr>
            <a:r>
              <a:rPr lang="en-US" sz="1200">
                <a:solidFill>
                  <a:srgbClr val="94A3B8"/>
                </a:solidFill>
                <a:latin typeface="Calibri"/>
                <a:ea typeface="Calibri"/>
                <a:cs typeface="Calibri"/>
                <a:sym typeface="Calibri"/>
              </a:rPr>
              <a:t>Routes low-confidence items (&lt;80%) to human catalog managers for 1-click review and natural language AI steering. Admin can choose to get final output or review each stage and change values and promt and enage with agent   depending on his needs</a:t>
            </a:r>
            <a:endParaRPr sz="1200">
              <a:solidFill>
                <a:srgbClr val="94A3B8"/>
              </a:solidFill>
              <a:latin typeface="Calibri"/>
              <a:ea typeface="Calibri"/>
              <a:cs typeface="Calibri"/>
              <a:sym typeface="Calibri"/>
            </a:endParaRPr>
          </a:p>
          <a:p>
            <a:pPr indent="0" lvl="0" marL="0" marR="0" rtl="0" algn="l">
              <a:lnSpc>
                <a:spcPct val="110000"/>
              </a:lnSpc>
              <a:spcBef>
                <a:spcPts val="0"/>
              </a:spcBef>
              <a:spcAft>
                <a:spcPts val="0"/>
              </a:spcAft>
              <a:buClr>
                <a:srgbClr val="94A3B8"/>
              </a:buClr>
              <a:buSzPts val="1300"/>
              <a:buFont typeface="Calibri"/>
              <a:buNone/>
            </a:pPr>
            <a:r>
              <a:t/>
            </a:r>
            <a:endParaRPr sz="1300">
              <a:solidFill>
                <a:srgbClr val="94A3B8"/>
              </a:solidFill>
              <a:latin typeface="Calibri"/>
              <a:ea typeface="Calibri"/>
              <a:cs typeface="Calibri"/>
              <a:sym typeface="Calibri"/>
            </a:endParaRPr>
          </a:p>
        </p:txBody>
      </p:sp>
      <p:sp>
        <p:nvSpPr>
          <p:cNvPr id="100" name="Google Shape;100;p5"/>
          <p:cNvSpPr/>
          <p:nvPr/>
        </p:nvSpPr>
        <p:spPr>
          <a:xfrm>
            <a:off x="45720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172A"/>
              </a:buClr>
              <a:buSzPts val="1300"/>
              <a:buFont typeface="Calibri"/>
              <a:buNone/>
            </a:pPr>
            <a:r>
              <a:rPr lang="en-US" sz="1300">
                <a:solidFill>
                  <a:srgbClr val="0F172A"/>
                </a:solidFill>
                <a:latin typeface="Calibri"/>
                <a:ea typeface="Calibri"/>
                <a:cs typeface="Calibri"/>
                <a:sym typeface="Calibri"/>
              </a:rPr>
              <a:t>03 / 15   •   Solution Overview</a:t>
            </a:r>
            <a:endParaRPr sz="900">
              <a:solidFill>
                <a:schemeClr val="dk1"/>
              </a:solidFill>
              <a:latin typeface="Calibri"/>
              <a:ea typeface="Calibri"/>
              <a:cs typeface="Calibri"/>
              <a:sym typeface="Calibri"/>
            </a:endParaRPr>
          </a:p>
        </p:txBody>
      </p:sp>
      <p:sp>
        <p:nvSpPr>
          <p:cNvPr id="101" name="Google Shape;101;p5"/>
          <p:cNvSpPr txBox="1"/>
          <p:nvPr/>
        </p:nvSpPr>
        <p:spPr>
          <a:xfrm>
            <a:off x="1261875" y="4893850"/>
            <a:ext cx="3054000" cy="988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Clr>
                <a:schemeClr val="dk1"/>
              </a:buClr>
              <a:buSzPts val="1100"/>
              <a:buFont typeface="Arial"/>
              <a:buNone/>
            </a:pPr>
            <a:r>
              <a:rPr lang="en-US" sz="1300">
                <a:solidFill>
                  <a:srgbClr val="94A3B8"/>
                </a:solidFill>
                <a:latin typeface="Calibri"/>
                <a:ea typeface="Calibri"/>
                <a:cs typeface="Calibri"/>
                <a:sym typeface="Calibri"/>
              </a:rPr>
              <a:t>Bypasses marketplace noise (Amazon/eBay) by locking retrieval strictly to official manufacturer domains (whirlpool.com, se.com, fluke.com).Trust only on manufacturer wesites</a:t>
            </a:r>
            <a:endParaRPr sz="1300">
              <a:solidFill>
                <a:srgbClr val="94A3B8"/>
              </a:solidFill>
              <a:latin typeface="Calibri"/>
              <a:ea typeface="Calibri"/>
              <a:cs typeface="Calibri"/>
              <a:sym typeface="Calibri"/>
            </a:endParaRPr>
          </a:p>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06" name="Shape 106"/>
        <p:cNvGrpSpPr/>
        <p:nvPr/>
      </p:nvGrpSpPr>
      <p:grpSpPr>
        <a:xfrm>
          <a:off x="0" y="0"/>
          <a:ext cx="0" cy="0"/>
          <a:chOff x="0" y="0"/>
          <a:chExt cx="0" cy="0"/>
        </a:xfrm>
      </p:grpSpPr>
      <p:pic>
        <p:nvPicPr>
          <p:cNvPr descr="image.png" id="107" name="Google Shape;107;p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8" name="Google Shape;108;p6"/>
          <p:cNvSpPr/>
          <p:nvPr/>
        </p:nvSpPr>
        <p:spPr>
          <a:xfrm>
            <a:off x="548640" y="347472"/>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172A"/>
              </a:buClr>
              <a:buSzPts val="1300"/>
              <a:buFont typeface="Calibri"/>
              <a:buNone/>
            </a:pPr>
            <a:r>
              <a:rPr b="1" lang="en-US" sz="1300">
                <a:solidFill>
                  <a:srgbClr val="0F172A"/>
                </a:solidFill>
                <a:latin typeface="Calibri"/>
                <a:ea typeface="Calibri"/>
                <a:cs typeface="Calibri"/>
                <a:sym typeface="Calibri"/>
              </a:rPr>
              <a:t>CORE QUESTION 1</a:t>
            </a:r>
            <a:endParaRPr sz="1100">
              <a:solidFill>
                <a:schemeClr val="dk1"/>
              </a:solidFill>
              <a:latin typeface="Calibri"/>
              <a:ea typeface="Calibri"/>
              <a:cs typeface="Calibri"/>
              <a:sym typeface="Calibri"/>
            </a:endParaRPr>
          </a:p>
        </p:txBody>
      </p:sp>
      <p:sp>
        <p:nvSpPr>
          <p:cNvPr id="109" name="Google Shape;109;p6"/>
          <p:cNvSpPr/>
          <p:nvPr/>
        </p:nvSpPr>
        <p:spPr>
          <a:xfrm>
            <a:off x="548640" y="603504"/>
            <a:ext cx="11064240" cy="86868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0F172A"/>
              </a:buClr>
              <a:buSzPts val="3200"/>
              <a:buFont typeface="Calibri"/>
              <a:buNone/>
            </a:pPr>
            <a:r>
              <a:rPr b="1" lang="en-US" sz="3200">
                <a:solidFill>
                  <a:srgbClr val="0F172A"/>
                </a:solidFill>
                <a:latin typeface="Calibri"/>
                <a:ea typeface="Calibri"/>
                <a:cs typeface="Calibri"/>
                <a:sym typeface="Calibri"/>
              </a:rPr>
              <a:t>How does your solution enrich minimal product information?</a:t>
            </a:r>
            <a:endParaRPr sz="2400">
              <a:solidFill>
                <a:schemeClr val="dk1"/>
              </a:solidFill>
              <a:latin typeface="Calibri"/>
              <a:ea typeface="Calibri"/>
              <a:cs typeface="Calibri"/>
              <a:sym typeface="Calibri"/>
            </a:endParaRPr>
          </a:p>
        </p:txBody>
      </p:sp>
      <p:sp>
        <p:nvSpPr>
          <p:cNvPr id="110" name="Google Shape;110;p6"/>
          <p:cNvSpPr/>
          <p:nvPr/>
        </p:nvSpPr>
        <p:spPr>
          <a:xfrm>
            <a:off x="548640" y="1600200"/>
            <a:ext cx="11091672" cy="932688"/>
          </a:xfrm>
          <a:prstGeom prst="roundRect">
            <a:avLst>
              <a:gd fmla="val 8824" name="adj"/>
            </a:avLst>
          </a:prstGeom>
          <a:solidFill>
            <a:srgbClr val="1E29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 name="Google Shape;111;p6"/>
          <p:cNvSpPr/>
          <p:nvPr/>
        </p:nvSpPr>
        <p:spPr>
          <a:xfrm>
            <a:off x="731520" y="1773936"/>
            <a:ext cx="566928" cy="566928"/>
          </a:xfrm>
          <a:prstGeom prst="ellipse">
            <a:avLst/>
          </a:prstGeom>
          <a:solidFill>
            <a:srgbClr val="38BDF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2" name="Google Shape;112;p6"/>
          <p:cNvSpPr/>
          <p:nvPr/>
        </p:nvSpPr>
        <p:spPr>
          <a:xfrm>
            <a:off x="731520" y="1773936"/>
            <a:ext cx="566928"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3200"/>
              <a:buFont typeface="Calibri"/>
              <a:buNone/>
            </a:pPr>
            <a:r>
              <a:rPr b="1" lang="en-US" sz="3200">
                <a:solidFill>
                  <a:srgbClr val="0F172A"/>
                </a:solidFill>
                <a:latin typeface="Calibri"/>
                <a:ea typeface="Calibri"/>
                <a:cs typeface="Calibri"/>
                <a:sym typeface="Calibri"/>
              </a:rPr>
              <a:t>1</a:t>
            </a:r>
            <a:endParaRPr sz="2200">
              <a:solidFill>
                <a:schemeClr val="dk1"/>
              </a:solidFill>
              <a:latin typeface="Calibri"/>
              <a:ea typeface="Calibri"/>
              <a:cs typeface="Calibri"/>
              <a:sym typeface="Calibri"/>
            </a:endParaRPr>
          </a:p>
        </p:txBody>
      </p:sp>
      <p:sp>
        <p:nvSpPr>
          <p:cNvPr id="113" name="Google Shape;113;p6"/>
          <p:cNvSpPr/>
          <p:nvPr/>
        </p:nvSpPr>
        <p:spPr>
          <a:xfrm>
            <a:off x="1508760" y="1673352"/>
            <a:ext cx="324612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8FAFC"/>
              </a:buClr>
              <a:buSzPts val="1600"/>
              <a:buFont typeface="Calibri"/>
              <a:buNone/>
            </a:pPr>
            <a:r>
              <a:rPr b="1" lang="en-US" sz="1600">
                <a:solidFill>
                  <a:srgbClr val="F8FAFC"/>
                </a:solidFill>
                <a:latin typeface="Calibri"/>
                <a:ea typeface="Calibri"/>
                <a:cs typeface="Calibri"/>
                <a:sym typeface="Calibri"/>
              </a:rPr>
              <a:t>Identity Disambiguation</a:t>
            </a:r>
            <a:endParaRPr sz="1400">
              <a:solidFill>
                <a:schemeClr val="dk1"/>
              </a:solidFill>
              <a:latin typeface="Calibri"/>
              <a:ea typeface="Calibri"/>
              <a:cs typeface="Calibri"/>
              <a:sym typeface="Calibri"/>
            </a:endParaRPr>
          </a:p>
        </p:txBody>
      </p:sp>
      <p:sp>
        <p:nvSpPr>
          <p:cNvPr id="114" name="Google Shape;114;p6"/>
          <p:cNvSpPr/>
          <p:nvPr/>
        </p:nvSpPr>
        <p:spPr>
          <a:xfrm>
            <a:off x="1508760" y="2057400"/>
            <a:ext cx="32461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4D399"/>
              </a:buClr>
              <a:buSzPts val="1300"/>
              <a:buFont typeface="Calibri"/>
              <a:buNone/>
            </a:pPr>
            <a:r>
              <a:rPr i="1" lang="en-US" sz="1300">
                <a:solidFill>
                  <a:srgbClr val="34D399"/>
                </a:solidFill>
                <a:latin typeface="Calibri"/>
                <a:ea typeface="Calibri"/>
                <a:cs typeface="Calibri"/>
                <a:sym typeface="Calibri"/>
              </a:rPr>
              <a:t>Phase 1  ·  node_identity()</a:t>
            </a:r>
            <a:endParaRPr sz="1000">
              <a:solidFill>
                <a:schemeClr val="dk1"/>
              </a:solidFill>
              <a:latin typeface="Calibri"/>
              <a:ea typeface="Calibri"/>
              <a:cs typeface="Calibri"/>
              <a:sym typeface="Calibri"/>
            </a:endParaRPr>
          </a:p>
        </p:txBody>
      </p:sp>
      <p:sp>
        <p:nvSpPr>
          <p:cNvPr id="115" name="Google Shape;115;p6"/>
          <p:cNvSpPr/>
          <p:nvPr/>
        </p:nvSpPr>
        <p:spPr>
          <a:xfrm>
            <a:off x="4892040" y="1673352"/>
            <a:ext cx="6565392" cy="786384"/>
          </a:xfrm>
          <a:prstGeom prst="rect">
            <a:avLst/>
          </a:prstGeom>
          <a:noFill/>
          <a:ln>
            <a:noFill/>
          </a:ln>
        </p:spPr>
        <p:txBody>
          <a:bodyPr anchorCtr="0" anchor="ctr" bIns="45700" lIns="91425" spcFirstLastPara="1" rIns="91425" wrap="square" tIns="45700">
            <a:noAutofit/>
          </a:bodyPr>
          <a:lstStyle/>
          <a:p>
            <a:pPr indent="0" lvl="0" marL="0" marR="0" rtl="0" algn="l">
              <a:lnSpc>
                <a:spcPct val="108000"/>
              </a:lnSpc>
              <a:spcBef>
                <a:spcPts val="0"/>
              </a:spcBef>
              <a:spcAft>
                <a:spcPts val="0"/>
              </a:spcAft>
              <a:buClr>
                <a:srgbClr val="94A3B8"/>
              </a:buClr>
              <a:buSzPts val="1300"/>
              <a:buFont typeface="Calibri"/>
              <a:buNone/>
            </a:pPr>
            <a:r>
              <a:rPr lang="en-US" sz="1300">
                <a:solidFill>
                  <a:srgbClr val="94A3B8"/>
                </a:solidFill>
                <a:latin typeface="Calibri"/>
                <a:ea typeface="Calibri"/>
                <a:cs typeface="Calibri"/>
                <a:sym typeface="Calibri"/>
              </a:rPr>
              <a:t>Ingests dirty supplier text (e.g. 'APPDE', 'Square D'). Cross-references SQLite Brand Alias bank &amp; NetworkX Knowledge Graph to resolve true OEM name ('Whirlpool Corporation'). Expands industrial abbreviations ('SS' → 'Stainless Steel').</a:t>
            </a:r>
            <a:endParaRPr sz="1050">
              <a:solidFill>
                <a:schemeClr val="dk1"/>
              </a:solidFill>
              <a:latin typeface="Calibri"/>
              <a:ea typeface="Calibri"/>
              <a:cs typeface="Calibri"/>
              <a:sym typeface="Calibri"/>
            </a:endParaRPr>
          </a:p>
        </p:txBody>
      </p:sp>
      <p:sp>
        <p:nvSpPr>
          <p:cNvPr id="116" name="Google Shape;116;p6"/>
          <p:cNvSpPr/>
          <p:nvPr/>
        </p:nvSpPr>
        <p:spPr>
          <a:xfrm>
            <a:off x="548640" y="2587752"/>
            <a:ext cx="11091672" cy="932688"/>
          </a:xfrm>
          <a:prstGeom prst="roundRect">
            <a:avLst>
              <a:gd fmla="val 8824" name="adj"/>
            </a:avLst>
          </a:prstGeom>
          <a:solidFill>
            <a:srgbClr val="16213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 name="Google Shape;117;p6"/>
          <p:cNvSpPr/>
          <p:nvPr/>
        </p:nvSpPr>
        <p:spPr>
          <a:xfrm>
            <a:off x="731520" y="2761488"/>
            <a:ext cx="566928" cy="566928"/>
          </a:xfrm>
          <a:prstGeom prst="ellipse">
            <a:avLst/>
          </a:prstGeom>
          <a:solidFill>
            <a:srgbClr val="38BDF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 name="Google Shape;118;p6"/>
          <p:cNvSpPr/>
          <p:nvPr/>
        </p:nvSpPr>
        <p:spPr>
          <a:xfrm>
            <a:off x="731520" y="2761488"/>
            <a:ext cx="566928"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3200"/>
              <a:buFont typeface="Calibri"/>
              <a:buNone/>
            </a:pPr>
            <a:r>
              <a:rPr b="1" lang="en-US" sz="3200">
                <a:solidFill>
                  <a:srgbClr val="0F172A"/>
                </a:solidFill>
                <a:latin typeface="Calibri"/>
                <a:ea typeface="Calibri"/>
                <a:cs typeface="Calibri"/>
                <a:sym typeface="Calibri"/>
              </a:rPr>
              <a:t>2</a:t>
            </a:r>
            <a:endParaRPr sz="2200">
              <a:solidFill>
                <a:schemeClr val="dk1"/>
              </a:solidFill>
              <a:latin typeface="Calibri"/>
              <a:ea typeface="Calibri"/>
              <a:cs typeface="Calibri"/>
              <a:sym typeface="Calibri"/>
            </a:endParaRPr>
          </a:p>
        </p:txBody>
      </p:sp>
      <p:sp>
        <p:nvSpPr>
          <p:cNvPr id="119" name="Google Shape;119;p6"/>
          <p:cNvSpPr/>
          <p:nvPr/>
        </p:nvSpPr>
        <p:spPr>
          <a:xfrm>
            <a:off x="1508760" y="2660904"/>
            <a:ext cx="324612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8FAFC"/>
              </a:buClr>
              <a:buSzPts val="1600"/>
              <a:buFont typeface="Calibri"/>
              <a:buNone/>
            </a:pPr>
            <a:r>
              <a:rPr b="1" lang="en-US" sz="1600">
                <a:solidFill>
                  <a:srgbClr val="F8FAFC"/>
                </a:solidFill>
                <a:latin typeface="Calibri"/>
                <a:ea typeface="Calibri"/>
                <a:cs typeface="Calibri"/>
                <a:sym typeface="Calibri"/>
              </a:rPr>
              <a:t>Leaf Taxonomy &amp; UNSPSC</a:t>
            </a:r>
            <a:endParaRPr sz="1400">
              <a:solidFill>
                <a:schemeClr val="dk1"/>
              </a:solidFill>
              <a:latin typeface="Calibri"/>
              <a:ea typeface="Calibri"/>
              <a:cs typeface="Calibri"/>
              <a:sym typeface="Calibri"/>
            </a:endParaRPr>
          </a:p>
        </p:txBody>
      </p:sp>
      <p:sp>
        <p:nvSpPr>
          <p:cNvPr id="120" name="Google Shape;120;p6"/>
          <p:cNvSpPr/>
          <p:nvPr/>
        </p:nvSpPr>
        <p:spPr>
          <a:xfrm>
            <a:off x="1508760" y="3044952"/>
            <a:ext cx="32461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4D399"/>
              </a:buClr>
              <a:buSzPts val="1300"/>
              <a:buFont typeface="Calibri"/>
              <a:buNone/>
            </a:pPr>
            <a:r>
              <a:rPr i="1" lang="en-US" sz="1300">
                <a:solidFill>
                  <a:srgbClr val="34D399"/>
                </a:solidFill>
                <a:latin typeface="Calibri"/>
                <a:ea typeface="Calibri"/>
                <a:cs typeface="Calibri"/>
                <a:sym typeface="Calibri"/>
              </a:rPr>
              <a:t>Phase 2  ·  node_taxonomy()</a:t>
            </a:r>
            <a:endParaRPr sz="1000">
              <a:solidFill>
                <a:schemeClr val="dk1"/>
              </a:solidFill>
              <a:latin typeface="Calibri"/>
              <a:ea typeface="Calibri"/>
              <a:cs typeface="Calibri"/>
              <a:sym typeface="Calibri"/>
            </a:endParaRPr>
          </a:p>
        </p:txBody>
      </p:sp>
      <p:sp>
        <p:nvSpPr>
          <p:cNvPr id="121" name="Google Shape;121;p6"/>
          <p:cNvSpPr/>
          <p:nvPr/>
        </p:nvSpPr>
        <p:spPr>
          <a:xfrm>
            <a:off x="4892050" y="2660850"/>
            <a:ext cx="6565500" cy="786300"/>
          </a:xfrm>
          <a:prstGeom prst="rect">
            <a:avLst/>
          </a:prstGeom>
          <a:noFill/>
          <a:ln>
            <a:noFill/>
          </a:ln>
        </p:spPr>
        <p:txBody>
          <a:bodyPr anchorCtr="0" anchor="ctr" bIns="45700" lIns="91425" spcFirstLastPara="1" rIns="91425" wrap="square" tIns="45700">
            <a:noAutofit/>
          </a:bodyPr>
          <a:lstStyle/>
          <a:p>
            <a:pPr indent="0" lvl="0" marL="0" rtl="0" algn="l">
              <a:lnSpc>
                <a:spcPct val="108000"/>
              </a:lnSpc>
              <a:spcBef>
                <a:spcPts val="0"/>
              </a:spcBef>
              <a:spcAft>
                <a:spcPts val="0"/>
              </a:spcAft>
              <a:buClr>
                <a:schemeClr val="dk1"/>
              </a:buClr>
              <a:buSzPts val="1100"/>
              <a:buFont typeface="Arial"/>
              <a:buNone/>
            </a:pPr>
            <a:r>
              <a:rPr lang="en-US" sz="1100">
                <a:solidFill>
                  <a:srgbClr val="94A3B8"/>
                </a:solidFill>
                <a:latin typeface="Calibri"/>
                <a:ea typeface="Calibri"/>
                <a:cs typeface="Calibri"/>
                <a:sym typeface="Calibri"/>
              </a:rPr>
              <a:t>Maps product context to an 8-Digit UNSPSC Leaf Category Code (e.g. 83041100 for Built-In Dishwashers) and selects the 252-column leaf schema, suppressing non-applicable fields, and gets attributed field based on leaf category. series –(shared attributes with high confidence(admin accepted) are taken from graph so all attributes are not again meant for checking in chunks this saves time .same schema for category so store in cache.</a:t>
            </a:r>
            <a:endParaRPr sz="1100">
              <a:solidFill>
                <a:srgbClr val="94A3B8"/>
              </a:solidFill>
              <a:latin typeface="Calibri"/>
              <a:ea typeface="Calibri"/>
              <a:cs typeface="Calibri"/>
              <a:sym typeface="Calibri"/>
            </a:endParaRPr>
          </a:p>
          <a:p>
            <a:pPr indent="0" lvl="0" marL="0" marR="0" rtl="0" algn="l">
              <a:lnSpc>
                <a:spcPct val="108000"/>
              </a:lnSpc>
              <a:spcBef>
                <a:spcPts val="0"/>
              </a:spcBef>
              <a:spcAft>
                <a:spcPts val="0"/>
              </a:spcAft>
              <a:buClr>
                <a:srgbClr val="94A3B8"/>
              </a:buClr>
              <a:buSzPts val="1300"/>
              <a:buFont typeface="Calibri"/>
              <a:buNone/>
            </a:pPr>
            <a:r>
              <a:t/>
            </a:r>
            <a:endParaRPr sz="1300">
              <a:solidFill>
                <a:srgbClr val="94A3B8"/>
              </a:solidFill>
              <a:latin typeface="Calibri"/>
              <a:ea typeface="Calibri"/>
              <a:cs typeface="Calibri"/>
              <a:sym typeface="Calibri"/>
            </a:endParaRPr>
          </a:p>
        </p:txBody>
      </p:sp>
      <p:sp>
        <p:nvSpPr>
          <p:cNvPr id="122" name="Google Shape;122;p6"/>
          <p:cNvSpPr/>
          <p:nvPr/>
        </p:nvSpPr>
        <p:spPr>
          <a:xfrm>
            <a:off x="548640" y="3575304"/>
            <a:ext cx="11091672" cy="932688"/>
          </a:xfrm>
          <a:prstGeom prst="roundRect">
            <a:avLst>
              <a:gd fmla="val 8824" name="adj"/>
            </a:avLst>
          </a:prstGeom>
          <a:solidFill>
            <a:srgbClr val="1E29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 name="Google Shape;123;p6"/>
          <p:cNvSpPr/>
          <p:nvPr/>
        </p:nvSpPr>
        <p:spPr>
          <a:xfrm>
            <a:off x="731520" y="3749040"/>
            <a:ext cx="566928" cy="566928"/>
          </a:xfrm>
          <a:prstGeom prst="ellipse">
            <a:avLst/>
          </a:prstGeom>
          <a:solidFill>
            <a:srgbClr val="38BDF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4" name="Google Shape;124;p6"/>
          <p:cNvSpPr/>
          <p:nvPr/>
        </p:nvSpPr>
        <p:spPr>
          <a:xfrm>
            <a:off x="731520" y="3749040"/>
            <a:ext cx="566928"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3200"/>
              <a:buFont typeface="Calibri"/>
              <a:buNone/>
            </a:pPr>
            <a:r>
              <a:rPr b="1" lang="en-US" sz="3200">
                <a:solidFill>
                  <a:srgbClr val="0F172A"/>
                </a:solidFill>
                <a:latin typeface="Calibri"/>
                <a:ea typeface="Calibri"/>
                <a:cs typeface="Calibri"/>
                <a:sym typeface="Calibri"/>
              </a:rPr>
              <a:t>3</a:t>
            </a:r>
            <a:endParaRPr sz="2200">
              <a:solidFill>
                <a:schemeClr val="dk1"/>
              </a:solidFill>
              <a:latin typeface="Calibri"/>
              <a:ea typeface="Calibri"/>
              <a:cs typeface="Calibri"/>
              <a:sym typeface="Calibri"/>
            </a:endParaRPr>
          </a:p>
        </p:txBody>
      </p:sp>
      <p:sp>
        <p:nvSpPr>
          <p:cNvPr id="125" name="Google Shape;125;p6"/>
          <p:cNvSpPr/>
          <p:nvPr/>
        </p:nvSpPr>
        <p:spPr>
          <a:xfrm>
            <a:off x="1508760" y="3648456"/>
            <a:ext cx="324612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8FAFC"/>
              </a:buClr>
              <a:buSzPts val="1600"/>
              <a:buFont typeface="Calibri"/>
              <a:buNone/>
            </a:pPr>
            <a:r>
              <a:rPr b="1" lang="en-US" sz="1600">
                <a:solidFill>
                  <a:srgbClr val="F8FAFC"/>
                </a:solidFill>
                <a:latin typeface="Calibri"/>
                <a:ea typeface="Calibri"/>
                <a:cs typeface="Calibri"/>
                <a:sym typeface="Calibri"/>
              </a:rPr>
              <a:t>Multi-Modal OEM Sourcing</a:t>
            </a:r>
            <a:endParaRPr sz="1400">
              <a:solidFill>
                <a:schemeClr val="dk1"/>
              </a:solidFill>
              <a:latin typeface="Calibri"/>
              <a:ea typeface="Calibri"/>
              <a:cs typeface="Calibri"/>
              <a:sym typeface="Calibri"/>
            </a:endParaRPr>
          </a:p>
        </p:txBody>
      </p:sp>
      <p:sp>
        <p:nvSpPr>
          <p:cNvPr id="126" name="Google Shape;126;p6"/>
          <p:cNvSpPr/>
          <p:nvPr/>
        </p:nvSpPr>
        <p:spPr>
          <a:xfrm>
            <a:off x="1508760" y="4032504"/>
            <a:ext cx="32461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4D399"/>
              </a:buClr>
              <a:buSzPts val="1300"/>
              <a:buFont typeface="Calibri"/>
              <a:buNone/>
            </a:pPr>
            <a:r>
              <a:rPr i="1" lang="en-US" sz="1300">
                <a:solidFill>
                  <a:srgbClr val="34D399"/>
                </a:solidFill>
                <a:latin typeface="Calibri"/>
                <a:ea typeface="Calibri"/>
                <a:cs typeface="Calibri"/>
                <a:sym typeface="Calibri"/>
              </a:rPr>
              <a:t>Phase 3  ·  node_retrieve()</a:t>
            </a:r>
            <a:endParaRPr sz="1000">
              <a:solidFill>
                <a:schemeClr val="dk1"/>
              </a:solidFill>
              <a:latin typeface="Calibri"/>
              <a:ea typeface="Calibri"/>
              <a:cs typeface="Calibri"/>
              <a:sym typeface="Calibri"/>
            </a:endParaRPr>
          </a:p>
        </p:txBody>
      </p:sp>
      <p:sp>
        <p:nvSpPr>
          <p:cNvPr id="127" name="Google Shape;127;p6"/>
          <p:cNvSpPr/>
          <p:nvPr/>
        </p:nvSpPr>
        <p:spPr>
          <a:xfrm>
            <a:off x="4892040" y="3648456"/>
            <a:ext cx="6565392" cy="786384"/>
          </a:xfrm>
          <a:prstGeom prst="rect">
            <a:avLst/>
          </a:prstGeom>
          <a:noFill/>
          <a:ln>
            <a:noFill/>
          </a:ln>
        </p:spPr>
        <p:txBody>
          <a:bodyPr anchorCtr="0" anchor="ctr" bIns="45700" lIns="91425" spcFirstLastPara="1" rIns="91425" wrap="square" tIns="45700">
            <a:noAutofit/>
          </a:bodyPr>
          <a:lstStyle/>
          <a:p>
            <a:pPr indent="0" lvl="0" marL="0" rtl="0" algn="l">
              <a:lnSpc>
                <a:spcPct val="108000"/>
              </a:lnSpc>
              <a:spcBef>
                <a:spcPts val="0"/>
              </a:spcBef>
              <a:spcAft>
                <a:spcPts val="0"/>
              </a:spcAft>
              <a:buClr>
                <a:schemeClr val="dk1"/>
              </a:buClr>
              <a:buSzPts val="1100"/>
              <a:buFont typeface="Arial"/>
              <a:buNone/>
            </a:pPr>
            <a:r>
              <a:rPr lang="en-US" sz="1300">
                <a:solidFill>
                  <a:srgbClr val="94A3B8"/>
                </a:solidFill>
                <a:latin typeface="Calibri"/>
                <a:ea typeface="Calibri"/>
                <a:cs typeface="Calibri"/>
                <a:sym typeface="Calibri"/>
              </a:rPr>
              <a:t>Discovers official spec PDFs, manuals, installation guides, SDS documents, and images. Implements SHA-256 PDF caching to eliminate duplicate downloads.(document hashing saves a lot of time ,extracting pdfs repeatedly is duplicate work)</a:t>
            </a:r>
            <a:endParaRPr sz="1300">
              <a:solidFill>
                <a:srgbClr val="94A3B8"/>
              </a:solidFill>
              <a:latin typeface="Calibri"/>
              <a:ea typeface="Calibri"/>
              <a:cs typeface="Calibri"/>
              <a:sym typeface="Calibri"/>
            </a:endParaRPr>
          </a:p>
          <a:p>
            <a:pPr indent="0" lvl="0" marL="0" marR="0" rtl="0" algn="l">
              <a:lnSpc>
                <a:spcPct val="108000"/>
              </a:lnSpc>
              <a:spcBef>
                <a:spcPts val="0"/>
              </a:spcBef>
              <a:spcAft>
                <a:spcPts val="0"/>
              </a:spcAft>
              <a:buClr>
                <a:srgbClr val="94A3B8"/>
              </a:buClr>
              <a:buSzPts val="1300"/>
              <a:buFont typeface="Calibri"/>
              <a:buNone/>
            </a:pPr>
            <a:r>
              <a:t/>
            </a:r>
            <a:endParaRPr sz="1300">
              <a:solidFill>
                <a:srgbClr val="94A3B8"/>
              </a:solidFill>
              <a:latin typeface="Calibri"/>
              <a:ea typeface="Calibri"/>
              <a:cs typeface="Calibri"/>
              <a:sym typeface="Calibri"/>
            </a:endParaRPr>
          </a:p>
        </p:txBody>
      </p:sp>
      <p:sp>
        <p:nvSpPr>
          <p:cNvPr id="128" name="Google Shape;128;p6"/>
          <p:cNvSpPr/>
          <p:nvPr/>
        </p:nvSpPr>
        <p:spPr>
          <a:xfrm>
            <a:off x="548640" y="4562856"/>
            <a:ext cx="11091672" cy="932688"/>
          </a:xfrm>
          <a:prstGeom prst="roundRect">
            <a:avLst>
              <a:gd fmla="val 8824" name="adj"/>
            </a:avLst>
          </a:prstGeom>
          <a:solidFill>
            <a:srgbClr val="16213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 name="Google Shape;129;p6"/>
          <p:cNvSpPr/>
          <p:nvPr/>
        </p:nvSpPr>
        <p:spPr>
          <a:xfrm>
            <a:off x="731520" y="4736592"/>
            <a:ext cx="566928" cy="566928"/>
          </a:xfrm>
          <a:prstGeom prst="ellipse">
            <a:avLst/>
          </a:prstGeom>
          <a:solidFill>
            <a:srgbClr val="38BDF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 name="Google Shape;130;p6"/>
          <p:cNvSpPr/>
          <p:nvPr/>
        </p:nvSpPr>
        <p:spPr>
          <a:xfrm>
            <a:off x="731520" y="4736592"/>
            <a:ext cx="566928"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3200"/>
              <a:buFont typeface="Calibri"/>
              <a:buNone/>
            </a:pPr>
            <a:r>
              <a:rPr b="1" lang="en-US" sz="3200">
                <a:solidFill>
                  <a:srgbClr val="0F172A"/>
                </a:solidFill>
                <a:latin typeface="Calibri"/>
                <a:ea typeface="Calibri"/>
                <a:cs typeface="Calibri"/>
                <a:sym typeface="Calibri"/>
              </a:rPr>
              <a:t>4</a:t>
            </a:r>
            <a:endParaRPr sz="2200">
              <a:solidFill>
                <a:schemeClr val="dk1"/>
              </a:solidFill>
              <a:latin typeface="Calibri"/>
              <a:ea typeface="Calibri"/>
              <a:cs typeface="Calibri"/>
              <a:sym typeface="Calibri"/>
            </a:endParaRPr>
          </a:p>
        </p:txBody>
      </p:sp>
      <p:sp>
        <p:nvSpPr>
          <p:cNvPr id="131" name="Google Shape;131;p6"/>
          <p:cNvSpPr/>
          <p:nvPr/>
        </p:nvSpPr>
        <p:spPr>
          <a:xfrm>
            <a:off x="1508760" y="4636008"/>
            <a:ext cx="324612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8FAFC"/>
              </a:buClr>
              <a:buSzPts val="1600"/>
              <a:buFont typeface="Calibri"/>
              <a:buNone/>
            </a:pPr>
            <a:r>
              <a:rPr b="1" lang="en-US" sz="1600">
                <a:solidFill>
                  <a:srgbClr val="F8FAFC"/>
                </a:solidFill>
                <a:latin typeface="Calibri"/>
                <a:ea typeface="Calibri"/>
                <a:cs typeface="Calibri"/>
                <a:sym typeface="Calibri"/>
              </a:rPr>
              <a:t>Vector RAG &amp; Graph Inheritance</a:t>
            </a:r>
            <a:endParaRPr sz="1400">
              <a:solidFill>
                <a:schemeClr val="dk1"/>
              </a:solidFill>
              <a:latin typeface="Calibri"/>
              <a:ea typeface="Calibri"/>
              <a:cs typeface="Calibri"/>
              <a:sym typeface="Calibri"/>
            </a:endParaRPr>
          </a:p>
        </p:txBody>
      </p:sp>
      <p:sp>
        <p:nvSpPr>
          <p:cNvPr id="132" name="Google Shape;132;p6"/>
          <p:cNvSpPr/>
          <p:nvPr/>
        </p:nvSpPr>
        <p:spPr>
          <a:xfrm>
            <a:off x="1508760" y="5020056"/>
            <a:ext cx="32461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4D399"/>
              </a:buClr>
              <a:buSzPts val="1300"/>
              <a:buFont typeface="Calibri"/>
              <a:buNone/>
            </a:pPr>
            <a:r>
              <a:rPr i="1" lang="en-US" sz="1300">
                <a:solidFill>
                  <a:srgbClr val="34D399"/>
                </a:solidFill>
                <a:latin typeface="Calibri"/>
                <a:ea typeface="Calibri"/>
                <a:cs typeface="Calibri"/>
                <a:sym typeface="Calibri"/>
              </a:rPr>
              <a:t>Phase 4  ·  node_extract()</a:t>
            </a:r>
            <a:endParaRPr sz="1000">
              <a:solidFill>
                <a:schemeClr val="dk1"/>
              </a:solidFill>
              <a:latin typeface="Calibri"/>
              <a:ea typeface="Calibri"/>
              <a:cs typeface="Calibri"/>
              <a:sym typeface="Calibri"/>
            </a:endParaRPr>
          </a:p>
        </p:txBody>
      </p:sp>
      <p:sp>
        <p:nvSpPr>
          <p:cNvPr id="133" name="Google Shape;133;p6"/>
          <p:cNvSpPr/>
          <p:nvPr/>
        </p:nvSpPr>
        <p:spPr>
          <a:xfrm>
            <a:off x="4892040" y="4636008"/>
            <a:ext cx="6565392" cy="786384"/>
          </a:xfrm>
          <a:prstGeom prst="rect">
            <a:avLst/>
          </a:prstGeom>
          <a:noFill/>
          <a:ln>
            <a:noFill/>
          </a:ln>
        </p:spPr>
        <p:txBody>
          <a:bodyPr anchorCtr="0" anchor="ctr" bIns="45700" lIns="91425" spcFirstLastPara="1" rIns="91425" wrap="square" tIns="45700">
            <a:noAutofit/>
          </a:bodyPr>
          <a:lstStyle/>
          <a:p>
            <a:pPr indent="0" lvl="0" marL="0" rtl="0" algn="l">
              <a:lnSpc>
                <a:spcPct val="108000"/>
              </a:lnSpc>
              <a:spcBef>
                <a:spcPts val="0"/>
              </a:spcBef>
              <a:spcAft>
                <a:spcPts val="0"/>
              </a:spcAft>
              <a:buClr>
                <a:schemeClr val="dk1"/>
              </a:buClr>
              <a:buSzPts val="1100"/>
              <a:buFont typeface="Arial"/>
              <a:buNone/>
            </a:pPr>
            <a:r>
              <a:rPr lang="en-US" sz="1300">
                <a:solidFill>
                  <a:srgbClr val="94A3B8"/>
                </a:solidFill>
                <a:latin typeface="Calibri"/>
                <a:ea typeface="Calibri"/>
                <a:cs typeface="Calibri"/>
                <a:sym typeface="Calibri"/>
              </a:rPr>
              <a:t>Queries ChromaDB vector chunks and checks NetworkX Series Memory (shared attributes)to extract up to 50 structured attribute triplets (LABEL / VALUE / UOM).,chroma db with meta data of mpn,url,brand,taxonomy)help in effective retrieve</a:t>
            </a:r>
            <a:endParaRPr sz="1300">
              <a:solidFill>
                <a:srgbClr val="94A3B8"/>
              </a:solidFill>
              <a:latin typeface="Calibri"/>
              <a:ea typeface="Calibri"/>
              <a:cs typeface="Calibri"/>
              <a:sym typeface="Calibri"/>
            </a:endParaRPr>
          </a:p>
          <a:p>
            <a:pPr indent="0" lvl="0" marL="0" marR="0" rtl="0" algn="l">
              <a:lnSpc>
                <a:spcPct val="108000"/>
              </a:lnSpc>
              <a:spcBef>
                <a:spcPts val="0"/>
              </a:spcBef>
              <a:spcAft>
                <a:spcPts val="0"/>
              </a:spcAft>
              <a:buClr>
                <a:srgbClr val="94A3B8"/>
              </a:buClr>
              <a:buSzPts val="1300"/>
              <a:buFont typeface="Calibri"/>
              <a:buNone/>
            </a:pPr>
            <a:r>
              <a:t/>
            </a:r>
            <a:endParaRPr sz="1300">
              <a:solidFill>
                <a:srgbClr val="94A3B8"/>
              </a:solidFill>
              <a:latin typeface="Calibri"/>
              <a:ea typeface="Calibri"/>
              <a:cs typeface="Calibri"/>
              <a:sym typeface="Calibri"/>
            </a:endParaRPr>
          </a:p>
        </p:txBody>
      </p:sp>
      <p:sp>
        <p:nvSpPr>
          <p:cNvPr id="134" name="Google Shape;134;p6"/>
          <p:cNvSpPr/>
          <p:nvPr/>
        </p:nvSpPr>
        <p:spPr>
          <a:xfrm>
            <a:off x="548640" y="5550408"/>
            <a:ext cx="11091672" cy="932688"/>
          </a:xfrm>
          <a:prstGeom prst="roundRect">
            <a:avLst>
              <a:gd fmla="val 8824" name="adj"/>
            </a:avLst>
          </a:prstGeom>
          <a:solidFill>
            <a:srgbClr val="1E29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5" name="Google Shape;135;p6"/>
          <p:cNvSpPr/>
          <p:nvPr/>
        </p:nvSpPr>
        <p:spPr>
          <a:xfrm>
            <a:off x="731520" y="5724144"/>
            <a:ext cx="566928" cy="566928"/>
          </a:xfrm>
          <a:prstGeom prst="ellipse">
            <a:avLst/>
          </a:prstGeom>
          <a:solidFill>
            <a:srgbClr val="38BDF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6" name="Google Shape;136;p6"/>
          <p:cNvSpPr/>
          <p:nvPr/>
        </p:nvSpPr>
        <p:spPr>
          <a:xfrm>
            <a:off x="731520" y="5724144"/>
            <a:ext cx="566928"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3200"/>
              <a:buFont typeface="Calibri"/>
              <a:buNone/>
            </a:pPr>
            <a:r>
              <a:rPr b="1" lang="en-US" sz="3200">
                <a:solidFill>
                  <a:srgbClr val="0F172A"/>
                </a:solidFill>
                <a:latin typeface="Calibri"/>
                <a:ea typeface="Calibri"/>
                <a:cs typeface="Calibri"/>
                <a:sym typeface="Calibri"/>
              </a:rPr>
              <a:t>5</a:t>
            </a:r>
            <a:endParaRPr sz="2200">
              <a:solidFill>
                <a:schemeClr val="dk1"/>
              </a:solidFill>
              <a:latin typeface="Calibri"/>
              <a:ea typeface="Calibri"/>
              <a:cs typeface="Calibri"/>
              <a:sym typeface="Calibri"/>
            </a:endParaRPr>
          </a:p>
        </p:txBody>
      </p:sp>
      <p:sp>
        <p:nvSpPr>
          <p:cNvPr id="137" name="Google Shape;137;p6"/>
          <p:cNvSpPr/>
          <p:nvPr/>
        </p:nvSpPr>
        <p:spPr>
          <a:xfrm>
            <a:off x="1508760" y="5623560"/>
            <a:ext cx="324612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8FAFC"/>
              </a:buClr>
              <a:buSzPts val="1600"/>
              <a:buFont typeface="Calibri"/>
              <a:buNone/>
            </a:pPr>
            <a:r>
              <a:rPr b="1" lang="en-US" sz="1600">
                <a:solidFill>
                  <a:srgbClr val="F8FAFC"/>
                </a:solidFill>
                <a:latin typeface="Calibri"/>
                <a:ea typeface="Calibri"/>
                <a:cs typeface="Calibri"/>
                <a:sym typeface="Calibri"/>
              </a:rPr>
              <a:t>Commercial Copywriting</a:t>
            </a:r>
            <a:endParaRPr sz="1400">
              <a:solidFill>
                <a:schemeClr val="dk1"/>
              </a:solidFill>
              <a:latin typeface="Calibri"/>
              <a:ea typeface="Calibri"/>
              <a:cs typeface="Calibri"/>
              <a:sym typeface="Calibri"/>
            </a:endParaRPr>
          </a:p>
        </p:txBody>
      </p:sp>
      <p:sp>
        <p:nvSpPr>
          <p:cNvPr id="138" name="Google Shape;138;p6"/>
          <p:cNvSpPr/>
          <p:nvPr/>
        </p:nvSpPr>
        <p:spPr>
          <a:xfrm>
            <a:off x="1508760" y="6007608"/>
            <a:ext cx="32461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172A"/>
              </a:buClr>
              <a:buSzPts val="1300"/>
              <a:buFont typeface="Calibri"/>
              <a:buNone/>
            </a:pPr>
            <a:r>
              <a:rPr i="1" lang="en-US" sz="1300">
                <a:solidFill>
                  <a:srgbClr val="0F172A"/>
                </a:solidFill>
                <a:latin typeface="Calibri"/>
                <a:ea typeface="Calibri"/>
                <a:cs typeface="Calibri"/>
                <a:sym typeface="Calibri"/>
              </a:rPr>
              <a:t>Phase 5  ·  node_copywrite()</a:t>
            </a:r>
            <a:endParaRPr sz="1000">
              <a:solidFill>
                <a:schemeClr val="dk1"/>
              </a:solidFill>
              <a:latin typeface="Calibri"/>
              <a:ea typeface="Calibri"/>
              <a:cs typeface="Calibri"/>
              <a:sym typeface="Calibri"/>
            </a:endParaRPr>
          </a:p>
        </p:txBody>
      </p:sp>
      <p:sp>
        <p:nvSpPr>
          <p:cNvPr id="139" name="Google Shape;139;p6"/>
          <p:cNvSpPr/>
          <p:nvPr/>
        </p:nvSpPr>
        <p:spPr>
          <a:xfrm>
            <a:off x="4892040" y="5623560"/>
            <a:ext cx="6565392" cy="786384"/>
          </a:xfrm>
          <a:prstGeom prst="rect">
            <a:avLst/>
          </a:prstGeom>
          <a:noFill/>
          <a:ln>
            <a:noFill/>
          </a:ln>
        </p:spPr>
        <p:txBody>
          <a:bodyPr anchorCtr="0" anchor="ctr" bIns="45700" lIns="91425" spcFirstLastPara="1" rIns="91425" wrap="square" tIns="45700">
            <a:noAutofit/>
          </a:bodyPr>
          <a:lstStyle/>
          <a:p>
            <a:pPr indent="0" lvl="0" marL="0" rtl="0" algn="l">
              <a:lnSpc>
                <a:spcPct val="108000"/>
              </a:lnSpc>
              <a:spcBef>
                <a:spcPts val="0"/>
              </a:spcBef>
              <a:spcAft>
                <a:spcPts val="0"/>
              </a:spcAft>
              <a:buClr>
                <a:schemeClr val="dk1"/>
              </a:buClr>
              <a:buSzPts val="1100"/>
              <a:buFont typeface="Arial"/>
              <a:buNone/>
            </a:pPr>
            <a:r>
              <a:rPr lang="en-US" sz="1200">
                <a:solidFill>
                  <a:srgbClr val="94A3B8"/>
                </a:solidFill>
                <a:latin typeface="Calibri"/>
                <a:ea typeface="Calibri"/>
                <a:cs typeface="Calibri"/>
                <a:sym typeface="Calibri"/>
              </a:rPr>
              <a:t>Generates Invoice Description (≤40 chars, e.g. 'DISHWASHER SS 120V 15A 50-1/4IN'), Short &amp; Long Copy, Marketing Bullets (1..20), and standardized asset filenames.only generated when admin approves after looking at values generated by pipeline nd van edit them or promt the agent ,the agent will take care of  next stage ,like change  mfr-url and search or taxonomy is wrong</a:t>
            </a:r>
            <a:endParaRPr sz="1200">
              <a:solidFill>
                <a:srgbClr val="94A3B8"/>
              </a:solidFill>
              <a:latin typeface="Calibri"/>
              <a:ea typeface="Calibri"/>
              <a:cs typeface="Calibri"/>
              <a:sym typeface="Calibri"/>
            </a:endParaRPr>
          </a:p>
          <a:p>
            <a:pPr indent="0" lvl="0" marL="0" marR="0" rtl="0" algn="l">
              <a:lnSpc>
                <a:spcPct val="108000"/>
              </a:lnSpc>
              <a:spcBef>
                <a:spcPts val="0"/>
              </a:spcBef>
              <a:spcAft>
                <a:spcPts val="0"/>
              </a:spcAft>
              <a:buClr>
                <a:srgbClr val="94A3B8"/>
              </a:buClr>
              <a:buSzPts val="1300"/>
              <a:buFont typeface="Calibri"/>
              <a:buNone/>
            </a:pPr>
            <a:r>
              <a:t/>
            </a:r>
            <a:endParaRPr sz="1300">
              <a:solidFill>
                <a:srgbClr val="94A3B8"/>
              </a:solidFill>
              <a:latin typeface="Calibri"/>
              <a:ea typeface="Calibri"/>
              <a:cs typeface="Calibri"/>
              <a:sym typeface="Calibri"/>
            </a:endParaRPr>
          </a:p>
        </p:txBody>
      </p:sp>
      <p:sp>
        <p:nvSpPr>
          <p:cNvPr id="140" name="Google Shape;140;p6"/>
          <p:cNvSpPr/>
          <p:nvPr/>
        </p:nvSpPr>
        <p:spPr>
          <a:xfrm>
            <a:off x="45720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172A"/>
              </a:buClr>
              <a:buSzPts val="1300"/>
              <a:buFont typeface="Calibri"/>
              <a:buNone/>
            </a:pPr>
            <a:r>
              <a:rPr lang="en-US" sz="1300">
                <a:solidFill>
                  <a:srgbClr val="0F172A"/>
                </a:solidFill>
                <a:latin typeface="Calibri"/>
                <a:ea typeface="Calibri"/>
                <a:cs typeface="Calibri"/>
                <a:sym typeface="Calibri"/>
              </a:rPr>
              <a:t>04 / 15   •   Enrichment Strategy</a:t>
            </a:r>
            <a:endParaRPr sz="9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45" name="Shape 145"/>
        <p:cNvGrpSpPr/>
        <p:nvPr/>
      </p:nvGrpSpPr>
      <p:grpSpPr>
        <a:xfrm>
          <a:off x="0" y="0"/>
          <a:ext cx="0" cy="0"/>
          <a:chOff x="0" y="0"/>
          <a:chExt cx="0" cy="0"/>
        </a:xfrm>
      </p:grpSpPr>
      <p:pic>
        <p:nvPicPr>
          <p:cNvPr descr="image.png" id="146" name="Google Shape;146;p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47" name="Google Shape;147;p7"/>
          <p:cNvSpPr/>
          <p:nvPr/>
        </p:nvSpPr>
        <p:spPr>
          <a:xfrm>
            <a:off x="548640" y="347472"/>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172A"/>
              </a:buClr>
              <a:buSzPts val="1300"/>
              <a:buFont typeface="Calibri"/>
              <a:buNone/>
            </a:pPr>
            <a:r>
              <a:rPr b="1" lang="en-US" sz="1300">
                <a:solidFill>
                  <a:srgbClr val="0F172A"/>
                </a:solidFill>
                <a:latin typeface="Calibri"/>
                <a:ea typeface="Calibri"/>
                <a:cs typeface="Calibri"/>
                <a:sym typeface="Calibri"/>
              </a:rPr>
              <a:t>CORE QUESTION 2</a:t>
            </a:r>
            <a:endParaRPr sz="1100">
              <a:solidFill>
                <a:schemeClr val="dk1"/>
              </a:solidFill>
              <a:latin typeface="Calibri"/>
              <a:ea typeface="Calibri"/>
              <a:cs typeface="Calibri"/>
              <a:sym typeface="Calibri"/>
            </a:endParaRPr>
          </a:p>
        </p:txBody>
      </p:sp>
      <p:sp>
        <p:nvSpPr>
          <p:cNvPr id="148" name="Google Shape;148;p7"/>
          <p:cNvSpPr/>
          <p:nvPr/>
        </p:nvSpPr>
        <p:spPr>
          <a:xfrm>
            <a:off x="548640" y="603504"/>
            <a:ext cx="11064240" cy="86868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0F172A"/>
              </a:buClr>
              <a:buSzPts val="3200"/>
              <a:buFont typeface="Calibri"/>
              <a:buNone/>
            </a:pPr>
            <a:r>
              <a:rPr b="1" lang="en-US" sz="3200">
                <a:solidFill>
                  <a:srgbClr val="0F172A"/>
                </a:solidFill>
                <a:latin typeface="Calibri"/>
                <a:ea typeface="Calibri"/>
                <a:cs typeface="Calibri"/>
                <a:sym typeface="Calibri"/>
              </a:rPr>
              <a:t>How does your solution ensure accuracy and trust?</a:t>
            </a:r>
            <a:endParaRPr sz="2600">
              <a:solidFill>
                <a:schemeClr val="dk1"/>
              </a:solidFill>
              <a:latin typeface="Calibri"/>
              <a:ea typeface="Calibri"/>
              <a:cs typeface="Calibri"/>
              <a:sym typeface="Calibri"/>
            </a:endParaRPr>
          </a:p>
        </p:txBody>
      </p:sp>
      <p:sp>
        <p:nvSpPr>
          <p:cNvPr id="149" name="Google Shape;149;p7"/>
          <p:cNvSpPr/>
          <p:nvPr/>
        </p:nvSpPr>
        <p:spPr>
          <a:xfrm>
            <a:off x="548640" y="1508760"/>
            <a:ext cx="11091672" cy="868680"/>
          </a:xfrm>
          <a:prstGeom prst="roundRect">
            <a:avLst>
              <a:gd fmla="val 9474" name="adj"/>
            </a:avLst>
          </a:prstGeom>
          <a:solidFill>
            <a:srgbClr val="1E293B"/>
          </a:solidFill>
          <a:ln>
            <a:noFill/>
          </a:ln>
          <a:effectLst>
            <a:outerShdw blurRad="1016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0" name="Google Shape;150;p7"/>
          <p:cNvSpPr/>
          <p:nvPr/>
        </p:nvSpPr>
        <p:spPr>
          <a:xfrm>
            <a:off x="731520" y="1664208"/>
            <a:ext cx="548640" cy="548640"/>
          </a:xfrm>
          <a:prstGeom prst="ellipse">
            <a:avLst/>
          </a:prstGeom>
          <a:solidFill>
            <a:srgbClr val="34D3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1" name="Google Shape;151;p7"/>
          <p:cNvSpPr/>
          <p:nvPr/>
        </p:nvSpPr>
        <p:spPr>
          <a:xfrm>
            <a:off x="731520" y="1664208"/>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2200"/>
              <a:buFont typeface="Calibri"/>
              <a:buNone/>
            </a:pPr>
            <a:r>
              <a:rPr b="1" lang="en-US" sz="2200">
                <a:solidFill>
                  <a:srgbClr val="0F172A"/>
                </a:solidFill>
                <a:latin typeface="Calibri"/>
                <a:ea typeface="Calibri"/>
                <a:cs typeface="Calibri"/>
                <a:sym typeface="Calibri"/>
              </a:rPr>
              <a:t>1</a:t>
            </a:r>
            <a:endParaRPr sz="2000">
              <a:solidFill>
                <a:schemeClr val="dk1"/>
              </a:solidFill>
              <a:latin typeface="Calibri"/>
              <a:ea typeface="Calibri"/>
              <a:cs typeface="Calibri"/>
              <a:sym typeface="Calibri"/>
            </a:endParaRPr>
          </a:p>
        </p:txBody>
      </p:sp>
      <p:sp>
        <p:nvSpPr>
          <p:cNvPr id="152" name="Google Shape;152;p7"/>
          <p:cNvSpPr/>
          <p:nvPr/>
        </p:nvSpPr>
        <p:spPr>
          <a:xfrm>
            <a:off x="1508760" y="1600200"/>
            <a:ext cx="4114800" cy="68580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38BDF8"/>
              </a:buClr>
              <a:buSzPts val="1600"/>
              <a:buFont typeface="Calibri"/>
              <a:buNone/>
            </a:pPr>
            <a:r>
              <a:rPr b="1" lang="en-US" sz="1600">
                <a:solidFill>
                  <a:srgbClr val="38BDF8"/>
                </a:solidFill>
                <a:latin typeface="Calibri"/>
                <a:ea typeface="Calibri"/>
                <a:cs typeface="Calibri"/>
                <a:sym typeface="Calibri"/>
              </a:rPr>
              <a:t>Strict Source-Tiering &amp; Anti-Hallucination Prompts</a:t>
            </a:r>
            <a:endParaRPr sz="1250">
              <a:solidFill>
                <a:schemeClr val="dk1"/>
              </a:solidFill>
              <a:latin typeface="Calibri"/>
              <a:ea typeface="Calibri"/>
              <a:cs typeface="Calibri"/>
              <a:sym typeface="Calibri"/>
            </a:endParaRPr>
          </a:p>
        </p:txBody>
      </p:sp>
      <p:sp>
        <p:nvSpPr>
          <p:cNvPr id="153" name="Google Shape;153;p7"/>
          <p:cNvSpPr/>
          <p:nvPr/>
        </p:nvSpPr>
        <p:spPr>
          <a:xfrm>
            <a:off x="5806440" y="1600200"/>
            <a:ext cx="5650992" cy="68580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94A3B8"/>
              </a:buClr>
              <a:buSzPts val="1300"/>
              <a:buFont typeface="Calibri"/>
              <a:buNone/>
            </a:pPr>
            <a:r>
              <a:rPr lang="en-US" sz="1300">
                <a:solidFill>
                  <a:srgbClr val="94A3B8"/>
                </a:solidFill>
                <a:latin typeface="Calibri"/>
                <a:ea typeface="Calibri"/>
                <a:cs typeface="Calibri"/>
                <a:sym typeface="Calibri"/>
              </a:rPr>
              <a:t>Mandates Tier-1 OEM technical documentation over third-party distributor text. If an attribute is missing, prompts return null instead of guessing.</a:t>
            </a:r>
            <a:endParaRPr sz="1050">
              <a:solidFill>
                <a:schemeClr val="dk1"/>
              </a:solidFill>
              <a:latin typeface="Calibri"/>
              <a:ea typeface="Calibri"/>
              <a:cs typeface="Calibri"/>
              <a:sym typeface="Calibri"/>
            </a:endParaRPr>
          </a:p>
        </p:txBody>
      </p:sp>
      <p:sp>
        <p:nvSpPr>
          <p:cNvPr id="154" name="Google Shape;154;p7"/>
          <p:cNvSpPr/>
          <p:nvPr/>
        </p:nvSpPr>
        <p:spPr>
          <a:xfrm>
            <a:off x="548640" y="2468880"/>
            <a:ext cx="11091672" cy="868680"/>
          </a:xfrm>
          <a:prstGeom prst="roundRect">
            <a:avLst>
              <a:gd fmla="val 9474" name="adj"/>
            </a:avLst>
          </a:prstGeom>
          <a:solidFill>
            <a:srgbClr val="1E293B"/>
          </a:solidFill>
          <a:ln>
            <a:noFill/>
          </a:ln>
          <a:effectLst>
            <a:outerShdw blurRad="1016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5" name="Google Shape;155;p7"/>
          <p:cNvSpPr/>
          <p:nvPr/>
        </p:nvSpPr>
        <p:spPr>
          <a:xfrm>
            <a:off x="731520" y="2624328"/>
            <a:ext cx="548640" cy="548640"/>
          </a:xfrm>
          <a:prstGeom prst="ellipse">
            <a:avLst/>
          </a:prstGeom>
          <a:solidFill>
            <a:srgbClr val="34D3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6" name="Google Shape;156;p7"/>
          <p:cNvSpPr/>
          <p:nvPr/>
        </p:nvSpPr>
        <p:spPr>
          <a:xfrm>
            <a:off x="731520" y="2624328"/>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2200"/>
              <a:buFont typeface="Calibri"/>
              <a:buNone/>
            </a:pPr>
            <a:r>
              <a:rPr b="1" lang="en-US" sz="2200">
                <a:solidFill>
                  <a:srgbClr val="0F172A"/>
                </a:solidFill>
                <a:latin typeface="Calibri"/>
                <a:ea typeface="Calibri"/>
                <a:cs typeface="Calibri"/>
                <a:sym typeface="Calibri"/>
              </a:rPr>
              <a:t>2</a:t>
            </a:r>
            <a:endParaRPr sz="2000">
              <a:solidFill>
                <a:schemeClr val="dk1"/>
              </a:solidFill>
              <a:latin typeface="Calibri"/>
              <a:ea typeface="Calibri"/>
              <a:cs typeface="Calibri"/>
              <a:sym typeface="Calibri"/>
            </a:endParaRPr>
          </a:p>
        </p:txBody>
      </p:sp>
      <p:sp>
        <p:nvSpPr>
          <p:cNvPr id="157" name="Google Shape;157;p7"/>
          <p:cNvSpPr/>
          <p:nvPr/>
        </p:nvSpPr>
        <p:spPr>
          <a:xfrm>
            <a:off x="1508760" y="2560320"/>
            <a:ext cx="4114800" cy="68580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38BDF8"/>
              </a:buClr>
              <a:buSzPts val="1600"/>
              <a:buFont typeface="Calibri"/>
              <a:buNone/>
            </a:pPr>
            <a:r>
              <a:rPr b="1" lang="en-US" sz="1600">
                <a:solidFill>
                  <a:srgbClr val="38BDF8"/>
                </a:solidFill>
                <a:latin typeface="Calibri"/>
                <a:ea typeface="Calibri"/>
                <a:cs typeface="Calibri"/>
                <a:sym typeface="Calibri"/>
              </a:rPr>
              <a:t>Verifiable Evidence Provenance Anchors (FieldValue)</a:t>
            </a:r>
            <a:endParaRPr sz="1250">
              <a:solidFill>
                <a:schemeClr val="dk1"/>
              </a:solidFill>
              <a:latin typeface="Calibri"/>
              <a:ea typeface="Calibri"/>
              <a:cs typeface="Calibri"/>
              <a:sym typeface="Calibri"/>
            </a:endParaRPr>
          </a:p>
        </p:txBody>
      </p:sp>
      <p:sp>
        <p:nvSpPr>
          <p:cNvPr id="158" name="Google Shape;158;p7"/>
          <p:cNvSpPr/>
          <p:nvPr/>
        </p:nvSpPr>
        <p:spPr>
          <a:xfrm>
            <a:off x="5806440" y="2560320"/>
            <a:ext cx="5650992" cy="68580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94A3B8"/>
              </a:buClr>
              <a:buSzPts val="1300"/>
              <a:buFont typeface="Calibri"/>
              <a:buNone/>
            </a:pPr>
            <a:r>
              <a:rPr lang="en-US" sz="1300">
                <a:solidFill>
                  <a:srgbClr val="94A3B8"/>
                </a:solidFill>
                <a:latin typeface="Calibri"/>
                <a:ea typeface="Calibri"/>
                <a:cs typeface="Calibri"/>
                <a:sym typeface="Calibri"/>
              </a:rPr>
              <a:t>Every value carries 6 proof anchors: Raw Value, Standardized UOM, Source URL, PDF Page Number, Confidence Score (0.00–1.00), and Cropped PDF Text Snippet.</a:t>
            </a:r>
            <a:endParaRPr sz="1050">
              <a:solidFill>
                <a:schemeClr val="dk1"/>
              </a:solidFill>
              <a:latin typeface="Calibri"/>
              <a:ea typeface="Calibri"/>
              <a:cs typeface="Calibri"/>
              <a:sym typeface="Calibri"/>
            </a:endParaRPr>
          </a:p>
        </p:txBody>
      </p:sp>
      <p:sp>
        <p:nvSpPr>
          <p:cNvPr id="159" name="Google Shape;159;p7"/>
          <p:cNvSpPr/>
          <p:nvPr/>
        </p:nvSpPr>
        <p:spPr>
          <a:xfrm>
            <a:off x="548640" y="3429000"/>
            <a:ext cx="11091672" cy="868680"/>
          </a:xfrm>
          <a:prstGeom prst="roundRect">
            <a:avLst>
              <a:gd fmla="val 9474" name="adj"/>
            </a:avLst>
          </a:prstGeom>
          <a:solidFill>
            <a:srgbClr val="1E293B"/>
          </a:solidFill>
          <a:ln>
            <a:noFill/>
          </a:ln>
          <a:effectLst>
            <a:outerShdw blurRad="1016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0" name="Google Shape;160;p7"/>
          <p:cNvSpPr/>
          <p:nvPr/>
        </p:nvSpPr>
        <p:spPr>
          <a:xfrm>
            <a:off x="731520" y="3584448"/>
            <a:ext cx="548640" cy="548640"/>
          </a:xfrm>
          <a:prstGeom prst="ellipse">
            <a:avLst/>
          </a:prstGeom>
          <a:solidFill>
            <a:srgbClr val="34D3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1" name="Google Shape;161;p7"/>
          <p:cNvSpPr/>
          <p:nvPr/>
        </p:nvSpPr>
        <p:spPr>
          <a:xfrm>
            <a:off x="731520" y="3584448"/>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2200"/>
              <a:buFont typeface="Calibri"/>
              <a:buNone/>
            </a:pPr>
            <a:r>
              <a:rPr b="1" lang="en-US" sz="2200">
                <a:solidFill>
                  <a:srgbClr val="0F172A"/>
                </a:solidFill>
                <a:latin typeface="Calibri"/>
                <a:ea typeface="Calibri"/>
                <a:cs typeface="Calibri"/>
                <a:sym typeface="Calibri"/>
              </a:rPr>
              <a:t>3</a:t>
            </a:r>
            <a:endParaRPr sz="2000">
              <a:solidFill>
                <a:schemeClr val="dk1"/>
              </a:solidFill>
              <a:latin typeface="Calibri"/>
              <a:ea typeface="Calibri"/>
              <a:cs typeface="Calibri"/>
              <a:sym typeface="Calibri"/>
            </a:endParaRPr>
          </a:p>
        </p:txBody>
      </p:sp>
      <p:sp>
        <p:nvSpPr>
          <p:cNvPr id="162" name="Google Shape;162;p7"/>
          <p:cNvSpPr/>
          <p:nvPr/>
        </p:nvSpPr>
        <p:spPr>
          <a:xfrm>
            <a:off x="1508760" y="3520440"/>
            <a:ext cx="4114800" cy="68580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38BDF8"/>
              </a:buClr>
              <a:buSzPts val="1600"/>
              <a:buFont typeface="Calibri"/>
              <a:buNone/>
            </a:pPr>
            <a:r>
              <a:rPr b="1" lang="en-US" sz="1600">
                <a:solidFill>
                  <a:srgbClr val="38BDF8"/>
                </a:solidFill>
                <a:latin typeface="Calibri"/>
                <a:ea typeface="Calibri"/>
                <a:cs typeface="Calibri"/>
                <a:sym typeface="Calibri"/>
              </a:rPr>
              <a:t>Deterministic Semantic Validation (node_validate)</a:t>
            </a:r>
            <a:endParaRPr sz="1250">
              <a:solidFill>
                <a:schemeClr val="dk1"/>
              </a:solidFill>
              <a:latin typeface="Calibri"/>
              <a:ea typeface="Calibri"/>
              <a:cs typeface="Calibri"/>
              <a:sym typeface="Calibri"/>
            </a:endParaRPr>
          </a:p>
        </p:txBody>
      </p:sp>
      <p:sp>
        <p:nvSpPr>
          <p:cNvPr id="163" name="Google Shape;163;p7"/>
          <p:cNvSpPr/>
          <p:nvPr/>
        </p:nvSpPr>
        <p:spPr>
          <a:xfrm>
            <a:off x="5806440" y="3520440"/>
            <a:ext cx="5650992" cy="68580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94A3B8"/>
              </a:buClr>
              <a:buSzPts val="1300"/>
              <a:buFont typeface="Calibri"/>
              <a:buNone/>
            </a:pPr>
            <a:r>
              <a:rPr lang="en-US" sz="1300">
                <a:solidFill>
                  <a:srgbClr val="94A3B8"/>
                </a:solidFill>
                <a:latin typeface="Calibri"/>
                <a:ea typeface="Calibri"/>
                <a:cs typeface="Calibri"/>
                <a:sym typeface="Calibri"/>
              </a:rPr>
              <a:t>Runs _is_invalid_garbage checks, FIELD_SANITY physical range limits (e.g. current 0.1A–1600A), and _split_uom unit splitters.</a:t>
            </a:r>
            <a:endParaRPr sz="1050">
              <a:solidFill>
                <a:schemeClr val="dk1"/>
              </a:solidFill>
              <a:latin typeface="Calibri"/>
              <a:ea typeface="Calibri"/>
              <a:cs typeface="Calibri"/>
              <a:sym typeface="Calibri"/>
            </a:endParaRPr>
          </a:p>
        </p:txBody>
      </p:sp>
      <p:sp>
        <p:nvSpPr>
          <p:cNvPr id="164" name="Google Shape;164;p7"/>
          <p:cNvSpPr/>
          <p:nvPr/>
        </p:nvSpPr>
        <p:spPr>
          <a:xfrm>
            <a:off x="548640" y="4389120"/>
            <a:ext cx="11091672" cy="868680"/>
          </a:xfrm>
          <a:prstGeom prst="roundRect">
            <a:avLst>
              <a:gd fmla="val 9474" name="adj"/>
            </a:avLst>
          </a:prstGeom>
          <a:solidFill>
            <a:srgbClr val="1E293B"/>
          </a:solidFill>
          <a:ln>
            <a:noFill/>
          </a:ln>
          <a:effectLst>
            <a:outerShdw blurRad="1016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5" name="Google Shape;165;p7"/>
          <p:cNvSpPr/>
          <p:nvPr/>
        </p:nvSpPr>
        <p:spPr>
          <a:xfrm>
            <a:off x="731520" y="4544568"/>
            <a:ext cx="548640" cy="548640"/>
          </a:xfrm>
          <a:prstGeom prst="ellipse">
            <a:avLst/>
          </a:prstGeom>
          <a:solidFill>
            <a:srgbClr val="34D3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6" name="Google Shape;166;p7"/>
          <p:cNvSpPr/>
          <p:nvPr/>
        </p:nvSpPr>
        <p:spPr>
          <a:xfrm>
            <a:off x="731520" y="4544568"/>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2200"/>
              <a:buFont typeface="Calibri"/>
              <a:buNone/>
            </a:pPr>
            <a:r>
              <a:rPr b="1" lang="en-US" sz="2200">
                <a:solidFill>
                  <a:srgbClr val="0F172A"/>
                </a:solidFill>
                <a:latin typeface="Calibri"/>
                <a:ea typeface="Calibri"/>
                <a:cs typeface="Calibri"/>
                <a:sym typeface="Calibri"/>
              </a:rPr>
              <a:t>4</a:t>
            </a:r>
            <a:endParaRPr sz="2000">
              <a:solidFill>
                <a:schemeClr val="dk1"/>
              </a:solidFill>
              <a:latin typeface="Calibri"/>
              <a:ea typeface="Calibri"/>
              <a:cs typeface="Calibri"/>
              <a:sym typeface="Calibri"/>
            </a:endParaRPr>
          </a:p>
        </p:txBody>
      </p:sp>
      <p:sp>
        <p:nvSpPr>
          <p:cNvPr id="167" name="Google Shape;167;p7"/>
          <p:cNvSpPr/>
          <p:nvPr/>
        </p:nvSpPr>
        <p:spPr>
          <a:xfrm>
            <a:off x="1508760" y="4480560"/>
            <a:ext cx="4114800" cy="68580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38BDF8"/>
              </a:buClr>
              <a:buSzPts val="1600"/>
              <a:buFont typeface="Calibri"/>
              <a:buNone/>
            </a:pPr>
            <a:r>
              <a:rPr b="1" lang="en-US" sz="1600">
                <a:solidFill>
                  <a:srgbClr val="38BDF8"/>
                </a:solidFill>
                <a:latin typeface="Calibri"/>
                <a:ea typeface="Calibri"/>
                <a:cs typeface="Calibri"/>
                <a:sym typeface="Calibri"/>
              </a:rPr>
              <a:t>Transparent Confidence Rationale &amp; Multi-Stage Human Intervention</a:t>
            </a:r>
            <a:endParaRPr sz="1250">
              <a:solidFill>
                <a:schemeClr val="dk1"/>
              </a:solidFill>
              <a:latin typeface="Calibri"/>
              <a:ea typeface="Calibri"/>
              <a:cs typeface="Calibri"/>
              <a:sym typeface="Calibri"/>
            </a:endParaRPr>
          </a:p>
        </p:txBody>
      </p:sp>
      <p:sp>
        <p:nvSpPr>
          <p:cNvPr id="168" name="Google Shape;168;p7"/>
          <p:cNvSpPr/>
          <p:nvPr/>
        </p:nvSpPr>
        <p:spPr>
          <a:xfrm>
            <a:off x="5806440" y="4480560"/>
            <a:ext cx="5650992" cy="68580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94A3B8"/>
              </a:buClr>
              <a:buSzPts val="1300"/>
              <a:buFont typeface="Calibri"/>
              <a:buNone/>
            </a:pPr>
            <a:r>
              <a:rPr lang="en-US" sz="1300">
                <a:solidFill>
                  <a:srgbClr val="94A3B8"/>
                </a:solidFill>
                <a:latin typeface="Calibri"/>
                <a:ea typeface="Calibri"/>
                <a:cs typeface="Calibri"/>
                <a:sym typeface="Calibri"/>
              </a:rPr>
              <a:t>AI extractions start low in escrow. Human Verification at any stage boosts score to 100%.</a:t>
            </a:r>
            <a:endParaRPr sz="1050">
              <a:solidFill>
                <a:schemeClr val="dk1"/>
              </a:solidFill>
              <a:latin typeface="Calibri"/>
              <a:ea typeface="Calibri"/>
              <a:cs typeface="Calibri"/>
              <a:sym typeface="Calibri"/>
            </a:endParaRPr>
          </a:p>
        </p:txBody>
      </p:sp>
      <p:sp>
        <p:nvSpPr>
          <p:cNvPr id="169" name="Google Shape;169;p7"/>
          <p:cNvSpPr/>
          <p:nvPr/>
        </p:nvSpPr>
        <p:spPr>
          <a:xfrm>
            <a:off x="548640" y="5349240"/>
            <a:ext cx="11091672" cy="868680"/>
          </a:xfrm>
          <a:prstGeom prst="roundRect">
            <a:avLst>
              <a:gd fmla="val 9474" name="adj"/>
            </a:avLst>
          </a:prstGeom>
          <a:solidFill>
            <a:srgbClr val="1E293B"/>
          </a:solidFill>
          <a:ln>
            <a:noFill/>
          </a:ln>
          <a:effectLst>
            <a:outerShdw blurRad="1016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0" name="Google Shape;170;p7"/>
          <p:cNvSpPr/>
          <p:nvPr/>
        </p:nvSpPr>
        <p:spPr>
          <a:xfrm>
            <a:off x="731520" y="5504688"/>
            <a:ext cx="548640" cy="548640"/>
          </a:xfrm>
          <a:prstGeom prst="ellipse">
            <a:avLst/>
          </a:prstGeom>
          <a:solidFill>
            <a:srgbClr val="34D3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1" name="Google Shape;171;p7"/>
          <p:cNvSpPr/>
          <p:nvPr/>
        </p:nvSpPr>
        <p:spPr>
          <a:xfrm>
            <a:off x="731520" y="5504688"/>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2200"/>
              <a:buFont typeface="Calibri"/>
              <a:buNone/>
            </a:pPr>
            <a:r>
              <a:rPr b="1" lang="en-US" sz="2200">
                <a:solidFill>
                  <a:srgbClr val="0F172A"/>
                </a:solidFill>
                <a:latin typeface="Calibri"/>
                <a:ea typeface="Calibri"/>
                <a:cs typeface="Calibri"/>
                <a:sym typeface="Calibri"/>
              </a:rPr>
              <a:t>5</a:t>
            </a:r>
            <a:endParaRPr sz="2000">
              <a:solidFill>
                <a:schemeClr val="dk1"/>
              </a:solidFill>
              <a:latin typeface="Calibri"/>
              <a:ea typeface="Calibri"/>
              <a:cs typeface="Calibri"/>
              <a:sym typeface="Calibri"/>
            </a:endParaRPr>
          </a:p>
        </p:txBody>
      </p:sp>
      <p:sp>
        <p:nvSpPr>
          <p:cNvPr id="172" name="Google Shape;172;p7"/>
          <p:cNvSpPr/>
          <p:nvPr/>
        </p:nvSpPr>
        <p:spPr>
          <a:xfrm>
            <a:off x="1508760" y="5440680"/>
            <a:ext cx="4114800" cy="68580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38BDF8"/>
              </a:buClr>
              <a:buSzPts val="1600"/>
              <a:buFont typeface="Calibri"/>
              <a:buNone/>
            </a:pPr>
            <a:r>
              <a:rPr b="1" lang="en-US" sz="1600">
                <a:solidFill>
                  <a:srgbClr val="38BDF8"/>
                </a:solidFill>
                <a:latin typeface="Calibri"/>
                <a:ea typeface="Calibri"/>
                <a:cs typeface="Calibri"/>
                <a:sym typeface="Calibri"/>
              </a:rPr>
              <a:t>5-Stage Human Intervention Escrow Gates</a:t>
            </a:r>
            <a:endParaRPr sz="1250">
              <a:solidFill>
                <a:schemeClr val="dk1"/>
              </a:solidFill>
              <a:latin typeface="Calibri"/>
              <a:ea typeface="Calibri"/>
              <a:cs typeface="Calibri"/>
              <a:sym typeface="Calibri"/>
            </a:endParaRPr>
          </a:p>
        </p:txBody>
      </p:sp>
      <p:sp>
        <p:nvSpPr>
          <p:cNvPr id="173" name="Google Shape;173;p7"/>
          <p:cNvSpPr/>
          <p:nvPr/>
        </p:nvSpPr>
        <p:spPr>
          <a:xfrm>
            <a:off x="5806440" y="5440680"/>
            <a:ext cx="5650992" cy="68580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94A3B8"/>
              </a:buClr>
              <a:buSzPts val="1300"/>
              <a:buFont typeface="Calibri"/>
              <a:buNone/>
            </a:pPr>
            <a:r>
              <a:rPr lang="en-US" sz="1300">
                <a:solidFill>
                  <a:srgbClr val="94A3B8"/>
                </a:solidFill>
                <a:latin typeface="Calibri"/>
                <a:ea typeface="Calibri"/>
                <a:cs typeface="Calibri"/>
                <a:sym typeface="Calibri"/>
              </a:rPr>
              <a:t>Catalog managers can override data at Identity, Sourcing, Attributes, Copywriting, and Final Delivery stages.</a:t>
            </a:r>
            <a:endParaRPr sz="1050">
              <a:solidFill>
                <a:schemeClr val="dk1"/>
              </a:solidFill>
              <a:latin typeface="Calibri"/>
              <a:ea typeface="Calibri"/>
              <a:cs typeface="Calibri"/>
              <a:sym typeface="Calibri"/>
            </a:endParaRPr>
          </a:p>
        </p:txBody>
      </p:sp>
      <p:sp>
        <p:nvSpPr>
          <p:cNvPr id="174" name="Google Shape;174;p7"/>
          <p:cNvSpPr/>
          <p:nvPr/>
        </p:nvSpPr>
        <p:spPr>
          <a:xfrm>
            <a:off x="45720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172A"/>
              </a:buClr>
              <a:buSzPts val="1300"/>
              <a:buFont typeface="Calibri"/>
              <a:buNone/>
            </a:pPr>
            <a:r>
              <a:rPr lang="en-US" sz="1300">
                <a:solidFill>
                  <a:srgbClr val="0F172A"/>
                </a:solidFill>
                <a:latin typeface="Calibri"/>
                <a:ea typeface="Calibri"/>
                <a:cs typeface="Calibri"/>
                <a:sym typeface="Calibri"/>
              </a:rPr>
              <a:t>05 / 15   •   Accuracy &amp; Trust</a:t>
            </a:r>
            <a:endParaRPr sz="9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79" name="Shape 179"/>
        <p:cNvGrpSpPr/>
        <p:nvPr/>
      </p:nvGrpSpPr>
      <p:grpSpPr>
        <a:xfrm>
          <a:off x="0" y="0"/>
          <a:ext cx="0" cy="0"/>
          <a:chOff x="0" y="0"/>
          <a:chExt cx="0" cy="0"/>
        </a:xfrm>
      </p:grpSpPr>
      <p:pic>
        <p:nvPicPr>
          <p:cNvPr descr="image.png" id="180" name="Google Shape;180;p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81" name="Google Shape;181;p8"/>
          <p:cNvSpPr/>
          <p:nvPr/>
        </p:nvSpPr>
        <p:spPr>
          <a:xfrm>
            <a:off x="548640" y="347472"/>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172A"/>
              </a:buClr>
              <a:buSzPts val="1300"/>
              <a:buFont typeface="Calibri"/>
              <a:buNone/>
            </a:pPr>
            <a:r>
              <a:rPr b="1" lang="en-US" sz="1300">
                <a:solidFill>
                  <a:srgbClr val="0F172A"/>
                </a:solidFill>
                <a:latin typeface="Calibri"/>
                <a:ea typeface="Calibri"/>
                <a:cs typeface="Calibri"/>
                <a:sym typeface="Calibri"/>
              </a:rPr>
              <a:t>CORE QUESTION 3</a:t>
            </a:r>
            <a:endParaRPr sz="1100">
              <a:solidFill>
                <a:schemeClr val="dk1"/>
              </a:solidFill>
              <a:latin typeface="Calibri"/>
              <a:ea typeface="Calibri"/>
              <a:cs typeface="Calibri"/>
              <a:sym typeface="Calibri"/>
            </a:endParaRPr>
          </a:p>
        </p:txBody>
      </p:sp>
      <p:sp>
        <p:nvSpPr>
          <p:cNvPr id="182" name="Google Shape;182;p8"/>
          <p:cNvSpPr/>
          <p:nvPr/>
        </p:nvSpPr>
        <p:spPr>
          <a:xfrm>
            <a:off x="548640" y="603504"/>
            <a:ext cx="11064240" cy="86868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0F172A"/>
              </a:buClr>
              <a:buSzPts val="3200"/>
              <a:buFont typeface="Calibri"/>
              <a:buNone/>
            </a:pPr>
            <a:r>
              <a:rPr b="1" lang="en-US" sz="3200">
                <a:solidFill>
                  <a:srgbClr val="0F172A"/>
                </a:solidFill>
                <a:latin typeface="Calibri"/>
                <a:ea typeface="Calibri"/>
                <a:cs typeface="Calibri"/>
                <a:sym typeface="Calibri"/>
              </a:rPr>
              <a:t>What makes your solution scalable for enterprise catalogs?</a:t>
            </a:r>
            <a:endParaRPr sz="2400">
              <a:solidFill>
                <a:schemeClr val="dk1"/>
              </a:solidFill>
              <a:latin typeface="Calibri"/>
              <a:ea typeface="Calibri"/>
              <a:cs typeface="Calibri"/>
              <a:sym typeface="Calibri"/>
            </a:endParaRPr>
          </a:p>
        </p:txBody>
      </p:sp>
      <p:sp>
        <p:nvSpPr>
          <p:cNvPr id="183" name="Google Shape;183;p8"/>
          <p:cNvSpPr/>
          <p:nvPr/>
        </p:nvSpPr>
        <p:spPr>
          <a:xfrm>
            <a:off x="548640" y="1691640"/>
            <a:ext cx="5468112" cy="2240280"/>
          </a:xfrm>
          <a:prstGeom prst="roundRect">
            <a:avLst>
              <a:gd fmla="val 3673" name="adj"/>
            </a:avLst>
          </a:prstGeom>
          <a:solidFill>
            <a:srgbClr val="1E293B"/>
          </a:solidFill>
          <a:ln>
            <a:noFill/>
          </a:ln>
          <a:effectLst>
            <a:outerShdw blurRad="1016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 name="Google Shape;184;p8"/>
          <p:cNvSpPr/>
          <p:nvPr/>
        </p:nvSpPr>
        <p:spPr>
          <a:xfrm>
            <a:off x="777240" y="1892808"/>
            <a:ext cx="438912" cy="438912"/>
          </a:xfrm>
          <a:prstGeom prst="ellipse">
            <a:avLst/>
          </a:prstGeom>
          <a:solidFill>
            <a:srgbClr val="38BDF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 name="Google Shape;185;p8"/>
          <p:cNvSpPr/>
          <p:nvPr/>
        </p:nvSpPr>
        <p:spPr>
          <a:xfrm>
            <a:off x="777240" y="1892808"/>
            <a:ext cx="438912"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2200"/>
              <a:buFont typeface="Calibri"/>
              <a:buNone/>
            </a:pPr>
            <a:r>
              <a:rPr b="1" lang="en-US" sz="2200">
                <a:solidFill>
                  <a:srgbClr val="0F172A"/>
                </a:solidFill>
                <a:latin typeface="Calibri"/>
                <a:ea typeface="Calibri"/>
                <a:cs typeface="Calibri"/>
                <a:sym typeface="Calibri"/>
              </a:rPr>
              <a:t>1</a:t>
            </a:r>
            <a:endParaRPr sz="1600">
              <a:solidFill>
                <a:schemeClr val="dk1"/>
              </a:solidFill>
              <a:latin typeface="Calibri"/>
              <a:ea typeface="Calibri"/>
              <a:cs typeface="Calibri"/>
              <a:sym typeface="Calibri"/>
            </a:endParaRPr>
          </a:p>
        </p:txBody>
      </p:sp>
      <p:sp>
        <p:nvSpPr>
          <p:cNvPr id="186" name="Google Shape;186;p8"/>
          <p:cNvSpPr/>
          <p:nvPr/>
        </p:nvSpPr>
        <p:spPr>
          <a:xfrm>
            <a:off x="1371600" y="1856232"/>
            <a:ext cx="4416552" cy="59436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8FAFC"/>
              </a:buClr>
              <a:buSzPts val="1600"/>
              <a:buFont typeface="Calibri"/>
              <a:buNone/>
            </a:pPr>
            <a:r>
              <a:rPr b="1" lang="en-US" sz="1600">
                <a:solidFill>
                  <a:srgbClr val="F8FAFC"/>
                </a:solidFill>
                <a:latin typeface="Calibri"/>
                <a:ea typeface="Calibri"/>
                <a:cs typeface="Calibri"/>
                <a:sym typeface="Calibri"/>
              </a:rPr>
              <a:t>Multi-Thousand SKU Processing</a:t>
            </a:r>
            <a:endParaRPr sz="1350">
              <a:solidFill>
                <a:schemeClr val="dk1"/>
              </a:solidFill>
              <a:latin typeface="Calibri"/>
              <a:ea typeface="Calibri"/>
              <a:cs typeface="Calibri"/>
              <a:sym typeface="Calibri"/>
            </a:endParaRPr>
          </a:p>
        </p:txBody>
      </p:sp>
      <p:sp>
        <p:nvSpPr>
          <p:cNvPr id="187" name="Google Shape;187;p8"/>
          <p:cNvSpPr/>
          <p:nvPr/>
        </p:nvSpPr>
        <p:spPr>
          <a:xfrm>
            <a:off x="804672" y="2560320"/>
            <a:ext cx="4956048"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94A3B8"/>
              </a:buClr>
              <a:buSzPts val="1300"/>
              <a:buFont typeface="Calibri"/>
              <a:buNone/>
            </a:pPr>
            <a:r>
              <a:rPr lang="en-US" sz="1300">
                <a:solidFill>
                  <a:srgbClr val="94A3B8"/>
                </a:solidFill>
                <a:latin typeface="Calibri"/>
                <a:ea typeface="Calibri"/>
                <a:cs typeface="Calibri"/>
                <a:sym typeface="Calibri"/>
              </a:rPr>
              <a:t>Powered by FastAPI async execution loops and SQLite job_store.db state serialization. Multi-thousand SKU files stream real-time updates without memory leaks.</a:t>
            </a:r>
            <a:endParaRPr sz="1100">
              <a:solidFill>
                <a:schemeClr val="dk1"/>
              </a:solidFill>
              <a:latin typeface="Calibri"/>
              <a:ea typeface="Calibri"/>
              <a:cs typeface="Calibri"/>
              <a:sym typeface="Calibri"/>
            </a:endParaRPr>
          </a:p>
        </p:txBody>
      </p:sp>
      <p:sp>
        <p:nvSpPr>
          <p:cNvPr id="188" name="Google Shape;188;p8"/>
          <p:cNvSpPr/>
          <p:nvPr/>
        </p:nvSpPr>
        <p:spPr>
          <a:xfrm>
            <a:off x="6181344" y="1691640"/>
            <a:ext cx="5468112" cy="2240280"/>
          </a:xfrm>
          <a:prstGeom prst="roundRect">
            <a:avLst>
              <a:gd fmla="val 3673" name="adj"/>
            </a:avLst>
          </a:prstGeom>
          <a:solidFill>
            <a:srgbClr val="1E293B"/>
          </a:solidFill>
          <a:ln>
            <a:noFill/>
          </a:ln>
          <a:effectLst>
            <a:outerShdw blurRad="1016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 name="Google Shape;189;p8"/>
          <p:cNvSpPr/>
          <p:nvPr/>
        </p:nvSpPr>
        <p:spPr>
          <a:xfrm>
            <a:off x="6409944" y="1892808"/>
            <a:ext cx="438912" cy="438912"/>
          </a:xfrm>
          <a:prstGeom prst="ellipse">
            <a:avLst/>
          </a:prstGeom>
          <a:solidFill>
            <a:srgbClr val="38BDF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 name="Google Shape;190;p8"/>
          <p:cNvSpPr/>
          <p:nvPr/>
        </p:nvSpPr>
        <p:spPr>
          <a:xfrm>
            <a:off x="6409944" y="1892808"/>
            <a:ext cx="438912"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2200"/>
              <a:buFont typeface="Calibri"/>
              <a:buNone/>
            </a:pPr>
            <a:r>
              <a:rPr b="1" lang="en-US" sz="2200">
                <a:solidFill>
                  <a:srgbClr val="0F172A"/>
                </a:solidFill>
                <a:latin typeface="Calibri"/>
                <a:ea typeface="Calibri"/>
                <a:cs typeface="Calibri"/>
                <a:sym typeface="Calibri"/>
              </a:rPr>
              <a:t>2</a:t>
            </a:r>
            <a:endParaRPr sz="1600">
              <a:solidFill>
                <a:schemeClr val="dk1"/>
              </a:solidFill>
              <a:latin typeface="Calibri"/>
              <a:ea typeface="Calibri"/>
              <a:cs typeface="Calibri"/>
              <a:sym typeface="Calibri"/>
            </a:endParaRPr>
          </a:p>
        </p:txBody>
      </p:sp>
      <p:sp>
        <p:nvSpPr>
          <p:cNvPr id="191" name="Google Shape;191;p8"/>
          <p:cNvSpPr/>
          <p:nvPr/>
        </p:nvSpPr>
        <p:spPr>
          <a:xfrm>
            <a:off x="7004304" y="1856232"/>
            <a:ext cx="4416552" cy="59436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8FAFC"/>
              </a:buClr>
              <a:buSzPts val="1600"/>
              <a:buFont typeface="Calibri"/>
              <a:buNone/>
            </a:pPr>
            <a:r>
              <a:rPr b="1" lang="en-US" sz="1600">
                <a:solidFill>
                  <a:srgbClr val="F8FAFC"/>
                </a:solidFill>
                <a:latin typeface="Calibri"/>
                <a:ea typeface="Calibri"/>
                <a:cs typeface="Calibri"/>
                <a:sym typeface="Calibri"/>
              </a:rPr>
              <a:t>Flexible New Manufacturer &amp; Document Engine</a:t>
            </a:r>
            <a:endParaRPr sz="1350">
              <a:solidFill>
                <a:schemeClr val="dk1"/>
              </a:solidFill>
              <a:latin typeface="Calibri"/>
              <a:ea typeface="Calibri"/>
              <a:cs typeface="Calibri"/>
              <a:sym typeface="Calibri"/>
            </a:endParaRPr>
          </a:p>
        </p:txBody>
      </p:sp>
      <p:sp>
        <p:nvSpPr>
          <p:cNvPr id="192" name="Google Shape;192;p8"/>
          <p:cNvSpPr/>
          <p:nvPr/>
        </p:nvSpPr>
        <p:spPr>
          <a:xfrm>
            <a:off x="6437376" y="2560320"/>
            <a:ext cx="4956048" cy="123444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300">
                <a:solidFill>
                  <a:srgbClr val="94A3B8"/>
                </a:solidFill>
                <a:latin typeface="Calibri"/>
                <a:ea typeface="Calibri"/>
                <a:cs typeface="Calibri"/>
                <a:sym typeface="Calibri"/>
              </a:rPr>
              <a:t>Generic multi-format parsers (PyMuPDF fitz, trafilatura, pdfplumber) and guess_mfr_domain LLM fallback resolve new manufacturer domains automatically and already  seen manufacture domains  are stored in database or cache  for fast lookup save llm call .</a:t>
            </a:r>
            <a:endParaRPr sz="1300">
              <a:solidFill>
                <a:srgbClr val="94A3B8"/>
              </a:solidFill>
              <a:latin typeface="Calibri"/>
              <a:ea typeface="Calibri"/>
              <a:cs typeface="Calibri"/>
              <a:sym typeface="Calibri"/>
            </a:endParaRPr>
          </a:p>
          <a:p>
            <a:pPr indent="0" lvl="0" marL="0" marR="0" rtl="0" algn="l">
              <a:lnSpc>
                <a:spcPct val="115000"/>
              </a:lnSpc>
              <a:spcBef>
                <a:spcPts val="0"/>
              </a:spcBef>
              <a:spcAft>
                <a:spcPts val="0"/>
              </a:spcAft>
              <a:buClr>
                <a:srgbClr val="94A3B8"/>
              </a:buClr>
              <a:buSzPts val="1300"/>
              <a:buFont typeface="Calibri"/>
              <a:buNone/>
            </a:pPr>
            <a:r>
              <a:t/>
            </a:r>
            <a:endParaRPr sz="1300">
              <a:solidFill>
                <a:srgbClr val="94A3B8"/>
              </a:solidFill>
              <a:latin typeface="Calibri"/>
              <a:ea typeface="Calibri"/>
              <a:cs typeface="Calibri"/>
              <a:sym typeface="Calibri"/>
            </a:endParaRPr>
          </a:p>
        </p:txBody>
      </p:sp>
      <p:sp>
        <p:nvSpPr>
          <p:cNvPr id="193" name="Google Shape;193;p8"/>
          <p:cNvSpPr/>
          <p:nvPr/>
        </p:nvSpPr>
        <p:spPr>
          <a:xfrm>
            <a:off x="548640" y="4096512"/>
            <a:ext cx="5468112" cy="2240280"/>
          </a:xfrm>
          <a:prstGeom prst="roundRect">
            <a:avLst>
              <a:gd fmla="val 3673" name="adj"/>
            </a:avLst>
          </a:prstGeom>
          <a:solidFill>
            <a:srgbClr val="16213A"/>
          </a:solidFill>
          <a:ln>
            <a:noFill/>
          </a:ln>
          <a:effectLst>
            <a:outerShdw blurRad="1016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 name="Google Shape;194;p8"/>
          <p:cNvSpPr/>
          <p:nvPr/>
        </p:nvSpPr>
        <p:spPr>
          <a:xfrm>
            <a:off x="777240" y="4297680"/>
            <a:ext cx="438912" cy="438912"/>
          </a:xfrm>
          <a:prstGeom prst="ellipse">
            <a:avLst/>
          </a:prstGeom>
          <a:solidFill>
            <a:srgbClr val="38BDF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 name="Google Shape;195;p8"/>
          <p:cNvSpPr/>
          <p:nvPr/>
        </p:nvSpPr>
        <p:spPr>
          <a:xfrm>
            <a:off x="777240" y="4297680"/>
            <a:ext cx="438912"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2200"/>
              <a:buFont typeface="Calibri"/>
              <a:buNone/>
            </a:pPr>
            <a:r>
              <a:rPr b="1" lang="en-US" sz="2200">
                <a:solidFill>
                  <a:srgbClr val="0F172A"/>
                </a:solidFill>
                <a:latin typeface="Calibri"/>
                <a:ea typeface="Calibri"/>
                <a:cs typeface="Calibri"/>
                <a:sym typeface="Calibri"/>
              </a:rPr>
              <a:t>3</a:t>
            </a:r>
            <a:endParaRPr sz="1600">
              <a:solidFill>
                <a:schemeClr val="dk1"/>
              </a:solidFill>
              <a:latin typeface="Calibri"/>
              <a:ea typeface="Calibri"/>
              <a:cs typeface="Calibri"/>
              <a:sym typeface="Calibri"/>
            </a:endParaRPr>
          </a:p>
        </p:txBody>
      </p:sp>
      <p:sp>
        <p:nvSpPr>
          <p:cNvPr id="196" name="Google Shape;196;p8"/>
          <p:cNvSpPr/>
          <p:nvPr/>
        </p:nvSpPr>
        <p:spPr>
          <a:xfrm>
            <a:off x="1371600" y="4261104"/>
            <a:ext cx="4416552" cy="59436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8FAFC"/>
              </a:buClr>
              <a:buSzPts val="1600"/>
              <a:buFont typeface="Calibri"/>
              <a:buNone/>
            </a:pPr>
            <a:r>
              <a:rPr b="1" lang="en-US" sz="1600">
                <a:solidFill>
                  <a:srgbClr val="F8FAFC"/>
                </a:solidFill>
                <a:latin typeface="Calibri"/>
                <a:ea typeface="Calibri"/>
                <a:cs typeface="Calibri"/>
                <a:sym typeface="Calibri"/>
              </a:rPr>
              <a:t>SHA-256 Vector Store Deduplication &amp; Knowledge Graph</a:t>
            </a:r>
            <a:endParaRPr sz="1350">
              <a:solidFill>
                <a:schemeClr val="dk1"/>
              </a:solidFill>
              <a:latin typeface="Calibri"/>
              <a:ea typeface="Calibri"/>
              <a:cs typeface="Calibri"/>
              <a:sym typeface="Calibri"/>
            </a:endParaRPr>
          </a:p>
        </p:txBody>
      </p:sp>
      <p:sp>
        <p:nvSpPr>
          <p:cNvPr id="197" name="Google Shape;197;p8"/>
          <p:cNvSpPr/>
          <p:nvPr/>
        </p:nvSpPr>
        <p:spPr>
          <a:xfrm>
            <a:off x="804672" y="4965192"/>
            <a:ext cx="4956048" cy="123444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300">
                <a:solidFill>
                  <a:srgbClr val="94A3B8"/>
                </a:solidFill>
                <a:latin typeface="Calibri"/>
                <a:ea typeface="Calibri"/>
                <a:cs typeface="Calibri"/>
                <a:sym typeface="Calibri"/>
              </a:rPr>
              <a:t>Generic multi-format parsers (PyMuPDF fitz, trafilatura, pdfplumber) and guess_mfr_domain LLM fallback resolve new manufacturer domains automatically and already  seen manufacture domains  are stored in database or cache  for fast lookup save llm call .</a:t>
            </a:r>
            <a:endParaRPr sz="1300">
              <a:solidFill>
                <a:srgbClr val="94A3B8"/>
              </a:solidFill>
              <a:latin typeface="Calibri"/>
              <a:ea typeface="Calibri"/>
              <a:cs typeface="Calibri"/>
              <a:sym typeface="Calibri"/>
            </a:endParaRPr>
          </a:p>
          <a:p>
            <a:pPr indent="0" lvl="0" marL="0" marR="0" rtl="0" algn="l">
              <a:lnSpc>
                <a:spcPct val="115000"/>
              </a:lnSpc>
              <a:spcBef>
                <a:spcPts val="0"/>
              </a:spcBef>
              <a:spcAft>
                <a:spcPts val="0"/>
              </a:spcAft>
              <a:buClr>
                <a:srgbClr val="94A3B8"/>
              </a:buClr>
              <a:buSzPts val="1300"/>
              <a:buFont typeface="Calibri"/>
              <a:buNone/>
            </a:pPr>
            <a:r>
              <a:t/>
            </a:r>
            <a:endParaRPr sz="1300">
              <a:solidFill>
                <a:srgbClr val="94A3B8"/>
              </a:solidFill>
              <a:latin typeface="Calibri"/>
              <a:ea typeface="Calibri"/>
              <a:cs typeface="Calibri"/>
              <a:sym typeface="Calibri"/>
            </a:endParaRPr>
          </a:p>
        </p:txBody>
      </p:sp>
      <p:sp>
        <p:nvSpPr>
          <p:cNvPr id="198" name="Google Shape;198;p8"/>
          <p:cNvSpPr/>
          <p:nvPr/>
        </p:nvSpPr>
        <p:spPr>
          <a:xfrm>
            <a:off x="6181344" y="4096512"/>
            <a:ext cx="5468112" cy="2240280"/>
          </a:xfrm>
          <a:prstGeom prst="roundRect">
            <a:avLst>
              <a:gd fmla="val 3673" name="adj"/>
            </a:avLst>
          </a:prstGeom>
          <a:solidFill>
            <a:srgbClr val="16213A"/>
          </a:solidFill>
          <a:ln>
            <a:noFill/>
          </a:ln>
          <a:effectLst>
            <a:outerShdw blurRad="1016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9" name="Google Shape;199;p8"/>
          <p:cNvSpPr/>
          <p:nvPr/>
        </p:nvSpPr>
        <p:spPr>
          <a:xfrm>
            <a:off x="6409944" y="4297680"/>
            <a:ext cx="438912" cy="438912"/>
          </a:xfrm>
          <a:prstGeom prst="ellipse">
            <a:avLst/>
          </a:prstGeom>
          <a:solidFill>
            <a:srgbClr val="38BDF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0" name="Google Shape;200;p8"/>
          <p:cNvSpPr/>
          <p:nvPr/>
        </p:nvSpPr>
        <p:spPr>
          <a:xfrm>
            <a:off x="6409944" y="4297680"/>
            <a:ext cx="438912"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2200"/>
              <a:buFont typeface="Calibri"/>
              <a:buNone/>
            </a:pPr>
            <a:r>
              <a:rPr b="1" lang="en-US" sz="2200">
                <a:solidFill>
                  <a:srgbClr val="0F172A"/>
                </a:solidFill>
                <a:latin typeface="Calibri"/>
                <a:ea typeface="Calibri"/>
                <a:cs typeface="Calibri"/>
                <a:sym typeface="Calibri"/>
              </a:rPr>
              <a:t>4</a:t>
            </a:r>
            <a:endParaRPr sz="1600">
              <a:solidFill>
                <a:schemeClr val="dk1"/>
              </a:solidFill>
              <a:latin typeface="Calibri"/>
              <a:ea typeface="Calibri"/>
              <a:cs typeface="Calibri"/>
              <a:sym typeface="Calibri"/>
            </a:endParaRPr>
          </a:p>
        </p:txBody>
      </p:sp>
      <p:sp>
        <p:nvSpPr>
          <p:cNvPr id="201" name="Google Shape;201;p8"/>
          <p:cNvSpPr/>
          <p:nvPr/>
        </p:nvSpPr>
        <p:spPr>
          <a:xfrm>
            <a:off x="7004304" y="4261104"/>
            <a:ext cx="4416552" cy="59436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8FAFC"/>
              </a:buClr>
              <a:buSzPts val="1600"/>
              <a:buFont typeface="Calibri"/>
              <a:buNone/>
            </a:pPr>
            <a:r>
              <a:rPr b="1" lang="en-US" sz="1600">
                <a:solidFill>
                  <a:srgbClr val="F8FAFC"/>
                </a:solidFill>
                <a:latin typeface="Calibri"/>
                <a:ea typeface="Calibri"/>
                <a:cs typeface="Calibri"/>
                <a:sym typeface="Calibri"/>
              </a:rPr>
              <a:t>$0.00 Air-Gapped Local Model Cost Architecture</a:t>
            </a:r>
            <a:endParaRPr sz="1350">
              <a:solidFill>
                <a:schemeClr val="dk1"/>
              </a:solidFill>
              <a:latin typeface="Calibri"/>
              <a:ea typeface="Calibri"/>
              <a:cs typeface="Calibri"/>
              <a:sym typeface="Calibri"/>
            </a:endParaRPr>
          </a:p>
        </p:txBody>
      </p:sp>
      <p:sp>
        <p:nvSpPr>
          <p:cNvPr id="202" name="Google Shape;202;p8"/>
          <p:cNvSpPr/>
          <p:nvPr/>
        </p:nvSpPr>
        <p:spPr>
          <a:xfrm>
            <a:off x="6437376" y="4965192"/>
            <a:ext cx="4956048" cy="123444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300">
                <a:solidFill>
                  <a:srgbClr val="94A3B8"/>
                </a:solidFill>
                <a:latin typeface="Calibri"/>
                <a:ea typeface="Calibri"/>
                <a:cs typeface="Calibri"/>
                <a:sym typeface="Calibri"/>
              </a:rPr>
              <a:t>Generic multi-format parsers (PyMuPDF fitz, trafilatura, pdfplumber) and guess_mfr_domain LLM fallback resolve new manufacturer domains automatically and already  seen manufacture domains  are stored in database or cache  for fast lookup save llm call .</a:t>
            </a:r>
            <a:endParaRPr sz="1300">
              <a:solidFill>
                <a:srgbClr val="94A3B8"/>
              </a:solidFill>
              <a:latin typeface="Calibri"/>
              <a:ea typeface="Calibri"/>
              <a:cs typeface="Calibri"/>
              <a:sym typeface="Calibri"/>
            </a:endParaRPr>
          </a:p>
          <a:p>
            <a:pPr indent="0" lvl="0" marL="0" marR="0" rtl="0" algn="l">
              <a:lnSpc>
                <a:spcPct val="115000"/>
              </a:lnSpc>
              <a:spcBef>
                <a:spcPts val="0"/>
              </a:spcBef>
              <a:spcAft>
                <a:spcPts val="0"/>
              </a:spcAft>
              <a:buClr>
                <a:srgbClr val="94A3B8"/>
              </a:buClr>
              <a:buSzPts val="1300"/>
              <a:buFont typeface="Calibri"/>
              <a:buNone/>
            </a:pPr>
            <a:r>
              <a:t/>
            </a:r>
            <a:endParaRPr sz="1300">
              <a:solidFill>
                <a:srgbClr val="94A3B8"/>
              </a:solidFill>
              <a:latin typeface="Calibri"/>
              <a:ea typeface="Calibri"/>
              <a:cs typeface="Calibri"/>
              <a:sym typeface="Calibri"/>
            </a:endParaRPr>
          </a:p>
        </p:txBody>
      </p:sp>
      <p:sp>
        <p:nvSpPr>
          <p:cNvPr id="203" name="Google Shape;203;p8"/>
          <p:cNvSpPr/>
          <p:nvPr/>
        </p:nvSpPr>
        <p:spPr>
          <a:xfrm>
            <a:off x="45720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172A"/>
              </a:buClr>
              <a:buSzPts val="1300"/>
              <a:buFont typeface="Calibri"/>
              <a:buNone/>
            </a:pPr>
            <a:r>
              <a:rPr lang="en-US" sz="1300">
                <a:solidFill>
                  <a:srgbClr val="0F172A"/>
                </a:solidFill>
                <a:latin typeface="Calibri"/>
                <a:ea typeface="Calibri"/>
                <a:cs typeface="Calibri"/>
                <a:sym typeface="Calibri"/>
              </a:rPr>
              <a:t>06 / 15   •   Scalability &amp; Performance</a:t>
            </a:r>
            <a:endParaRPr sz="9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08" name="Shape 208"/>
        <p:cNvGrpSpPr/>
        <p:nvPr/>
      </p:nvGrpSpPr>
      <p:grpSpPr>
        <a:xfrm>
          <a:off x="0" y="0"/>
          <a:ext cx="0" cy="0"/>
          <a:chOff x="0" y="0"/>
          <a:chExt cx="0" cy="0"/>
        </a:xfrm>
      </p:grpSpPr>
      <p:pic>
        <p:nvPicPr>
          <p:cNvPr descr="image.png" id="209" name="Google Shape;209;p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10" name="Google Shape;210;p9"/>
          <p:cNvSpPr/>
          <p:nvPr/>
        </p:nvSpPr>
        <p:spPr>
          <a:xfrm>
            <a:off x="548640" y="347472"/>
            <a:ext cx="10972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172A"/>
              </a:buClr>
              <a:buSzPts val="1300"/>
              <a:buFont typeface="Calibri"/>
              <a:buNone/>
            </a:pPr>
            <a:r>
              <a:rPr b="1" lang="en-US" sz="1300">
                <a:solidFill>
                  <a:srgbClr val="0F172A"/>
                </a:solidFill>
                <a:latin typeface="Calibri"/>
                <a:ea typeface="Calibri"/>
                <a:cs typeface="Calibri"/>
                <a:sym typeface="Calibri"/>
              </a:rPr>
              <a:t>OPPORTUNITIES</a:t>
            </a:r>
            <a:endParaRPr sz="1100">
              <a:solidFill>
                <a:schemeClr val="dk1"/>
              </a:solidFill>
              <a:latin typeface="Calibri"/>
              <a:ea typeface="Calibri"/>
              <a:cs typeface="Calibri"/>
              <a:sym typeface="Calibri"/>
            </a:endParaRPr>
          </a:p>
        </p:txBody>
      </p:sp>
      <p:sp>
        <p:nvSpPr>
          <p:cNvPr id="211" name="Google Shape;211;p9"/>
          <p:cNvSpPr/>
          <p:nvPr/>
        </p:nvSpPr>
        <p:spPr>
          <a:xfrm>
            <a:off x="548640" y="603504"/>
            <a:ext cx="11064300" cy="86880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0F172A"/>
              </a:buClr>
              <a:buSzPts val="3200"/>
              <a:buFont typeface="Calibri"/>
              <a:buNone/>
            </a:pPr>
            <a:r>
              <a:rPr b="1" lang="en-US" sz="3200">
                <a:solidFill>
                  <a:srgbClr val="0F172A"/>
                </a:solidFill>
                <a:latin typeface="Calibri"/>
                <a:ea typeface="Calibri"/>
                <a:cs typeface="Calibri"/>
                <a:sym typeface="Calibri"/>
              </a:rPr>
              <a:t>How different is it from other existing ideas?</a:t>
            </a:r>
            <a:endParaRPr sz="2600">
              <a:solidFill>
                <a:schemeClr val="dk1"/>
              </a:solidFill>
              <a:latin typeface="Calibri"/>
              <a:ea typeface="Calibri"/>
              <a:cs typeface="Calibri"/>
              <a:sym typeface="Calibri"/>
            </a:endParaRPr>
          </a:p>
        </p:txBody>
      </p:sp>
      <p:sp>
        <p:nvSpPr>
          <p:cNvPr id="212" name="Google Shape;212;p9"/>
          <p:cNvSpPr/>
          <p:nvPr/>
        </p:nvSpPr>
        <p:spPr>
          <a:xfrm>
            <a:off x="548640" y="1554480"/>
            <a:ext cx="11091600" cy="1417200"/>
          </a:xfrm>
          <a:prstGeom prst="roundRect">
            <a:avLst>
              <a:gd fmla="val 5806" name="adj"/>
            </a:avLst>
          </a:prstGeom>
          <a:solidFill>
            <a:srgbClr val="1E293B"/>
          </a:solidFill>
          <a:ln>
            <a:noFill/>
          </a:ln>
          <a:effectLst>
            <a:outerShdw blurRad="101600" rotWithShape="0" algn="bl" dir="5400000" dist="38100">
              <a:srgbClr val="000000">
                <a:alpha val="349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3" name="Google Shape;213;p9"/>
          <p:cNvSpPr/>
          <p:nvPr/>
        </p:nvSpPr>
        <p:spPr>
          <a:xfrm>
            <a:off x="822960" y="1691640"/>
            <a:ext cx="18288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300"/>
              <a:buFont typeface="Calibri"/>
              <a:buNone/>
            </a:pPr>
            <a:r>
              <a:rPr b="1" lang="en-US" sz="1300">
                <a:solidFill>
                  <a:srgbClr val="64748B"/>
                </a:solidFill>
                <a:latin typeface="Calibri"/>
                <a:ea typeface="Calibri"/>
                <a:cs typeface="Calibri"/>
                <a:sym typeface="Calibri"/>
              </a:rPr>
              <a:t>BEFORE</a:t>
            </a:r>
            <a:endParaRPr sz="1000">
              <a:solidFill>
                <a:schemeClr val="dk1"/>
              </a:solidFill>
              <a:latin typeface="Calibri"/>
              <a:ea typeface="Calibri"/>
              <a:cs typeface="Calibri"/>
              <a:sym typeface="Calibri"/>
            </a:endParaRPr>
          </a:p>
        </p:txBody>
      </p:sp>
      <p:sp>
        <p:nvSpPr>
          <p:cNvPr id="214" name="Google Shape;214;p9"/>
          <p:cNvSpPr/>
          <p:nvPr/>
        </p:nvSpPr>
        <p:spPr>
          <a:xfrm>
            <a:off x="822960" y="1965960"/>
            <a:ext cx="47550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4A3B8"/>
              </a:buClr>
              <a:buSzPts val="1600"/>
              <a:buFont typeface="Calibri"/>
              <a:buNone/>
            </a:pPr>
            <a:r>
              <a:rPr b="1" lang="en-US" sz="1600">
                <a:solidFill>
                  <a:srgbClr val="94A3B8"/>
                </a:solidFill>
                <a:latin typeface="Calibri"/>
                <a:ea typeface="Calibri"/>
                <a:cs typeface="Calibri"/>
                <a:sym typeface="Calibri"/>
              </a:rPr>
              <a:t>Rigid Scraping</a:t>
            </a:r>
            <a:endParaRPr sz="1400">
              <a:solidFill>
                <a:schemeClr val="dk1"/>
              </a:solidFill>
              <a:latin typeface="Calibri"/>
              <a:ea typeface="Calibri"/>
              <a:cs typeface="Calibri"/>
              <a:sym typeface="Calibri"/>
            </a:endParaRPr>
          </a:p>
        </p:txBody>
      </p:sp>
      <p:sp>
        <p:nvSpPr>
          <p:cNvPr id="215" name="Google Shape;215;p9"/>
          <p:cNvSpPr/>
          <p:nvPr/>
        </p:nvSpPr>
        <p:spPr>
          <a:xfrm>
            <a:off x="822960" y="2331720"/>
            <a:ext cx="47550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64748B"/>
              </a:buClr>
              <a:buSzPts val="1300"/>
              <a:buFont typeface="Calibri"/>
              <a:buNone/>
            </a:pPr>
            <a:r>
              <a:rPr i="1" lang="en-US" sz="1300">
                <a:solidFill>
                  <a:srgbClr val="64748B"/>
                </a:solidFill>
                <a:latin typeface="Calibri"/>
                <a:ea typeface="Calibri"/>
                <a:cs typeface="Calibri"/>
                <a:sym typeface="Calibri"/>
              </a:rPr>
              <a:t>Legacy catalog scrapers rely on XPath and regex rules that break whenever manufacturer websites update their layout.</a:t>
            </a:r>
            <a:endParaRPr sz="1050">
              <a:solidFill>
                <a:schemeClr val="dk1"/>
              </a:solidFill>
              <a:latin typeface="Calibri"/>
              <a:ea typeface="Calibri"/>
              <a:cs typeface="Calibri"/>
              <a:sym typeface="Calibri"/>
            </a:endParaRPr>
          </a:p>
        </p:txBody>
      </p:sp>
      <p:sp>
        <p:nvSpPr>
          <p:cNvPr id="216" name="Google Shape;216;p9"/>
          <p:cNvSpPr/>
          <p:nvPr/>
        </p:nvSpPr>
        <p:spPr>
          <a:xfrm>
            <a:off x="5806440" y="2043684"/>
            <a:ext cx="438900" cy="438900"/>
          </a:xfrm>
          <a:prstGeom prst="ellipse">
            <a:avLst/>
          </a:prstGeom>
          <a:solidFill>
            <a:srgbClr val="34D3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7" name="Google Shape;217;p9"/>
          <p:cNvSpPr/>
          <p:nvPr/>
        </p:nvSpPr>
        <p:spPr>
          <a:xfrm>
            <a:off x="5806440" y="2043684"/>
            <a:ext cx="438900" cy="438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2200"/>
              <a:buFont typeface="Calibri"/>
              <a:buNone/>
            </a:pPr>
            <a:r>
              <a:rPr b="1" lang="en-US" sz="2200">
                <a:solidFill>
                  <a:srgbClr val="0F172A"/>
                </a:solidFill>
                <a:latin typeface="Calibri"/>
                <a:ea typeface="Calibri"/>
                <a:cs typeface="Calibri"/>
                <a:sym typeface="Calibri"/>
              </a:rPr>
              <a:t>→</a:t>
            </a:r>
            <a:endParaRPr sz="2000">
              <a:solidFill>
                <a:schemeClr val="dk1"/>
              </a:solidFill>
              <a:latin typeface="Calibri"/>
              <a:ea typeface="Calibri"/>
              <a:cs typeface="Calibri"/>
              <a:sym typeface="Calibri"/>
            </a:endParaRPr>
          </a:p>
        </p:txBody>
      </p:sp>
      <p:sp>
        <p:nvSpPr>
          <p:cNvPr id="218" name="Google Shape;218;p9"/>
          <p:cNvSpPr/>
          <p:nvPr/>
        </p:nvSpPr>
        <p:spPr>
          <a:xfrm>
            <a:off x="6583680" y="1691640"/>
            <a:ext cx="47550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4D399"/>
              </a:buClr>
              <a:buSzPts val="1300"/>
              <a:buFont typeface="Calibri"/>
              <a:buNone/>
            </a:pPr>
            <a:r>
              <a:t/>
            </a:r>
            <a:endParaRPr sz="1000">
              <a:solidFill>
                <a:schemeClr val="dk1"/>
              </a:solidFill>
              <a:latin typeface="Calibri"/>
              <a:ea typeface="Calibri"/>
              <a:cs typeface="Calibri"/>
              <a:sym typeface="Calibri"/>
            </a:endParaRPr>
          </a:p>
        </p:txBody>
      </p:sp>
      <p:sp>
        <p:nvSpPr>
          <p:cNvPr id="219" name="Google Shape;219;p9"/>
          <p:cNvSpPr/>
          <p:nvPr/>
        </p:nvSpPr>
        <p:spPr>
          <a:xfrm>
            <a:off x="6583680" y="1965960"/>
            <a:ext cx="47550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8BDF8"/>
              </a:buClr>
              <a:buSzPts val="1600"/>
              <a:buFont typeface="Calibri"/>
              <a:buNone/>
            </a:pPr>
            <a:r>
              <a:rPr b="1" lang="en-US" sz="1600">
                <a:solidFill>
                  <a:srgbClr val="38BDF8"/>
                </a:solidFill>
                <a:latin typeface="Calibri"/>
                <a:ea typeface="Calibri"/>
                <a:cs typeface="Calibri"/>
                <a:sym typeface="Calibri"/>
              </a:rPr>
              <a:t>Semantic RAG Extraction</a:t>
            </a:r>
            <a:endParaRPr sz="1400">
              <a:solidFill>
                <a:schemeClr val="dk1"/>
              </a:solidFill>
              <a:latin typeface="Calibri"/>
              <a:ea typeface="Calibri"/>
              <a:cs typeface="Calibri"/>
              <a:sym typeface="Calibri"/>
            </a:endParaRPr>
          </a:p>
        </p:txBody>
      </p:sp>
      <p:sp>
        <p:nvSpPr>
          <p:cNvPr id="220" name="Google Shape;220;p9"/>
          <p:cNvSpPr/>
          <p:nvPr/>
        </p:nvSpPr>
        <p:spPr>
          <a:xfrm>
            <a:off x="6583680" y="2331720"/>
            <a:ext cx="47550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F8FAFC"/>
              </a:buClr>
              <a:buSzPts val="1300"/>
              <a:buFont typeface="Calibri"/>
              <a:buNone/>
            </a:pPr>
            <a:r>
              <a:rPr lang="en-US" sz="1300">
                <a:solidFill>
                  <a:srgbClr val="F8FAFC"/>
                </a:solidFill>
                <a:latin typeface="Calibri"/>
                <a:ea typeface="Calibri"/>
                <a:cs typeface="Calibri"/>
                <a:sym typeface="Calibri"/>
              </a:rPr>
              <a:t>Unilog Product Intelligence uses semantic vector RAG to read unstructured PDF spec sheets and tables dynamically.</a:t>
            </a:r>
            <a:endParaRPr sz="1050">
              <a:solidFill>
                <a:schemeClr val="dk1"/>
              </a:solidFill>
              <a:latin typeface="Calibri"/>
              <a:ea typeface="Calibri"/>
              <a:cs typeface="Calibri"/>
              <a:sym typeface="Calibri"/>
            </a:endParaRPr>
          </a:p>
        </p:txBody>
      </p:sp>
      <p:sp>
        <p:nvSpPr>
          <p:cNvPr id="221" name="Google Shape;221;p9"/>
          <p:cNvSpPr/>
          <p:nvPr/>
        </p:nvSpPr>
        <p:spPr>
          <a:xfrm>
            <a:off x="548640" y="3081528"/>
            <a:ext cx="11091600" cy="1417200"/>
          </a:xfrm>
          <a:prstGeom prst="roundRect">
            <a:avLst>
              <a:gd fmla="val 5806" name="adj"/>
            </a:avLst>
          </a:prstGeom>
          <a:solidFill>
            <a:srgbClr val="1E293B"/>
          </a:solidFill>
          <a:ln>
            <a:noFill/>
          </a:ln>
          <a:effectLst>
            <a:outerShdw blurRad="101600" rotWithShape="0" algn="bl" dir="5400000" dist="38100">
              <a:srgbClr val="000000">
                <a:alpha val="349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2" name="Google Shape;222;p9"/>
          <p:cNvSpPr/>
          <p:nvPr/>
        </p:nvSpPr>
        <p:spPr>
          <a:xfrm>
            <a:off x="822960" y="3218688"/>
            <a:ext cx="18288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300"/>
              <a:buFont typeface="Calibri"/>
              <a:buNone/>
            </a:pPr>
            <a:r>
              <a:rPr b="1" lang="en-US" sz="1300">
                <a:solidFill>
                  <a:srgbClr val="64748B"/>
                </a:solidFill>
                <a:latin typeface="Calibri"/>
                <a:ea typeface="Calibri"/>
                <a:cs typeface="Calibri"/>
                <a:sym typeface="Calibri"/>
              </a:rPr>
              <a:t>BEFORE</a:t>
            </a:r>
            <a:endParaRPr sz="1000">
              <a:solidFill>
                <a:schemeClr val="dk1"/>
              </a:solidFill>
              <a:latin typeface="Calibri"/>
              <a:ea typeface="Calibri"/>
              <a:cs typeface="Calibri"/>
              <a:sym typeface="Calibri"/>
            </a:endParaRPr>
          </a:p>
        </p:txBody>
      </p:sp>
      <p:sp>
        <p:nvSpPr>
          <p:cNvPr id="223" name="Google Shape;223;p9"/>
          <p:cNvSpPr/>
          <p:nvPr/>
        </p:nvSpPr>
        <p:spPr>
          <a:xfrm>
            <a:off x="822960" y="3493008"/>
            <a:ext cx="47550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4A3B8"/>
              </a:buClr>
              <a:buSzPts val="1600"/>
              <a:buFont typeface="Calibri"/>
              <a:buNone/>
            </a:pPr>
            <a:r>
              <a:rPr b="1" lang="en-US" sz="1600">
                <a:solidFill>
                  <a:srgbClr val="94A3B8"/>
                </a:solidFill>
                <a:latin typeface="Calibri"/>
                <a:ea typeface="Calibri"/>
                <a:cs typeface="Calibri"/>
                <a:sym typeface="Calibri"/>
              </a:rPr>
              <a:t>Noisy Marketplace Crawlers</a:t>
            </a:r>
            <a:endParaRPr sz="1400">
              <a:solidFill>
                <a:schemeClr val="dk1"/>
              </a:solidFill>
              <a:latin typeface="Calibri"/>
              <a:ea typeface="Calibri"/>
              <a:cs typeface="Calibri"/>
              <a:sym typeface="Calibri"/>
            </a:endParaRPr>
          </a:p>
        </p:txBody>
      </p:sp>
      <p:sp>
        <p:nvSpPr>
          <p:cNvPr id="224" name="Google Shape;224;p9"/>
          <p:cNvSpPr/>
          <p:nvPr/>
        </p:nvSpPr>
        <p:spPr>
          <a:xfrm>
            <a:off x="822960" y="3858768"/>
            <a:ext cx="47550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64748B"/>
              </a:buClr>
              <a:buSzPts val="1300"/>
              <a:buFont typeface="Calibri"/>
              <a:buNone/>
            </a:pPr>
            <a:r>
              <a:rPr i="1" lang="en-US" sz="1300">
                <a:solidFill>
                  <a:srgbClr val="64748B"/>
                </a:solidFill>
                <a:latin typeface="Calibri"/>
                <a:ea typeface="Calibri"/>
                <a:cs typeface="Calibri"/>
                <a:sym typeface="Calibri"/>
              </a:rPr>
              <a:t>Generic AI tools hallucinate by scraping third-party listings (Amazon, eBay, Walmart) containing user errors.</a:t>
            </a:r>
            <a:endParaRPr sz="1050">
              <a:solidFill>
                <a:schemeClr val="dk1"/>
              </a:solidFill>
              <a:latin typeface="Calibri"/>
              <a:ea typeface="Calibri"/>
              <a:cs typeface="Calibri"/>
              <a:sym typeface="Calibri"/>
            </a:endParaRPr>
          </a:p>
        </p:txBody>
      </p:sp>
      <p:sp>
        <p:nvSpPr>
          <p:cNvPr id="225" name="Google Shape;225;p9"/>
          <p:cNvSpPr/>
          <p:nvPr/>
        </p:nvSpPr>
        <p:spPr>
          <a:xfrm>
            <a:off x="5806440" y="3570732"/>
            <a:ext cx="438900" cy="438900"/>
          </a:xfrm>
          <a:prstGeom prst="ellipse">
            <a:avLst/>
          </a:prstGeom>
          <a:solidFill>
            <a:srgbClr val="34D3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6" name="Google Shape;226;p9"/>
          <p:cNvSpPr/>
          <p:nvPr/>
        </p:nvSpPr>
        <p:spPr>
          <a:xfrm>
            <a:off x="5806440" y="3570732"/>
            <a:ext cx="438900" cy="438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2200"/>
              <a:buFont typeface="Calibri"/>
              <a:buNone/>
            </a:pPr>
            <a:r>
              <a:rPr b="1" lang="en-US" sz="2200">
                <a:solidFill>
                  <a:srgbClr val="0F172A"/>
                </a:solidFill>
                <a:latin typeface="Calibri"/>
                <a:ea typeface="Calibri"/>
                <a:cs typeface="Calibri"/>
                <a:sym typeface="Calibri"/>
              </a:rPr>
              <a:t>→</a:t>
            </a:r>
            <a:endParaRPr sz="2000">
              <a:solidFill>
                <a:schemeClr val="dk1"/>
              </a:solidFill>
              <a:latin typeface="Calibri"/>
              <a:ea typeface="Calibri"/>
              <a:cs typeface="Calibri"/>
              <a:sym typeface="Calibri"/>
            </a:endParaRPr>
          </a:p>
        </p:txBody>
      </p:sp>
      <p:sp>
        <p:nvSpPr>
          <p:cNvPr id="227" name="Google Shape;227;p9"/>
          <p:cNvSpPr/>
          <p:nvPr/>
        </p:nvSpPr>
        <p:spPr>
          <a:xfrm>
            <a:off x="6583680" y="3218688"/>
            <a:ext cx="47550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4D399"/>
              </a:buClr>
              <a:buSzPts val="1300"/>
              <a:buFont typeface="Calibri"/>
              <a:buNone/>
            </a:pPr>
            <a:r>
              <a:t/>
            </a:r>
            <a:endParaRPr sz="1000">
              <a:solidFill>
                <a:schemeClr val="dk1"/>
              </a:solidFill>
              <a:latin typeface="Calibri"/>
              <a:ea typeface="Calibri"/>
              <a:cs typeface="Calibri"/>
              <a:sym typeface="Calibri"/>
            </a:endParaRPr>
          </a:p>
        </p:txBody>
      </p:sp>
      <p:sp>
        <p:nvSpPr>
          <p:cNvPr id="228" name="Google Shape;228;p9"/>
          <p:cNvSpPr/>
          <p:nvPr/>
        </p:nvSpPr>
        <p:spPr>
          <a:xfrm>
            <a:off x="6583680" y="3493008"/>
            <a:ext cx="47550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8BDF8"/>
              </a:buClr>
              <a:buSzPts val="1600"/>
              <a:buFont typeface="Calibri"/>
              <a:buNone/>
            </a:pPr>
            <a:r>
              <a:rPr b="1" lang="en-US" sz="1600">
                <a:solidFill>
                  <a:srgbClr val="38BDF8"/>
                </a:solidFill>
                <a:latin typeface="Calibri"/>
                <a:ea typeface="Calibri"/>
                <a:cs typeface="Calibri"/>
                <a:sym typeface="Calibri"/>
              </a:rPr>
              <a:t>OEM-Domain Guardrails</a:t>
            </a:r>
            <a:endParaRPr sz="1400">
              <a:solidFill>
                <a:schemeClr val="dk1"/>
              </a:solidFill>
              <a:latin typeface="Calibri"/>
              <a:ea typeface="Calibri"/>
              <a:cs typeface="Calibri"/>
              <a:sym typeface="Calibri"/>
            </a:endParaRPr>
          </a:p>
        </p:txBody>
      </p:sp>
      <p:sp>
        <p:nvSpPr>
          <p:cNvPr id="229" name="Google Shape;229;p9"/>
          <p:cNvSpPr/>
          <p:nvPr/>
        </p:nvSpPr>
        <p:spPr>
          <a:xfrm>
            <a:off x="6583680" y="3858768"/>
            <a:ext cx="47550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F8FAFC"/>
              </a:buClr>
              <a:buSzPts val="1300"/>
              <a:buFont typeface="Calibri"/>
              <a:buNone/>
            </a:pPr>
            <a:r>
              <a:rPr lang="en-US" sz="1300">
                <a:solidFill>
                  <a:srgbClr val="F8FAFC"/>
                </a:solidFill>
                <a:latin typeface="Calibri"/>
                <a:ea typeface="Calibri"/>
                <a:cs typeface="Calibri"/>
                <a:sym typeface="Calibri"/>
              </a:rPr>
              <a:t>Retrieval is locked strictly to official manufacturer domains (e.g. fluke.com, 3m.com).</a:t>
            </a:r>
            <a:endParaRPr sz="1050">
              <a:solidFill>
                <a:schemeClr val="dk1"/>
              </a:solidFill>
              <a:latin typeface="Calibri"/>
              <a:ea typeface="Calibri"/>
              <a:cs typeface="Calibri"/>
              <a:sym typeface="Calibri"/>
            </a:endParaRPr>
          </a:p>
        </p:txBody>
      </p:sp>
      <p:sp>
        <p:nvSpPr>
          <p:cNvPr id="230" name="Google Shape;230;p9"/>
          <p:cNvSpPr/>
          <p:nvPr/>
        </p:nvSpPr>
        <p:spPr>
          <a:xfrm>
            <a:off x="548640" y="4608576"/>
            <a:ext cx="11091600" cy="1417200"/>
          </a:xfrm>
          <a:prstGeom prst="roundRect">
            <a:avLst>
              <a:gd fmla="val 5806" name="adj"/>
            </a:avLst>
          </a:prstGeom>
          <a:solidFill>
            <a:srgbClr val="1E293B"/>
          </a:solidFill>
          <a:ln>
            <a:noFill/>
          </a:ln>
          <a:effectLst>
            <a:outerShdw blurRad="101600" rotWithShape="0" algn="bl" dir="5400000" dist="38100">
              <a:srgbClr val="000000">
                <a:alpha val="349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1" name="Google Shape;231;p9"/>
          <p:cNvSpPr/>
          <p:nvPr/>
        </p:nvSpPr>
        <p:spPr>
          <a:xfrm>
            <a:off x="822960" y="4745736"/>
            <a:ext cx="18288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300"/>
              <a:buFont typeface="Calibri"/>
              <a:buNone/>
            </a:pPr>
            <a:r>
              <a:rPr b="1" lang="en-US" sz="1300">
                <a:solidFill>
                  <a:srgbClr val="64748B"/>
                </a:solidFill>
                <a:latin typeface="Calibri"/>
                <a:ea typeface="Calibri"/>
                <a:cs typeface="Calibri"/>
                <a:sym typeface="Calibri"/>
              </a:rPr>
              <a:t>BEFORE</a:t>
            </a:r>
            <a:endParaRPr sz="1000">
              <a:solidFill>
                <a:schemeClr val="dk1"/>
              </a:solidFill>
              <a:latin typeface="Calibri"/>
              <a:ea typeface="Calibri"/>
              <a:cs typeface="Calibri"/>
              <a:sym typeface="Calibri"/>
            </a:endParaRPr>
          </a:p>
        </p:txBody>
      </p:sp>
      <p:sp>
        <p:nvSpPr>
          <p:cNvPr id="232" name="Google Shape;232;p9"/>
          <p:cNvSpPr/>
          <p:nvPr/>
        </p:nvSpPr>
        <p:spPr>
          <a:xfrm>
            <a:off x="822960" y="5020056"/>
            <a:ext cx="47550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4A3B8"/>
              </a:buClr>
              <a:buSzPts val="1600"/>
              <a:buFont typeface="Calibri"/>
              <a:buNone/>
            </a:pPr>
            <a:r>
              <a:rPr b="1" lang="en-US" sz="1600">
                <a:solidFill>
                  <a:srgbClr val="94A3B8"/>
                </a:solidFill>
                <a:latin typeface="Calibri"/>
                <a:ea typeface="Calibri"/>
                <a:cs typeface="Calibri"/>
                <a:sym typeface="Calibri"/>
              </a:rPr>
              <a:t>Black-Box Automation</a:t>
            </a:r>
            <a:endParaRPr sz="1400">
              <a:solidFill>
                <a:schemeClr val="dk1"/>
              </a:solidFill>
              <a:latin typeface="Calibri"/>
              <a:ea typeface="Calibri"/>
              <a:cs typeface="Calibri"/>
              <a:sym typeface="Calibri"/>
            </a:endParaRPr>
          </a:p>
        </p:txBody>
      </p:sp>
      <p:sp>
        <p:nvSpPr>
          <p:cNvPr id="233" name="Google Shape;233;p9"/>
          <p:cNvSpPr/>
          <p:nvPr/>
        </p:nvSpPr>
        <p:spPr>
          <a:xfrm>
            <a:off x="822960" y="5385816"/>
            <a:ext cx="47550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64748B"/>
              </a:buClr>
              <a:buSzPts val="1300"/>
              <a:buFont typeface="Calibri"/>
              <a:buNone/>
            </a:pPr>
            <a:r>
              <a:rPr i="1" lang="en-US" sz="1300">
                <a:solidFill>
                  <a:srgbClr val="64748B"/>
                </a:solidFill>
                <a:latin typeface="Calibri"/>
                <a:ea typeface="Calibri"/>
                <a:cs typeface="Calibri"/>
                <a:sym typeface="Calibri"/>
              </a:rPr>
              <a:t>Most automated tools offer no visual proof of where a value came from.</a:t>
            </a:r>
            <a:endParaRPr sz="1050">
              <a:solidFill>
                <a:schemeClr val="dk1"/>
              </a:solidFill>
              <a:latin typeface="Calibri"/>
              <a:ea typeface="Calibri"/>
              <a:cs typeface="Calibri"/>
              <a:sym typeface="Calibri"/>
            </a:endParaRPr>
          </a:p>
        </p:txBody>
      </p:sp>
      <p:sp>
        <p:nvSpPr>
          <p:cNvPr id="234" name="Google Shape;234;p9"/>
          <p:cNvSpPr/>
          <p:nvPr/>
        </p:nvSpPr>
        <p:spPr>
          <a:xfrm>
            <a:off x="5806440" y="5097780"/>
            <a:ext cx="438900" cy="438900"/>
          </a:xfrm>
          <a:prstGeom prst="ellipse">
            <a:avLst/>
          </a:prstGeom>
          <a:solidFill>
            <a:srgbClr val="34D3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5" name="Google Shape;235;p9"/>
          <p:cNvSpPr/>
          <p:nvPr/>
        </p:nvSpPr>
        <p:spPr>
          <a:xfrm>
            <a:off x="5806440" y="5097780"/>
            <a:ext cx="438900" cy="438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2200"/>
              <a:buFont typeface="Calibri"/>
              <a:buNone/>
            </a:pPr>
            <a:r>
              <a:rPr b="1" lang="en-US" sz="2200">
                <a:solidFill>
                  <a:srgbClr val="0F172A"/>
                </a:solidFill>
                <a:latin typeface="Calibri"/>
                <a:ea typeface="Calibri"/>
                <a:cs typeface="Calibri"/>
                <a:sym typeface="Calibri"/>
              </a:rPr>
              <a:t>→</a:t>
            </a:r>
            <a:endParaRPr sz="2000">
              <a:solidFill>
                <a:schemeClr val="dk1"/>
              </a:solidFill>
              <a:latin typeface="Calibri"/>
              <a:ea typeface="Calibri"/>
              <a:cs typeface="Calibri"/>
              <a:sym typeface="Calibri"/>
            </a:endParaRPr>
          </a:p>
        </p:txBody>
      </p:sp>
      <p:sp>
        <p:nvSpPr>
          <p:cNvPr id="236" name="Google Shape;236;p9"/>
          <p:cNvSpPr/>
          <p:nvPr/>
        </p:nvSpPr>
        <p:spPr>
          <a:xfrm>
            <a:off x="6583680" y="4745736"/>
            <a:ext cx="47550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4D399"/>
              </a:buClr>
              <a:buSzPts val="1300"/>
              <a:buFont typeface="Calibri"/>
              <a:buNone/>
            </a:pPr>
            <a:r>
              <a:t/>
            </a:r>
            <a:endParaRPr sz="1000">
              <a:solidFill>
                <a:schemeClr val="dk1"/>
              </a:solidFill>
              <a:latin typeface="Calibri"/>
              <a:ea typeface="Calibri"/>
              <a:cs typeface="Calibri"/>
              <a:sym typeface="Calibri"/>
            </a:endParaRPr>
          </a:p>
        </p:txBody>
      </p:sp>
      <p:sp>
        <p:nvSpPr>
          <p:cNvPr id="237" name="Google Shape;237;p9"/>
          <p:cNvSpPr/>
          <p:nvPr/>
        </p:nvSpPr>
        <p:spPr>
          <a:xfrm>
            <a:off x="6583680" y="5020056"/>
            <a:ext cx="47550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8BDF8"/>
              </a:buClr>
              <a:buSzPts val="1600"/>
              <a:buFont typeface="Calibri"/>
              <a:buNone/>
            </a:pPr>
            <a:r>
              <a:rPr b="1" lang="en-US" sz="1600">
                <a:solidFill>
                  <a:srgbClr val="38BDF8"/>
                </a:solidFill>
                <a:latin typeface="Calibri"/>
                <a:ea typeface="Calibri"/>
                <a:cs typeface="Calibri"/>
                <a:sym typeface="Calibri"/>
              </a:rPr>
              <a:t>100% Provenance &amp; NL Steering</a:t>
            </a:r>
            <a:endParaRPr sz="1400">
              <a:solidFill>
                <a:schemeClr val="dk1"/>
              </a:solidFill>
              <a:latin typeface="Calibri"/>
              <a:ea typeface="Calibri"/>
              <a:cs typeface="Calibri"/>
              <a:sym typeface="Calibri"/>
            </a:endParaRPr>
          </a:p>
        </p:txBody>
      </p:sp>
      <p:sp>
        <p:nvSpPr>
          <p:cNvPr id="238" name="Google Shape;238;p9"/>
          <p:cNvSpPr/>
          <p:nvPr/>
        </p:nvSpPr>
        <p:spPr>
          <a:xfrm>
            <a:off x="6583680" y="5385816"/>
            <a:ext cx="47550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F8FAFC"/>
              </a:buClr>
              <a:buSzPts val="1300"/>
              <a:buFont typeface="Calibri"/>
              <a:buNone/>
            </a:pPr>
            <a:r>
              <a:rPr lang="en-US" sz="1300">
                <a:solidFill>
                  <a:srgbClr val="F8FAFC"/>
                </a:solidFill>
                <a:latin typeface="Calibri"/>
                <a:ea typeface="Calibri"/>
                <a:cs typeface="Calibri"/>
                <a:sym typeface="Calibri"/>
              </a:rPr>
              <a:t>Every spec is bound to verbatim PDF snippets and can be actively steered via a natural language AI prompt bar.</a:t>
            </a:r>
            <a:endParaRPr sz="1050">
              <a:solidFill>
                <a:schemeClr val="dk1"/>
              </a:solidFill>
              <a:latin typeface="Calibri"/>
              <a:ea typeface="Calibri"/>
              <a:cs typeface="Calibri"/>
              <a:sym typeface="Calibri"/>
            </a:endParaRPr>
          </a:p>
        </p:txBody>
      </p:sp>
      <p:sp>
        <p:nvSpPr>
          <p:cNvPr id="239" name="Google Shape;239;p9"/>
          <p:cNvSpPr/>
          <p:nvPr/>
        </p:nvSpPr>
        <p:spPr>
          <a:xfrm>
            <a:off x="457200" y="6473952"/>
            <a:ext cx="73152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172A"/>
              </a:buClr>
              <a:buSzPts val="1300"/>
              <a:buFont typeface="Calibri"/>
              <a:buNone/>
            </a:pPr>
            <a:r>
              <a:rPr lang="en-US" sz="1300">
                <a:solidFill>
                  <a:srgbClr val="0F172A"/>
                </a:solidFill>
                <a:latin typeface="Calibri"/>
                <a:ea typeface="Calibri"/>
                <a:cs typeface="Calibri"/>
                <a:sym typeface="Calibri"/>
              </a:rPr>
              <a:t>07 / 15   •   Differentiators</a:t>
            </a:r>
            <a:endParaRPr sz="9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44" name="Shape 244"/>
        <p:cNvGrpSpPr/>
        <p:nvPr/>
      </p:nvGrpSpPr>
      <p:grpSpPr>
        <a:xfrm>
          <a:off x="0" y="0"/>
          <a:ext cx="0" cy="0"/>
          <a:chOff x="0" y="0"/>
          <a:chExt cx="0" cy="0"/>
        </a:xfrm>
      </p:grpSpPr>
      <p:pic>
        <p:nvPicPr>
          <p:cNvPr descr="image.png" id="245" name="Google Shape;245;p1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46" name="Google Shape;246;p10"/>
          <p:cNvSpPr/>
          <p:nvPr/>
        </p:nvSpPr>
        <p:spPr>
          <a:xfrm>
            <a:off x="548640" y="347472"/>
            <a:ext cx="10972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172A"/>
              </a:buClr>
              <a:buSzPts val="1300"/>
              <a:buFont typeface="Calibri"/>
              <a:buNone/>
            </a:pPr>
            <a:r>
              <a:rPr b="1" lang="en-US" sz="1300">
                <a:solidFill>
                  <a:srgbClr val="0F172A"/>
                </a:solidFill>
                <a:latin typeface="Calibri"/>
                <a:ea typeface="Calibri"/>
                <a:cs typeface="Calibri"/>
                <a:sym typeface="Calibri"/>
              </a:rPr>
              <a:t>OPPORTUNITIES</a:t>
            </a:r>
            <a:endParaRPr sz="1100">
              <a:solidFill>
                <a:schemeClr val="dk1"/>
              </a:solidFill>
              <a:latin typeface="Calibri"/>
              <a:ea typeface="Calibri"/>
              <a:cs typeface="Calibri"/>
              <a:sym typeface="Calibri"/>
            </a:endParaRPr>
          </a:p>
        </p:txBody>
      </p:sp>
      <p:sp>
        <p:nvSpPr>
          <p:cNvPr id="247" name="Google Shape;247;p10"/>
          <p:cNvSpPr/>
          <p:nvPr/>
        </p:nvSpPr>
        <p:spPr>
          <a:xfrm>
            <a:off x="548640" y="603504"/>
            <a:ext cx="11064300" cy="86880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0F172A"/>
              </a:buClr>
              <a:buSzPts val="3200"/>
              <a:buFont typeface="Calibri"/>
              <a:buNone/>
            </a:pPr>
            <a:r>
              <a:rPr b="1" lang="en-US" sz="3200">
                <a:solidFill>
                  <a:srgbClr val="0F172A"/>
                </a:solidFill>
                <a:latin typeface="Calibri"/>
                <a:ea typeface="Calibri"/>
                <a:cs typeface="Calibri"/>
                <a:sym typeface="Calibri"/>
              </a:rPr>
              <a:t>How different is it from other existing ideas?</a:t>
            </a:r>
            <a:endParaRPr sz="2600">
              <a:solidFill>
                <a:schemeClr val="dk1"/>
              </a:solidFill>
              <a:latin typeface="Calibri"/>
              <a:ea typeface="Calibri"/>
              <a:cs typeface="Calibri"/>
              <a:sym typeface="Calibri"/>
            </a:endParaRPr>
          </a:p>
        </p:txBody>
      </p:sp>
      <p:sp>
        <p:nvSpPr>
          <p:cNvPr id="248" name="Google Shape;248;p10"/>
          <p:cNvSpPr/>
          <p:nvPr/>
        </p:nvSpPr>
        <p:spPr>
          <a:xfrm>
            <a:off x="548640" y="1554480"/>
            <a:ext cx="11091600" cy="1417200"/>
          </a:xfrm>
          <a:prstGeom prst="roundRect">
            <a:avLst>
              <a:gd fmla="val 5806" name="adj"/>
            </a:avLst>
          </a:prstGeom>
          <a:solidFill>
            <a:srgbClr val="1E293B"/>
          </a:solidFill>
          <a:ln>
            <a:noFill/>
          </a:ln>
          <a:effectLst>
            <a:outerShdw blurRad="101600" rotWithShape="0" algn="bl" dir="5400000" dist="38100">
              <a:srgbClr val="000000">
                <a:alpha val="349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9" name="Google Shape;249;p10"/>
          <p:cNvSpPr/>
          <p:nvPr/>
        </p:nvSpPr>
        <p:spPr>
          <a:xfrm>
            <a:off x="822960" y="1691640"/>
            <a:ext cx="18288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300"/>
              <a:buFont typeface="Calibri"/>
              <a:buNone/>
            </a:pPr>
            <a:r>
              <a:rPr b="1" lang="en-US" sz="1300">
                <a:solidFill>
                  <a:srgbClr val="64748B"/>
                </a:solidFill>
                <a:latin typeface="Calibri"/>
                <a:ea typeface="Calibri"/>
                <a:cs typeface="Calibri"/>
                <a:sym typeface="Calibri"/>
              </a:rPr>
              <a:t>BEFORE</a:t>
            </a:r>
            <a:endParaRPr sz="1000">
              <a:solidFill>
                <a:schemeClr val="dk1"/>
              </a:solidFill>
              <a:latin typeface="Calibri"/>
              <a:ea typeface="Calibri"/>
              <a:cs typeface="Calibri"/>
              <a:sym typeface="Calibri"/>
            </a:endParaRPr>
          </a:p>
        </p:txBody>
      </p:sp>
      <p:sp>
        <p:nvSpPr>
          <p:cNvPr id="250" name="Google Shape;250;p10"/>
          <p:cNvSpPr/>
          <p:nvPr/>
        </p:nvSpPr>
        <p:spPr>
          <a:xfrm>
            <a:off x="1490360" y="2162660"/>
            <a:ext cx="4755000" cy="3657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US" sz="2000">
                <a:solidFill>
                  <a:srgbClr val="94A3B8"/>
                </a:solidFill>
                <a:latin typeface="Calibri"/>
                <a:ea typeface="Calibri"/>
                <a:cs typeface="Calibri"/>
                <a:sym typeface="Calibri"/>
              </a:rPr>
              <a:t>Only see ouput</a:t>
            </a:r>
            <a:endParaRPr b="1" sz="2000">
              <a:solidFill>
                <a:srgbClr val="94A3B8"/>
              </a:solidFill>
              <a:latin typeface="Calibri"/>
              <a:ea typeface="Calibri"/>
              <a:cs typeface="Calibri"/>
              <a:sym typeface="Calibri"/>
            </a:endParaRPr>
          </a:p>
          <a:p>
            <a:pPr indent="0" lvl="0" marL="0" marR="0" rtl="0" algn="l">
              <a:spcBef>
                <a:spcPts val="0"/>
              </a:spcBef>
              <a:spcAft>
                <a:spcPts val="0"/>
              </a:spcAft>
              <a:buClr>
                <a:srgbClr val="94A3B8"/>
              </a:buClr>
              <a:buSzPts val="1600"/>
              <a:buFont typeface="Calibri"/>
              <a:buNone/>
            </a:pPr>
            <a:r>
              <a:t/>
            </a:r>
            <a:endParaRPr b="1" sz="1600">
              <a:solidFill>
                <a:srgbClr val="94A3B8"/>
              </a:solidFill>
              <a:latin typeface="Calibri"/>
              <a:ea typeface="Calibri"/>
              <a:cs typeface="Calibri"/>
              <a:sym typeface="Calibri"/>
            </a:endParaRPr>
          </a:p>
        </p:txBody>
      </p:sp>
      <p:sp>
        <p:nvSpPr>
          <p:cNvPr id="251" name="Google Shape;251;p10"/>
          <p:cNvSpPr/>
          <p:nvPr/>
        </p:nvSpPr>
        <p:spPr>
          <a:xfrm>
            <a:off x="822960" y="2331720"/>
            <a:ext cx="47550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64748B"/>
              </a:buClr>
              <a:buSzPts val="1300"/>
              <a:buFont typeface="Calibri"/>
              <a:buNone/>
            </a:pPr>
            <a:r>
              <a:t/>
            </a:r>
            <a:endParaRPr sz="1050">
              <a:solidFill>
                <a:schemeClr val="dk1"/>
              </a:solidFill>
              <a:latin typeface="Calibri"/>
              <a:ea typeface="Calibri"/>
              <a:cs typeface="Calibri"/>
              <a:sym typeface="Calibri"/>
            </a:endParaRPr>
          </a:p>
        </p:txBody>
      </p:sp>
      <p:sp>
        <p:nvSpPr>
          <p:cNvPr id="252" name="Google Shape;252;p10"/>
          <p:cNvSpPr/>
          <p:nvPr/>
        </p:nvSpPr>
        <p:spPr>
          <a:xfrm>
            <a:off x="5806440" y="2043684"/>
            <a:ext cx="438900" cy="438900"/>
          </a:xfrm>
          <a:prstGeom prst="ellipse">
            <a:avLst/>
          </a:prstGeom>
          <a:solidFill>
            <a:srgbClr val="34D3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3" name="Google Shape;253;p10"/>
          <p:cNvSpPr/>
          <p:nvPr/>
        </p:nvSpPr>
        <p:spPr>
          <a:xfrm>
            <a:off x="5806440" y="2043684"/>
            <a:ext cx="438900" cy="438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2200"/>
              <a:buFont typeface="Calibri"/>
              <a:buNone/>
            </a:pPr>
            <a:r>
              <a:rPr b="1" lang="en-US" sz="2200">
                <a:solidFill>
                  <a:srgbClr val="0F172A"/>
                </a:solidFill>
                <a:latin typeface="Calibri"/>
                <a:ea typeface="Calibri"/>
                <a:cs typeface="Calibri"/>
                <a:sym typeface="Calibri"/>
              </a:rPr>
              <a:t>→</a:t>
            </a:r>
            <a:endParaRPr sz="2000">
              <a:solidFill>
                <a:schemeClr val="dk1"/>
              </a:solidFill>
              <a:latin typeface="Calibri"/>
              <a:ea typeface="Calibri"/>
              <a:cs typeface="Calibri"/>
              <a:sym typeface="Calibri"/>
            </a:endParaRPr>
          </a:p>
        </p:txBody>
      </p:sp>
      <p:sp>
        <p:nvSpPr>
          <p:cNvPr id="254" name="Google Shape;254;p10"/>
          <p:cNvSpPr/>
          <p:nvPr/>
        </p:nvSpPr>
        <p:spPr>
          <a:xfrm>
            <a:off x="6583680" y="1691640"/>
            <a:ext cx="47550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4D399"/>
              </a:buClr>
              <a:buSzPts val="1300"/>
              <a:buFont typeface="Calibri"/>
              <a:buNone/>
            </a:pPr>
            <a:r>
              <a:t/>
            </a:r>
            <a:endParaRPr sz="1000">
              <a:solidFill>
                <a:schemeClr val="dk1"/>
              </a:solidFill>
              <a:latin typeface="Calibri"/>
              <a:ea typeface="Calibri"/>
              <a:cs typeface="Calibri"/>
              <a:sym typeface="Calibri"/>
            </a:endParaRPr>
          </a:p>
        </p:txBody>
      </p:sp>
      <p:sp>
        <p:nvSpPr>
          <p:cNvPr id="255" name="Google Shape;255;p10"/>
          <p:cNvSpPr/>
          <p:nvPr/>
        </p:nvSpPr>
        <p:spPr>
          <a:xfrm>
            <a:off x="6583680" y="1965960"/>
            <a:ext cx="4755000" cy="3657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US" sz="1600">
                <a:solidFill>
                  <a:srgbClr val="38BDF8"/>
                </a:solidFill>
                <a:latin typeface="Calibri"/>
                <a:ea typeface="Calibri"/>
                <a:cs typeface="Calibri"/>
                <a:sym typeface="Calibri"/>
              </a:rPr>
              <a:t>Admin-&gt;Interact with agent-&gt;Agent decides next stage</a:t>
            </a:r>
            <a:endParaRPr b="1" sz="1600">
              <a:solidFill>
                <a:srgbClr val="38BDF8"/>
              </a:solidFill>
              <a:latin typeface="Calibri"/>
              <a:ea typeface="Calibri"/>
              <a:cs typeface="Calibri"/>
              <a:sym typeface="Calibri"/>
            </a:endParaRPr>
          </a:p>
          <a:p>
            <a:pPr indent="0" lvl="0" marL="0" marR="0" rtl="0" algn="l">
              <a:spcBef>
                <a:spcPts val="0"/>
              </a:spcBef>
              <a:spcAft>
                <a:spcPts val="0"/>
              </a:spcAft>
              <a:buClr>
                <a:srgbClr val="38BDF8"/>
              </a:buClr>
              <a:buSzPts val="1600"/>
              <a:buFont typeface="Calibri"/>
              <a:buNone/>
            </a:pPr>
            <a:r>
              <a:t/>
            </a:r>
            <a:endParaRPr b="1" sz="1600">
              <a:solidFill>
                <a:srgbClr val="38BDF8"/>
              </a:solidFill>
              <a:latin typeface="Calibri"/>
              <a:ea typeface="Calibri"/>
              <a:cs typeface="Calibri"/>
              <a:sym typeface="Calibri"/>
            </a:endParaRPr>
          </a:p>
        </p:txBody>
      </p:sp>
      <p:sp>
        <p:nvSpPr>
          <p:cNvPr id="256" name="Google Shape;256;p10"/>
          <p:cNvSpPr/>
          <p:nvPr/>
        </p:nvSpPr>
        <p:spPr>
          <a:xfrm>
            <a:off x="6583680" y="2331720"/>
            <a:ext cx="47550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F8FAFC"/>
              </a:buClr>
              <a:buSzPts val="1300"/>
              <a:buFont typeface="Calibri"/>
              <a:buNone/>
            </a:pPr>
            <a:r>
              <a:rPr lang="en-US" sz="1300">
                <a:solidFill>
                  <a:srgbClr val="F8FAFC"/>
                </a:solidFill>
                <a:latin typeface="Calibri"/>
                <a:ea typeface="Calibri"/>
                <a:cs typeface="Calibri"/>
                <a:sym typeface="Calibri"/>
              </a:rPr>
              <a:t>Unilog Product Intelligence uses semantic vector RAG to read unstructured PDF spec sheets and tables dynamically.</a:t>
            </a:r>
            <a:endParaRPr sz="1050">
              <a:solidFill>
                <a:schemeClr val="dk1"/>
              </a:solidFill>
              <a:latin typeface="Calibri"/>
              <a:ea typeface="Calibri"/>
              <a:cs typeface="Calibri"/>
              <a:sym typeface="Calibri"/>
            </a:endParaRPr>
          </a:p>
        </p:txBody>
      </p:sp>
      <p:sp>
        <p:nvSpPr>
          <p:cNvPr id="257" name="Google Shape;257;p10"/>
          <p:cNvSpPr/>
          <p:nvPr/>
        </p:nvSpPr>
        <p:spPr>
          <a:xfrm>
            <a:off x="548640" y="3081528"/>
            <a:ext cx="11091600" cy="1417200"/>
          </a:xfrm>
          <a:prstGeom prst="roundRect">
            <a:avLst>
              <a:gd fmla="val 5806" name="adj"/>
            </a:avLst>
          </a:prstGeom>
          <a:solidFill>
            <a:srgbClr val="1E293B"/>
          </a:solidFill>
          <a:ln>
            <a:noFill/>
          </a:ln>
          <a:effectLst>
            <a:outerShdw blurRad="101600" rotWithShape="0" algn="bl" dir="5400000" dist="38100">
              <a:srgbClr val="000000">
                <a:alpha val="349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8" name="Google Shape;258;p10"/>
          <p:cNvSpPr/>
          <p:nvPr/>
        </p:nvSpPr>
        <p:spPr>
          <a:xfrm>
            <a:off x="822960" y="3218688"/>
            <a:ext cx="18288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300"/>
              <a:buFont typeface="Calibri"/>
              <a:buNone/>
            </a:pPr>
            <a:r>
              <a:t/>
            </a:r>
            <a:endParaRPr sz="1000">
              <a:solidFill>
                <a:schemeClr val="dk1"/>
              </a:solidFill>
              <a:latin typeface="Calibri"/>
              <a:ea typeface="Calibri"/>
              <a:cs typeface="Calibri"/>
              <a:sym typeface="Calibri"/>
            </a:endParaRPr>
          </a:p>
        </p:txBody>
      </p:sp>
      <p:sp>
        <p:nvSpPr>
          <p:cNvPr id="259" name="Google Shape;259;p10"/>
          <p:cNvSpPr/>
          <p:nvPr/>
        </p:nvSpPr>
        <p:spPr>
          <a:xfrm>
            <a:off x="822960" y="3493008"/>
            <a:ext cx="47550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4A3B8"/>
              </a:buClr>
              <a:buSzPts val="1600"/>
              <a:buFont typeface="Calibri"/>
              <a:buNone/>
            </a:pPr>
            <a:r>
              <a:t/>
            </a:r>
            <a:endParaRPr sz="1400">
              <a:solidFill>
                <a:schemeClr val="dk1"/>
              </a:solidFill>
              <a:latin typeface="Calibri"/>
              <a:ea typeface="Calibri"/>
              <a:cs typeface="Calibri"/>
              <a:sym typeface="Calibri"/>
            </a:endParaRPr>
          </a:p>
        </p:txBody>
      </p:sp>
      <p:sp>
        <p:nvSpPr>
          <p:cNvPr id="260" name="Google Shape;260;p10"/>
          <p:cNvSpPr/>
          <p:nvPr/>
        </p:nvSpPr>
        <p:spPr>
          <a:xfrm>
            <a:off x="822960" y="3858768"/>
            <a:ext cx="47550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64748B"/>
              </a:buClr>
              <a:buSzPts val="1300"/>
              <a:buFont typeface="Calibri"/>
              <a:buNone/>
            </a:pPr>
            <a:r>
              <a:t/>
            </a:r>
            <a:endParaRPr sz="1050">
              <a:solidFill>
                <a:schemeClr val="dk1"/>
              </a:solidFill>
              <a:latin typeface="Calibri"/>
              <a:ea typeface="Calibri"/>
              <a:cs typeface="Calibri"/>
              <a:sym typeface="Calibri"/>
            </a:endParaRPr>
          </a:p>
        </p:txBody>
      </p:sp>
      <p:sp>
        <p:nvSpPr>
          <p:cNvPr id="261" name="Google Shape;261;p10"/>
          <p:cNvSpPr/>
          <p:nvPr/>
        </p:nvSpPr>
        <p:spPr>
          <a:xfrm>
            <a:off x="6583680" y="3218688"/>
            <a:ext cx="47550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4D399"/>
              </a:buClr>
              <a:buSzPts val="1300"/>
              <a:buFont typeface="Calibri"/>
              <a:buNone/>
            </a:pPr>
            <a:r>
              <a:t/>
            </a:r>
            <a:endParaRPr sz="1000">
              <a:solidFill>
                <a:schemeClr val="dk1"/>
              </a:solidFill>
              <a:latin typeface="Calibri"/>
              <a:ea typeface="Calibri"/>
              <a:cs typeface="Calibri"/>
              <a:sym typeface="Calibri"/>
            </a:endParaRPr>
          </a:p>
        </p:txBody>
      </p:sp>
      <p:sp>
        <p:nvSpPr>
          <p:cNvPr id="262" name="Google Shape;262;p10"/>
          <p:cNvSpPr/>
          <p:nvPr/>
        </p:nvSpPr>
        <p:spPr>
          <a:xfrm>
            <a:off x="3215225" y="3440516"/>
            <a:ext cx="4755000" cy="2559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US" sz="2000">
                <a:solidFill>
                  <a:srgbClr val="38BDF8"/>
                </a:solidFill>
                <a:latin typeface="Calibri"/>
                <a:ea typeface="Calibri"/>
                <a:cs typeface="Calibri"/>
                <a:sym typeface="Calibri"/>
              </a:rPr>
              <a:t>Single or Batch Appload</a:t>
            </a:r>
            <a:endParaRPr b="1" sz="2000">
              <a:solidFill>
                <a:srgbClr val="38BDF8"/>
              </a:solidFill>
              <a:latin typeface="Calibri"/>
              <a:ea typeface="Calibri"/>
              <a:cs typeface="Calibri"/>
              <a:sym typeface="Calibri"/>
            </a:endParaRPr>
          </a:p>
          <a:p>
            <a:pPr indent="0" lvl="0" marL="0" marR="0" rtl="0" algn="l">
              <a:spcBef>
                <a:spcPts val="0"/>
              </a:spcBef>
              <a:spcAft>
                <a:spcPts val="0"/>
              </a:spcAft>
              <a:buClr>
                <a:srgbClr val="38BDF8"/>
              </a:buClr>
              <a:buSzPts val="1600"/>
              <a:buFont typeface="Calibri"/>
              <a:buNone/>
            </a:pPr>
            <a:r>
              <a:t/>
            </a:r>
            <a:endParaRPr b="1" sz="1600">
              <a:solidFill>
                <a:srgbClr val="38BDF8"/>
              </a:solidFill>
              <a:latin typeface="Calibri"/>
              <a:ea typeface="Calibri"/>
              <a:cs typeface="Calibri"/>
              <a:sym typeface="Calibri"/>
            </a:endParaRPr>
          </a:p>
        </p:txBody>
      </p:sp>
      <p:sp>
        <p:nvSpPr>
          <p:cNvPr id="263" name="Google Shape;263;p10"/>
          <p:cNvSpPr/>
          <p:nvPr/>
        </p:nvSpPr>
        <p:spPr>
          <a:xfrm>
            <a:off x="6583680" y="3858768"/>
            <a:ext cx="47550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F8FAFC"/>
              </a:buClr>
              <a:buSzPts val="1300"/>
              <a:buFont typeface="Calibri"/>
              <a:buNone/>
            </a:pPr>
            <a:r>
              <a:t/>
            </a:r>
            <a:endParaRPr sz="1050">
              <a:solidFill>
                <a:schemeClr val="dk1"/>
              </a:solidFill>
              <a:latin typeface="Calibri"/>
              <a:ea typeface="Calibri"/>
              <a:cs typeface="Calibri"/>
              <a:sym typeface="Calibri"/>
            </a:endParaRPr>
          </a:p>
        </p:txBody>
      </p:sp>
      <p:sp>
        <p:nvSpPr>
          <p:cNvPr id="264" name="Google Shape;264;p10"/>
          <p:cNvSpPr/>
          <p:nvPr/>
        </p:nvSpPr>
        <p:spPr>
          <a:xfrm>
            <a:off x="548640" y="4608576"/>
            <a:ext cx="11091600" cy="1417200"/>
          </a:xfrm>
          <a:prstGeom prst="roundRect">
            <a:avLst>
              <a:gd fmla="val 5806" name="adj"/>
            </a:avLst>
          </a:prstGeom>
          <a:solidFill>
            <a:srgbClr val="1E293B"/>
          </a:solidFill>
          <a:ln>
            <a:noFill/>
          </a:ln>
          <a:effectLst>
            <a:outerShdw blurRad="101600" rotWithShape="0" algn="bl" dir="5400000" dist="38100">
              <a:srgbClr val="000000">
                <a:alpha val="349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5" name="Google Shape;265;p10"/>
          <p:cNvSpPr/>
          <p:nvPr/>
        </p:nvSpPr>
        <p:spPr>
          <a:xfrm>
            <a:off x="822960" y="4745736"/>
            <a:ext cx="18288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300"/>
              <a:buFont typeface="Calibri"/>
              <a:buNone/>
            </a:pPr>
            <a:r>
              <a:t/>
            </a:r>
            <a:endParaRPr sz="1000">
              <a:solidFill>
                <a:schemeClr val="dk1"/>
              </a:solidFill>
              <a:latin typeface="Calibri"/>
              <a:ea typeface="Calibri"/>
              <a:cs typeface="Calibri"/>
              <a:sym typeface="Calibri"/>
            </a:endParaRPr>
          </a:p>
        </p:txBody>
      </p:sp>
      <p:sp>
        <p:nvSpPr>
          <p:cNvPr id="266" name="Google Shape;266;p10"/>
          <p:cNvSpPr/>
          <p:nvPr/>
        </p:nvSpPr>
        <p:spPr>
          <a:xfrm>
            <a:off x="822960" y="5020056"/>
            <a:ext cx="47550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4A3B8"/>
              </a:buClr>
              <a:buSzPts val="1600"/>
              <a:buFont typeface="Calibri"/>
              <a:buNone/>
            </a:pPr>
            <a:r>
              <a:t/>
            </a:r>
            <a:endParaRPr sz="1400">
              <a:solidFill>
                <a:schemeClr val="dk1"/>
              </a:solidFill>
              <a:latin typeface="Calibri"/>
              <a:ea typeface="Calibri"/>
              <a:cs typeface="Calibri"/>
              <a:sym typeface="Calibri"/>
            </a:endParaRPr>
          </a:p>
        </p:txBody>
      </p:sp>
      <p:sp>
        <p:nvSpPr>
          <p:cNvPr id="267" name="Google Shape;267;p10"/>
          <p:cNvSpPr/>
          <p:nvPr/>
        </p:nvSpPr>
        <p:spPr>
          <a:xfrm>
            <a:off x="822960" y="5385816"/>
            <a:ext cx="47550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64748B"/>
              </a:buClr>
              <a:buSzPts val="1300"/>
              <a:buFont typeface="Calibri"/>
              <a:buNone/>
            </a:pPr>
            <a:r>
              <a:t/>
            </a:r>
            <a:endParaRPr sz="1050">
              <a:solidFill>
                <a:schemeClr val="dk1"/>
              </a:solidFill>
              <a:latin typeface="Calibri"/>
              <a:ea typeface="Calibri"/>
              <a:cs typeface="Calibri"/>
              <a:sym typeface="Calibri"/>
            </a:endParaRPr>
          </a:p>
        </p:txBody>
      </p:sp>
      <p:sp>
        <p:nvSpPr>
          <p:cNvPr id="268" name="Google Shape;268;p10"/>
          <p:cNvSpPr/>
          <p:nvPr/>
        </p:nvSpPr>
        <p:spPr>
          <a:xfrm>
            <a:off x="1993055" y="5065786"/>
            <a:ext cx="47550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4D399"/>
              </a:buClr>
              <a:buSzPts val="1300"/>
              <a:buFont typeface="Calibri"/>
              <a:buNone/>
            </a:pPr>
            <a:r>
              <a:t/>
            </a:r>
            <a:endParaRPr sz="1000">
              <a:solidFill>
                <a:schemeClr val="dk1"/>
              </a:solidFill>
              <a:latin typeface="Calibri"/>
              <a:ea typeface="Calibri"/>
              <a:cs typeface="Calibri"/>
              <a:sym typeface="Calibri"/>
            </a:endParaRPr>
          </a:p>
        </p:txBody>
      </p:sp>
      <p:sp>
        <p:nvSpPr>
          <p:cNvPr id="269" name="Google Shape;269;p10"/>
          <p:cNvSpPr/>
          <p:nvPr/>
        </p:nvSpPr>
        <p:spPr>
          <a:xfrm>
            <a:off x="6583680" y="5020056"/>
            <a:ext cx="47550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8BDF8"/>
              </a:buClr>
              <a:buSzPts val="1600"/>
              <a:buFont typeface="Calibri"/>
              <a:buNone/>
            </a:pPr>
            <a:r>
              <a:t/>
            </a:r>
            <a:endParaRPr b="1" sz="1600">
              <a:solidFill>
                <a:srgbClr val="38BDF8"/>
              </a:solidFill>
              <a:latin typeface="Calibri"/>
              <a:ea typeface="Calibri"/>
              <a:cs typeface="Calibri"/>
              <a:sym typeface="Calibri"/>
            </a:endParaRPr>
          </a:p>
        </p:txBody>
      </p:sp>
      <p:sp>
        <p:nvSpPr>
          <p:cNvPr id="270" name="Google Shape;270;p10"/>
          <p:cNvSpPr/>
          <p:nvPr/>
        </p:nvSpPr>
        <p:spPr>
          <a:xfrm>
            <a:off x="3215230" y="4921666"/>
            <a:ext cx="4755000" cy="5487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US" sz="2000">
                <a:solidFill>
                  <a:srgbClr val="38BDF8"/>
                </a:solidFill>
                <a:latin typeface="Calibri"/>
                <a:ea typeface="Calibri"/>
                <a:cs typeface="Calibri"/>
                <a:sym typeface="Calibri"/>
              </a:rPr>
              <a:t>Jobs </a:t>
            </a:r>
            <a:r>
              <a:rPr b="1" lang="en-US" sz="1800">
                <a:solidFill>
                  <a:srgbClr val="38BDF8"/>
                </a:solidFill>
                <a:latin typeface="Calibri"/>
                <a:ea typeface="Calibri"/>
                <a:cs typeface="Calibri"/>
                <a:sym typeface="Calibri"/>
              </a:rPr>
              <a:t>monitor</a:t>
            </a:r>
            <a:r>
              <a:rPr b="1" lang="en-US" sz="2000">
                <a:solidFill>
                  <a:srgbClr val="38BDF8"/>
                </a:solidFill>
                <a:latin typeface="Calibri"/>
                <a:ea typeface="Calibri"/>
                <a:cs typeface="Calibri"/>
                <a:sym typeface="Calibri"/>
              </a:rPr>
              <a:t> +logging for pipeline understanding and error detection</a:t>
            </a:r>
            <a:endParaRPr b="1" sz="2000">
              <a:solidFill>
                <a:srgbClr val="38BDF8"/>
              </a:solidFill>
              <a:latin typeface="Calibri"/>
              <a:ea typeface="Calibri"/>
              <a:cs typeface="Calibri"/>
              <a:sym typeface="Calibri"/>
            </a:endParaRPr>
          </a:p>
          <a:p>
            <a:pPr indent="0" lvl="0" marL="0" rtl="0" algn="l">
              <a:spcBef>
                <a:spcPts val="0"/>
              </a:spcBef>
              <a:spcAft>
                <a:spcPts val="0"/>
              </a:spcAft>
              <a:buClr>
                <a:srgbClr val="38BDF8"/>
              </a:buClr>
              <a:buSzPts val="1600"/>
              <a:buFont typeface="Calibri"/>
              <a:buNone/>
            </a:pPr>
            <a:r>
              <a:t/>
            </a:r>
            <a:endParaRPr b="1" sz="1600">
              <a:solidFill>
                <a:srgbClr val="38BDF8"/>
              </a:solidFill>
              <a:latin typeface="Calibri"/>
              <a:ea typeface="Calibri"/>
              <a:cs typeface="Calibri"/>
              <a:sym typeface="Calibri"/>
            </a:endParaRPr>
          </a:p>
        </p:txBody>
      </p:sp>
      <p:sp>
        <p:nvSpPr>
          <p:cNvPr id="271" name="Google Shape;271;p10"/>
          <p:cNvSpPr/>
          <p:nvPr/>
        </p:nvSpPr>
        <p:spPr>
          <a:xfrm>
            <a:off x="457200" y="6473952"/>
            <a:ext cx="73152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172A"/>
              </a:buClr>
              <a:buSzPts val="1300"/>
              <a:buFont typeface="Calibri"/>
              <a:buNone/>
            </a:pPr>
            <a:r>
              <a:rPr lang="en-US" sz="1300">
                <a:solidFill>
                  <a:srgbClr val="0F172A"/>
                </a:solidFill>
                <a:latin typeface="Calibri"/>
                <a:ea typeface="Calibri"/>
                <a:cs typeface="Calibri"/>
                <a:sym typeface="Calibri"/>
              </a:rPr>
              <a:t>07 / 15   •   Differentiators</a:t>
            </a:r>
            <a:endParaRPr sz="9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76" name="Shape 276"/>
        <p:cNvGrpSpPr/>
        <p:nvPr/>
      </p:nvGrpSpPr>
      <p:grpSpPr>
        <a:xfrm>
          <a:off x="0" y="0"/>
          <a:ext cx="0" cy="0"/>
          <a:chOff x="0" y="0"/>
          <a:chExt cx="0" cy="0"/>
        </a:xfrm>
      </p:grpSpPr>
      <p:pic>
        <p:nvPicPr>
          <p:cNvPr descr="image.png" id="277" name="Google Shape;277;p1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78" name="Google Shape;278;p11"/>
          <p:cNvSpPr/>
          <p:nvPr/>
        </p:nvSpPr>
        <p:spPr>
          <a:xfrm>
            <a:off x="548640" y="347472"/>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172A"/>
              </a:buClr>
              <a:buSzPts val="1300"/>
              <a:buFont typeface="Calibri"/>
              <a:buNone/>
            </a:pPr>
            <a:r>
              <a:rPr b="1" lang="en-US" sz="1300">
                <a:solidFill>
                  <a:srgbClr val="0F172A"/>
                </a:solidFill>
                <a:latin typeface="Calibri"/>
                <a:ea typeface="Calibri"/>
                <a:cs typeface="Calibri"/>
                <a:sym typeface="Calibri"/>
              </a:rPr>
              <a:t>OPPORTUNITIES</a:t>
            </a:r>
            <a:endParaRPr sz="1100">
              <a:solidFill>
                <a:schemeClr val="dk1"/>
              </a:solidFill>
              <a:latin typeface="Calibri"/>
              <a:ea typeface="Calibri"/>
              <a:cs typeface="Calibri"/>
              <a:sym typeface="Calibri"/>
            </a:endParaRPr>
          </a:p>
        </p:txBody>
      </p:sp>
      <p:sp>
        <p:nvSpPr>
          <p:cNvPr id="279" name="Google Shape;279;p11"/>
          <p:cNvSpPr/>
          <p:nvPr/>
        </p:nvSpPr>
        <p:spPr>
          <a:xfrm>
            <a:off x="548640" y="603504"/>
            <a:ext cx="11064240" cy="86868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0F172A"/>
              </a:buClr>
              <a:buSzPts val="3200"/>
              <a:buFont typeface="Calibri"/>
              <a:buNone/>
            </a:pPr>
            <a:r>
              <a:rPr b="1" lang="en-US" sz="3200">
                <a:solidFill>
                  <a:srgbClr val="0F172A"/>
                </a:solidFill>
                <a:latin typeface="Calibri"/>
                <a:ea typeface="Calibri"/>
                <a:cs typeface="Calibri"/>
                <a:sym typeface="Calibri"/>
              </a:rPr>
              <a:t>How will it solve the problem statement given?</a:t>
            </a:r>
            <a:endParaRPr sz="2700">
              <a:solidFill>
                <a:schemeClr val="dk1"/>
              </a:solidFill>
              <a:latin typeface="Calibri"/>
              <a:ea typeface="Calibri"/>
              <a:cs typeface="Calibri"/>
              <a:sym typeface="Calibri"/>
            </a:endParaRPr>
          </a:p>
        </p:txBody>
      </p:sp>
      <p:sp>
        <p:nvSpPr>
          <p:cNvPr id="280" name="Google Shape;280;p11"/>
          <p:cNvSpPr/>
          <p:nvPr/>
        </p:nvSpPr>
        <p:spPr>
          <a:xfrm>
            <a:off x="548640" y="1691640"/>
            <a:ext cx="5468112" cy="2240280"/>
          </a:xfrm>
          <a:prstGeom prst="roundRect">
            <a:avLst>
              <a:gd fmla="val 3673" name="adj"/>
            </a:avLst>
          </a:prstGeom>
          <a:solidFill>
            <a:srgbClr val="1E293B"/>
          </a:solidFill>
          <a:ln>
            <a:noFill/>
          </a:ln>
          <a:effectLst>
            <a:outerShdw blurRad="1016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1" name="Google Shape;281;p11"/>
          <p:cNvSpPr/>
          <p:nvPr/>
        </p:nvSpPr>
        <p:spPr>
          <a:xfrm>
            <a:off x="804672" y="1920240"/>
            <a:ext cx="457200" cy="457200"/>
          </a:xfrm>
          <a:prstGeom prst="ellipse">
            <a:avLst/>
          </a:prstGeom>
          <a:solidFill>
            <a:srgbClr val="34D3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2" name="Google Shape;282;p11"/>
          <p:cNvSpPr/>
          <p:nvPr/>
        </p:nvSpPr>
        <p:spPr>
          <a:xfrm>
            <a:off x="804672" y="1920240"/>
            <a:ext cx="457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2200"/>
              <a:buFont typeface="Calibri"/>
              <a:buNone/>
            </a:pPr>
            <a:r>
              <a:rPr b="1" lang="en-US" sz="2200">
                <a:solidFill>
                  <a:srgbClr val="0F172A"/>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
        <p:nvSpPr>
          <p:cNvPr id="283" name="Google Shape;283;p11"/>
          <p:cNvSpPr/>
          <p:nvPr/>
        </p:nvSpPr>
        <p:spPr>
          <a:xfrm>
            <a:off x="804672" y="2560320"/>
            <a:ext cx="4956048"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8FAFC"/>
              </a:buClr>
              <a:buSzPts val="1600"/>
              <a:buFont typeface="Calibri"/>
              <a:buNone/>
            </a:pPr>
            <a:r>
              <a:rPr b="1" lang="en-US" sz="1600">
                <a:solidFill>
                  <a:srgbClr val="F8FAFC"/>
                </a:solidFill>
                <a:latin typeface="Calibri"/>
                <a:ea typeface="Calibri"/>
                <a:cs typeface="Calibri"/>
                <a:sym typeface="Calibri"/>
              </a:rPr>
              <a:t>Eliminates 95% of Manual Onboarding Effort</a:t>
            </a:r>
            <a:endParaRPr sz="1400">
              <a:solidFill>
                <a:schemeClr val="dk1"/>
              </a:solidFill>
              <a:latin typeface="Calibri"/>
              <a:ea typeface="Calibri"/>
              <a:cs typeface="Calibri"/>
              <a:sym typeface="Calibri"/>
            </a:endParaRPr>
          </a:p>
        </p:txBody>
      </p:sp>
      <p:sp>
        <p:nvSpPr>
          <p:cNvPr id="284" name="Google Shape;284;p11"/>
          <p:cNvSpPr/>
          <p:nvPr/>
        </p:nvSpPr>
        <p:spPr>
          <a:xfrm>
            <a:off x="804672" y="3200400"/>
            <a:ext cx="4956048"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12000"/>
              </a:lnSpc>
              <a:spcBef>
                <a:spcPts val="0"/>
              </a:spcBef>
              <a:spcAft>
                <a:spcPts val="0"/>
              </a:spcAft>
              <a:buClr>
                <a:srgbClr val="94A3B8"/>
              </a:buClr>
              <a:buSzPts val="1300"/>
              <a:buFont typeface="Calibri"/>
              <a:buNone/>
            </a:pPr>
            <a:r>
              <a:rPr lang="en-US" sz="1300">
                <a:solidFill>
                  <a:srgbClr val="94A3B8"/>
                </a:solidFill>
                <a:latin typeface="Calibri"/>
                <a:ea typeface="Calibri"/>
                <a:cs typeface="Calibri"/>
                <a:sym typeface="Calibri"/>
              </a:rPr>
              <a:t>Replaces manual web searching, PDF downloading, and spreadsheet copy-pasting with an automated 10-node agent pipeline executing in under 30 seconds.</a:t>
            </a:r>
            <a:endParaRPr sz="1050">
              <a:solidFill>
                <a:schemeClr val="dk1"/>
              </a:solidFill>
              <a:latin typeface="Calibri"/>
              <a:ea typeface="Calibri"/>
              <a:cs typeface="Calibri"/>
              <a:sym typeface="Calibri"/>
            </a:endParaRPr>
          </a:p>
        </p:txBody>
      </p:sp>
      <p:sp>
        <p:nvSpPr>
          <p:cNvPr id="285" name="Google Shape;285;p11"/>
          <p:cNvSpPr/>
          <p:nvPr/>
        </p:nvSpPr>
        <p:spPr>
          <a:xfrm>
            <a:off x="6181344" y="1691640"/>
            <a:ext cx="5468112" cy="2240280"/>
          </a:xfrm>
          <a:prstGeom prst="roundRect">
            <a:avLst>
              <a:gd fmla="val 3673" name="adj"/>
            </a:avLst>
          </a:prstGeom>
          <a:solidFill>
            <a:srgbClr val="1E293B"/>
          </a:solidFill>
          <a:ln>
            <a:noFill/>
          </a:ln>
          <a:effectLst>
            <a:outerShdw blurRad="1016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6" name="Google Shape;286;p11"/>
          <p:cNvSpPr/>
          <p:nvPr/>
        </p:nvSpPr>
        <p:spPr>
          <a:xfrm>
            <a:off x="6437376" y="1920240"/>
            <a:ext cx="457200" cy="457200"/>
          </a:xfrm>
          <a:prstGeom prst="ellipse">
            <a:avLst/>
          </a:prstGeom>
          <a:solidFill>
            <a:srgbClr val="34D3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7" name="Google Shape;287;p11"/>
          <p:cNvSpPr/>
          <p:nvPr/>
        </p:nvSpPr>
        <p:spPr>
          <a:xfrm>
            <a:off x="6437376" y="1920240"/>
            <a:ext cx="457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2200"/>
              <a:buFont typeface="Calibri"/>
              <a:buNone/>
            </a:pPr>
            <a:r>
              <a:rPr b="1" lang="en-US" sz="2200">
                <a:solidFill>
                  <a:srgbClr val="0F172A"/>
                </a:solidFill>
                <a:latin typeface="Calibri"/>
                <a:ea typeface="Calibri"/>
                <a:cs typeface="Calibri"/>
                <a:sym typeface="Calibri"/>
              </a:rPr>
              <a:t>2</a:t>
            </a:r>
            <a:endParaRPr sz="1800">
              <a:solidFill>
                <a:schemeClr val="dk1"/>
              </a:solidFill>
              <a:latin typeface="Calibri"/>
              <a:ea typeface="Calibri"/>
              <a:cs typeface="Calibri"/>
              <a:sym typeface="Calibri"/>
            </a:endParaRPr>
          </a:p>
        </p:txBody>
      </p:sp>
      <p:sp>
        <p:nvSpPr>
          <p:cNvPr id="288" name="Google Shape;288;p11"/>
          <p:cNvSpPr/>
          <p:nvPr/>
        </p:nvSpPr>
        <p:spPr>
          <a:xfrm>
            <a:off x="6437376" y="2560320"/>
            <a:ext cx="4956048"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8FAFC"/>
              </a:buClr>
              <a:buSzPts val="1600"/>
              <a:buFont typeface="Calibri"/>
              <a:buNone/>
            </a:pPr>
            <a:r>
              <a:rPr b="1" lang="en-US" sz="1600">
                <a:solidFill>
                  <a:srgbClr val="F8FAFC"/>
                </a:solidFill>
                <a:latin typeface="Calibri"/>
                <a:ea typeface="Calibri"/>
                <a:cs typeface="Calibri"/>
                <a:sym typeface="Calibri"/>
              </a:rPr>
              <a:t>Guarantees Compliance with Unilog's 252-Column Standard</a:t>
            </a:r>
            <a:endParaRPr sz="1400">
              <a:solidFill>
                <a:schemeClr val="dk1"/>
              </a:solidFill>
              <a:latin typeface="Calibri"/>
              <a:ea typeface="Calibri"/>
              <a:cs typeface="Calibri"/>
              <a:sym typeface="Calibri"/>
            </a:endParaRPr>
          </a:p>
        </p:txBody>
      </p:sp>
      <p:sp>
        <p:nvSpPr>
          <p:cNvPr id="289" name="Google Shape;289;p11"/>
          <p:cNvSpPr/>
          <p:nvPr/>
        </p:nvSpPr>
        <p:spPr>
          <a:xfrm>
            <a:off x="6437376" y="3200400"/>
            <a:ext cx="4956048"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12000"/>
              </a:lnSpc>
              <a:spcBef>
                <a:spcPts val="0"/>
              </a:spcBef>
              <a:spcAft>
                <a:spcPts val="0"/>
              </a:spcAft>
              <a:buClr>
                <a:srgbClr val="94A3B8"/>
              </a:buClr>
              <a:buSzPts val="1300"/>
              <a:buFont typeface="Calibri"/>
              <a:buNone/>
            </a:pPr>
            <a:r>
              <a:rPr lang="en-US" sz="1300">
                <a:solidFill>
                  <a:srgbClr val="94A3B8"/>
                </a:solidFill>
                <a:latin typeface="Calibri"/>
                <a:ea typeface="Calibri"/>
                <a:cs typeface="Calibri"/>
                <a:sym typeface="Calibri"/>
              </a:rPr>
              <a:t>Maps extracted attributes directly into Unilog's delivery CSV structure (LABEL 1..50, VALUE 1..50, UOM 1..50), eliminating formatting errors.</a:t>
            </a:r>
            <a:endParaRPr sz="1050">
              <a:solidFill>
                <a:schemeClr val="dk1"/>
              </a:solidFill>
              <a:latin typeface="Calibri"/>
              <a:ea typeface="Calibri"/>
              <a:cs typeface="Calibri"/>
              <a:sym typeface="Calibri"/>
            </a:endParaRPr>
          </a:p>
        </p:txBody>
      </p:sp>
      <p:sp>
        <p:nvSpPr>
          <p:cNvPr id="290" name="Google Shape;290;p11"/>
          <p:cNvSpPr/>
          <p:nvPr/>
        </p:nvSpPr>
        <p:spPr>
          <a:xfrm>
            <a:off x="548640" y="4096512"/>
            <a:ext cx="5468112" cy="2240280"/>
          </a:xfrm>
          <a:prstGeom prst="roundRect">
            <a:avLst>
              <a:gd fmla="val 3673" name="adj"/>
            </a:avLst>
          </a:prstGeom>
          <a:solidFill>
            <a:srgbClr val="1E293B"/>
          </a:solidFill>
          <a:ln>
            <a:noFill/>
          </a:ln>
          <a:effectLst>
            <a:outerShdw blurRad="1016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1" name="Google Shape;291;p11"/>
          <p:cNvSpPr/>
          <p:nvPr/>
        </p:nvSpPr>
        <p:spPr>
          <a:xfrm>
            <a:off x="804672" y="4325112"/>
            <a:ext cx="457200" cy="457200"/>
          </a:xfrm>
          <a:prstGeom prst="ellipse">
            <a:avLst/>
          </a:prstGeom>
          <a:solidFill>
            <a:srgbClr val="34D3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2" name="Google Shape;292;p11"/>
          <p:cNvSpPr/>
          <p:nvPr/>
        </p:nvSpPr>
        <p:spPr>
          <a:xfrm>
            <a:off x="804672" y="4325112"/>
            <a:ext cx="457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2200"/>
              <a:buFont typeface="Calibri"/>
              <a:buNone/>
            </a:pPr>
            <a:r>
              <a:rPr b="1" lang="en-US" sz="2200">
                <a:solidFill>
                  <a:srgbClr val="0F172A"/>
                </a:solidFill>
                <a:latin typeface="Calibri"/>
                <a:ea typeface="Calibri"/>
                <a:cs typeface="Calibri"/>
                <a:sym typeface="Calibri"/>
              </a:rPr>
              <a:t>3</a:t>
            </a:r>
            <a:endParaRPr sz="1800">
              <a:solidFill>
                <a:schemeClr val="dk1"/>
              </a:solidFill>
              <a:latin typeface="Calibri"/>
              <a:ea typeface="Calibri"/>
              <a:cs typeface="Calibri"/>
              <a:sym typeface="Calibri"/>
            </a:endParaRPr>
          </a:p>
        </p:txBody>
      </p:sp>
      <p:sp>
        <p:nvSpPr>
          <p:cNvPr id="293" name="Google Shape;293;p11"/>
          <p:cNvSpPr/>
          <p:nvPr/>
        </p:nvSpPr>
        <p:spPr>
          <a:xfrm>
            <a:off x="804675" y="4626039"/>
            <a:ext cx="4956000" cy="97920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8FAFC"/>
              </a:buClr>
              <a:buSzPts val="1600"/>
              <a:buFont typeface="Calibri"/>
              <a:buNone/>
            </a:pPr>
            <a:r>
              <a:rPr b="1" lang="en-US" sz="1600">
                <a:solidFill>
                  <a:srgbClr val="F8FAFC"/>
                </a:solidFill>
                <a:latin typeface="Calibri"/>
                <a:ea typeface="Calibri"/>
                <a:cs typeface="Calibri"/>
                <a:sym typeface="Calibri"/>
              </a:rPr>
              <a:t>Self-Learning Abbreviation Loop</a:t>
            </a:r>
            <a:endParaRPr sz="1400">
              <a:solidFill>
                <a:schemeClr val="dk1"/>
              </a:solidFill>
              <a:latin typeface="Calibri"/>
              <a:ea typeface="Calibri"/>
              <a:cs typeface="Calibri"/>
              <a:sym typeface="Calibri"/>
            </a:endParaRPr>
          </a:p>
        </p:txBody>
      </p:sp>
      <p:sp>
        <p:nvSpPr>
          <p:cNvPr id="294" name="Google Shape;294;p11"/>
          <p:cNvSpPr/>
          <p:nvPr/>
        </p:nvSpPr>
        <p:spPr>
          <a:xfrm>
            <a:off x="804672" y="5605272"/>
            <a:ext cx="4956048"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12000"/>
              </a:lnSpc>
              <a:spcBef>
                <a:spcPts val="0"/>
              </a:spcBef>
              <a:spcAft>
                <a:spcPts val="0"/>
              </a:spcAft>
              <a:buClr>
                <a:srgbClr val="94A3B8"/>
              </a:buClr>
              <a:buSzPts val="1300"/>
              <a:buFont typeface="Calibri"/>
              <a:buNone/>
            </a:pPr>
            <a:r>
              <a:rPr lang="en-US" sz="1300">
                <a:solidFill>
                  <a:srgbClr val="94A3B8"/>
                </a:solidFill>
                <a:latin typeface="Calibri"/>
                <a:ea typeface="Calibri"/>
                <a:cs typeface="Calibri"/>
                <a:sym typeface="Calibri"/>
              </a:rPr>
              <a:t>Automatically expands industrial supplier shorthand ('SS'→'Stainless Steel', 'MTR'→'Motor', 'APPDE'→'Whirlpool Corporation') into clean master catalog data.</a:t>
            </a:r>
            <a:endParaRPr sz="1050">
              <a:solidFill>
                <a:schemeClr val="dk1"/>
              </a:solidFill>
              <a:latin typeface="Calibri"/>
              <a:ea typeface="Calibri"/>
              <a:cs typeface="Calibri"/>
              <a:sym typeface="Calibri"/>
            </a:endParaRPr>
          </a:p>
        </p:txBody>
      </p:sp>
      <p:sp>
        <p:nvSpPr>
          <p:cNvPr id="295" name="Google Shape;295;p11"/>
          <p:cNvSpPr/>
          <p:nvPr/>
        </p:nvSpPr>
        <p:spPr>
          <a:xfrm>
            <a:off x="6181344" y="4096512"/>
            <a:ext cx="5468112" cy="2240280"/>
          </a:xfrm>
          <a:prstGeom prst="roundRect">
            <a:avLst>
              <a:gd fmla="val 3673" name="adj"/>
            </a:avLst>
          </a:prstGeom>
          <a:solidFill>
            <a:srgbClr val="1E293B"/>
          </a:solidFill>
          <a:ln>
            <a:noFill/>
          </a:ln>
          <a:effectLst>
            <a:outerShdw blurRad="1016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6" name="Google Shape;296;p11"/>
          <p:cNvSpPr/>
          <p:nvPr/>
        </p:nvSpPr>
        <p:spPr>
          <a:xfrm>
            <a:off x="6437376" y="4325112"/>
            <a:ext cx="457200" cy="457200"/>
          </a:xfrm>
          <a:prstGeom prst="ellipse">
            <a:avLst/>
          </a:prstGeom>
          <a:solidFill>
            <a:srgbClr val="34D3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7" name="Google Shape;297;p11"/>
          <p:cNvSpPr/>
          <p:nvPr/>
        </p:nvSpPr>
        <p:spPr>
          <a:xfrm>
            <a:off x="6437376" y="4325112"/>
            <a:ext cx="457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2200"/>
              <a:buFont typeface="Calibri"/>
              <a:buNone/>
            </a:pPr>
            <a:r>
              <a:rPr b="1" lang="en-US" sz="2200">
                <a:solidFill>
                  <a:srgbClr val="0F172A"/>
                </a:solidFill>
                <a:latin typeface="Calibri"/>
                <a:ea typeface="Calibri"/>
                <a:cs typeface="Calibri"/>
                <a:sym typeface="Calibri"/>
              </a:rPr>
              <a:t>4</a:t>
            </a:r>
            <a:endParaRPr sz="1800">
              <a:solidFill>
                <a:schemeClr val="dk1"/>
              </a:solidFill>
              <a:latin typeface="Calibri"/>
              <a:ea typeface="Calibri"/>
              <a:cs typeface="Calibri"/>
              <a:sym typeface="Calibri"/>
            </a:endParaRPr>
          </a:p>
        </p:txBody>
      </p:sp>
      <p:sp>
        <p:nvSpPr>
          <p:cNvPr id="298" name="Google Shape;298;p11"/>
          <p:cNvSpPr/>
          <p:nvPr/>
        </p:nvSpPr>
        <p:spPr>
          <a:xfrm>
            <a:off x="6437375" y="4096504"/>
            <a:ext cx="4956000" cy="150870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8FAFC"/>
              </a:buClr>
              <a:buSzPts val="1600"/>
              <a:buFont typeface="Calibri"/>
              <a:buNone/>
            </a:pPr>
            <a:r>
              <a:rPr b="1" lang="en-US" sz="1600">
                <a:solidFill>
                  <a:srgbClr val="F8FAFC"/>
                </a:solidFill>
                <a:latin typeface="Calibri"/>
                <a:ea typeface="Calibri"/>
                <a:cs typeface="Calibri"/>
                <a:sym typeface="Calibri"/>
              </a:rPr>
              <a:t>Solves Edge-Case Data Gaps via Multi-Tier Sourcing</a:t>
            </a:r>
            <a:endParaRPr sz="1400">
              <a:solidFill>
                <a:schemeClr val="dk1"/>
              </a:solidFill>
              <a:latin typeface="Calibri"/>
              <a:ea typeface="Calibri"/>
              <a:cs typeface="Calibri"/>
              <a:sym typeface="Calibri"/>
            </a:endParaRPr>
          </a:p>
        </p:txBody>
      </p:sp>
      <p:sp>
        <p:nvSpPr>
          <p:cNvPr id="299" name="Google Shape;299;p11"/>
          <p:cNvSpPr/>
          <p:nvPr/>
        </p:nvSpPr>
        <p:spPr>
          <a:xfrm>
            <a:off x="6437376" y="5605272"/>
            <a:ext cx="4956048"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12000"/>
              </a:lnSpc>
              <a:spcBef>
                <a:spcPts val="0"/>
              </a:spcBef>
              <a:spcAft>
                <a:spcPts val="0"/>
              </a:spcAft>
              <a:buClr>
                <a:srgbClr val="94A3B8"/>
              </a:buClr>
              <a:buSzPts val="1300"/>
              <a:buFont typeface="Calibri"/>
              <a:buNone/>
            </a:pPr>
            <a:r>
              <a:rPr lang="en-US" sz="1300">
                <a:solidFill>
                  <a:srgbClr val="94A3B8"/>
                </a:solidFill>
                <a:latin typeface="Calibri"/>
                <a:ea typeface="Calibri"/>
                <a:cs typeface="Calibri"/>
                <a:sym typeface="Calibri"/>
              </a:rPr>
              <a:t>Falls back gracefully from primary OEM PDFs to verified industrial distributor pages (Grainger, Zoro, McMaster-Carr) when primary documentation is absent.</a:t>
            </a:r>
            <a:endParaRPr sz="1050">
              <a:solidFill>
                <a:schemeClr val="dk1"/>
              </a:solidFill>
              <a:latin typeface="Calibri"/>
              <a:ea typeface="Calibri"/>
              <a:cs typeface="Calibri"/>
              <a:sym typeface="Calibri"/>
            </a:endParaRPr>
          </a:p>
        </p:txBody>
      </p:sp>
      <p:sp>
        <p:nvSpPr>
          <p:cNvPr id="300" name="Google Shape;300;p11"/>
          <p:cNvSpPr/>
          <p:nvPr/>
        </p:nvSpPr>
        <p:spPr>
          <a:xfrm>
            <a:off x="45720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172A"/>
              </a:buClr>
              <a:buSzPts val="1300"/>
              <a:buFont typeface="Calibri"/>
              <a:buNone/>
            </a:pPr>
            <a:r>
              <a:rPr lang="en-US" sz="1300">
                <a:solidFill>
                  <a:srgbClr val="0F172A"/>
                </a:solidFill>
                <a:latin typeface="Calibri"/>
                <a:ea typeface="Calibri"/>
                <a:cs typeface="Calibri"/>
                <a:sym typeface="Calibri"/>
              </a:rPr>
              <a:t>08 / 15   •   Problem Resolution</a:t>
            </a:r>
            <a:endParaRPr sz="9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305" name="Shape 305"/>
        <p:cNvGrpSpPr/>
        <p:nvPr/>
      </p:nvGrpSpPr>
      <p:grpSpPr>
        <a:xfrm>
          <a:off x="0" y="0"/>
          <a:ext cx="0" cy="0"/>
          <a:chOff x="0" y="0"/>
          <a:chExt cx="0" cy="0"/>
        </a:xfrm>
      </p:grpSpPr>
      <p:pic>
        <p:nvPicPr>
          <p:cNvPr descr="image.png" id="306" name="Google Shape;306;p1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07" name="Google Shape;307;p12"/>
          <p:cNvSpPr/>
          <p:nvPr/>
        </p:nvSpPr>
        <p:spPr>
          <a:xfrm>
            <a:off x="548640" y="347472"/>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172A"/>
              </a:buClr>
              <a:buSzPts val="1300"/>
              <a:buFont typeface="Calibri"/>
              <a:buNone/>
            </a:pPr>
            <a:r>
              <a:rPr b="1" lang="en-US" sz="1300">
                <a:solidFill>
                  <a:srgbClr val="0F172A"/>
                </a:solidFill>
                <a:latin typeface="Calibri"/>
                <a:ea typeface="Calibri"/>
                <a:cs typeface="Calibri"/>
                <a:sym typeface="Calibri"/>
              </a:rPr>
              <a:t>OPPORTUNITIES</a:t>
            </a:r>
            <a:endParaRPr sz="1100">
              <a:solidFill>
                <a:schemeClr val="dk1"/>
              </a:solidFill>
              <a:latin typeface="Calibri"/>
              <a:ea typeface="Calibri"/>
              <a:cs typeface="Calibri"/>
              <a:sym typeface="Calibri"/>
            </a:endParaRPr>
          </a:p>
        </p:txBody>
      </p:sp>
      <p:sp>
        <p:nvSpPr>
          <p:cNvPr id="308" name="Google Shape;308;p12"/>
          <p:cNvSpPr/>
          <p:nvPr/>
        </p:nvSpPr>
        <p:spPr>
          <a:xfrm>
            <a:off x="548640" y="603504"/>
            <a:ext cx="11064240" cy="86868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0F172A"/>
              </a:buClr>
              <a:buSzPts val="3200"/>
              <a:buFont typeface="Calibri"/>
              <a:buNone/>
            </a:pPr>
            <a:r>
              <a:rPr b="1" lang="en-US" sz="3200">
                <a:solidFill>
                  <a:srgbClr val="0F172A"/>
                </a:solidFill>
                <a:latin typeface="Calibri"/>
                <a:ea typeface="Calibri"/>
                <a:cs typeface="Calibri"/>
                <a:sym typeface="Calibri"/>
              </a:rPr>
              <a:t>Unique Selling Propositions</a:t>
            </a:r>
            <a:endParaRPr sz="3000">
              <a:solidFill>
                <a:schemeClr val="dk1"/>
              </a:solidFill>
              <a:latin typeface="Calibri"/>
              <a:ea typeface="Calibri"/>
              <a:cs typeface="Calibri"/>
              <a:sym typeface="Calibri"/>
            </a:endParaRPr>
          </a:p>
        </p:txBody>
      </p:sp>
      <p:sp>
        <p:nvSpPr>
          <p:cNvPr id="309" name="Google Shape;309;p12"/>
          <p:cNvSpPr/>
          <p:nvPr/>
        </p:nvSpPr>
        <p:spPr>
          <a:xfrm>
            <a:off x="548640" y="1737360"/>
            <a:ext cx="3648456" cy="4160520"/>
          </a:xfrm>
          <a:prstGeom prst="roundRect">
            <a:avLst>
              <a:gd fmla="val 2256" name="adj"/>
            </a:avLst>
          </a:prstGeom>
          <a:solidFill>
            <a:srgbClr val="16213A"/>
          </a:solidFill>
          <a:ln>
            <a:noFill/>
          </a:ln>
          <a:effectLst>
            <a:outerShdw blurRad="1016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0" name="Google Shape;310;p12"/>
          <p:cNvSpPr/>
          <p:nvPr/>
        </p:nvSpPr>
        <p:spPr>
          <a:xfrm>
            <a:off x="804672" y="1965960"/>
            <a:ext cx="3136392"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4D399"/>
              </a:buClr>
              <a:buSzPts val="3200"/>
              <a:buFont typeface="Calibri"/>
              <a:buNone/>
            </a:pPr>
            <a:r>
              <a:rPr b="1" lang="en-US" sz="3200">
                <a:solidFill>
                  <a:srgbClr val="34D399"/>
                </a:solidFill>
                <a:latin typeface="Calibri"/>
                <a:ea typeface="Calibri"/>
                <a:cs typeface="Calibri"/>
                <a:sym typeface="Calibri"/>
              </a:rPr>
              <a:t>#1</a:t>
            </a:r>
            <a:endParaRPr sz="4000">
              <a:solidFill>
                <a:schemeClr val="dk1"/>
              </a:solidFill>
              <a:latin typeface="Calibri"/>
              <a:ea typeface="Calibri"/>
              <a:cs typeface="Calibri"/>
              <a:sym typeface="Calibri"/>
            </a:endParaRPr>
          </a:p>
        </p:txBody>
      </p:sp>
      <p:sp>
        <p:nvSpPr>
          <p:cNvPr id="311" name="Google Shape;311;p12"/>
          <p:cNvSpPr/>
          <p:nvPr/>
        </p:nvSpPr>
        <p:spPr>
          <a:xfrm>
            <a:off x="804672" y="2880360"/>
            <a:ext cx="3136392" cy="82296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38BDF8"/>
              </a:buClr>
              <a:buSzPts val="1600"/>
              <a:buFont typeface="Calibri"/>
              <a:buNone/>
            </a:pPr>
            <a:r>
              <a:rPr b="1" lang="en-US" sz="1600">
                <a:solidFill>
                  <a:srgbClr val="38BDF8"/>
                </a:solidFill>
                <a:latin typeface="Calibri"/>
                <a:ea typeface="Calibri"/>
                <a:cs typeface="Calibri"/>
                <a:sym typeface="Calibri"/>
              </a:rPr>
              <a:t>OEM-Locked Sourcing Guardrails</a:t>
            </a:r>
            <a:endParaRPr sz="1550">
              <a:solidFill>
                <a:schemeClr val="dk1"/>
              </a:solidFill>
              <a:latin typeface="Calibri"/>
              <a:ea typeface="Calibri"/>
              <a:cs typeface="Calibri"/>
              <a:sym typeface="Calibri"/>
            </a:endParaRPr>
          </a:p>
        </p:txBody>
      </p:sp>
      <p:sp>
        <p:nvSpPr>
          <p:cNvPr id="312" name="Google Shape;312;p12"/>
          <p:cNvSpPr/>
          <p:nvPr/>
        </p:nvSpPr>
        <p:spPr>
          <a:xfrm>
            <a:off x="804672" y="3749040"/>
            <a:ext cx="3136392"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4A3B8"/>
              </a:buClr>
              <a:buSzPts val="1300"/>
              <a:buFont typeface="Calibri"/>
              <a:buNone/>
            </a:pPr>
            <a:r>
              <a:rPr b="1" i="1" lang="en-US" sz="1300">
                <a:solidFill>
                  <a:srgbClr val="94A3B8"/>
                </a:solidFill>
                <a:latin typeface="Calibri"/>
                <a:ea typeface="Calibri"/>
                <a:cs typeface="Calibri"/>
                <a:sym typeface="Calibri"/>
              </a:rPr>
              <a:t>Zero E-Commerce Noise</a:t>
            </a:r>
            <a:endParaRPr sz="1050">
              <a:solidFill>
                <a:schemeClr val="dk1"/>
              </a:solidFill>
              <a:latin typeface="Calibri"/>
              <a:ea typeface="Calibri"/>
              <a:cs typeface="Calibri"/>
              <a:sym typeface="Calibri"/>
            </a:endParaRPr>
          </a:p>
        </p:txBody>
      </p:sp>
      <p:sp>
        <p:nvSpPr>
          <p:cNvPr id="313" name="Google Shape;313;p12"/>
          <p:cNvSpPr/>
          <p:nvPr/>
        </p:nvSpPr>
        <p:spPr>
          <a:xfrm>
            <a:off x="804672" y="4206240"/>
            <a:ext cx="3136392" cy="155448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F8FAFC"/>
              </a:buClr>
              <a:buSzPts val="1300"/>
              <a:buFont typeface="Calibri"/>
              <a:buNone/>
            </a:pPr>
            <a:r>
              <a:rPr lang="en-US" sz="1300">
                <a:solidFill>
                  <a:srgbClr val="F8FAFC"/>
                </a:solidFill>
                <a:latin typeface="Calibri"/>
                <a:ea typeface="Calibri"/>
                <a:cs typeface="Calibri"/>
                <a:sym typeface="Calibri"/>
              </a:rPr>
              <a:t>First product intelligence pipeline to enforce strict manufacturer domain locking (whirlpool.com, se.com), guaranteeing 0 marketplace hallucinations.</a:t>
            </a:r>
            <a:endParaRPr sz="1100">
              <a:solidFill>
                <a:schemeClr val="dk1"/>
              </a:solidFill>
              <a:latin typeface="Calibri"/>
              <a:ea typeface="Calibri"/>
              <a:cs typeface="Calibri"/>
              <a:sym typeface="Calibri"/>
            </a:endParaRPr>
          </a:p>
        </p:txBody>
      </p:sp>
      <p:sp>
        <p:nvSpPr>
          <p:cNvPr id="314" name="Google Shape;314;p12"/>
          <p:cNvSpPr/>
          <p:nvPr/>
        </p:nvSpPr>
        <p:spPr>
          <a:xfrm>
            <a:off x="4315968" y="1737360"/>
            <a:ext cx="3648456" cy="4160520"/>
          </a:xfrm>
          <a:prstGeom prst="roundRect">
            <a:avLst>
              <a:gd fmla="val 2256" name="adj"/>
            </a:avLst>
          </a:prstGeom>
          <a:solidFill>
            <a:srgbClr val="1E293B"/>
          </a:solidFill>
          <a:ln>
            <a:noFill/>
          </a:ln>
          <a:effectLst>
            <a:outerShdw blurRad="1016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5" name="Google Shape;315;p12"/>
          <p:cNvSpPr/>
          <p:nvPr/>
        </p:nvSpPr>
        <p:spPr>
          <a:xfrm>
            <a:off x="4572000" y="1965960"/>
            <a:ext cx="3136392"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4D399"/>
              </a:buClr>
              <a:buSzPts val="3200"/>
              <a:buFont typeface="Calibri"/>
              <a:buNone/>
            </a:pPr>
            <a:r>
              <a:rPr b="1" lang="en-US" sz="3200">
                <a:solidFill>
                  <a:srgbClr val="34D399"/>
                </a:solidFill>
                <a:latin typeface="Calibri"/>
                <a:ea typeface="Calibri"/>
                <a:cs typeface="Calibri"/>
                <a:sym typeface="Calibri"/>
              </a:rPr>
              <a:t>#2</a:t>
            </a:r>
            <a:endParaRPr sz="4000">
              <a:solidFill>
                <a:schemeClr val="dk1"/>
              </a:solidFill>
              <a:latin typeface="Calibri"/>
              <a:ea typeface="Calibri"/>
              <a:cs typeface="Calibri"/>
              <a:sym typeface="Calibri"/>
            </a:endParaRPr>
          </a:p>
        </p:txBody>
      </p:sp>
      <p:sp>
        <p:nvSpPr>
          <p:cNvPr id="316" name="Google Shape;316;p12"/>
          <p:cNvSpPr/>
          <p:nvPr/>
        </p:nvSpPr>
        <p:spPr>
          <a:xfrm>
            <a:off x="4572000" y="2880360"/>
            <a:ext cx="3136392" cy="82296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38BDF8"/>
              </a:buClr>
              <a:buSzPts val="1600"/>
              <a:buFont typeface="Calibri"/>
              <a:buNone/>
            </a:pPr>
            <a:r>
              <a:rPr b="1" lang="en-US" sz="1600">
                <a:solidFill>
                  <a:srgbClr val="38BDF8"/>
                </a:solidFill>
                <a:latin typeface="Calibri"/>
                <a:ea typeface="Calibri"/>
                <a:cs typeface="Calibri"/>
                <a:sym typeface="Calibri"/>
              </a:rPr>
              <a:t>Interactive 5-Stage Human Steering Bar</a:t>
            </a:r>
            <a:endParaRPr sz="1550">
              <a:solidFill>
                <a:schemeClr val="dk1"/>
              </a:solidFill>
              <a:latin typeface="Calibri"/>
              <a:ea typeface="Calibri"/>
              <a:cs typeface="Calibri"/>
              <a:sym typeface="Calibri"/>
            </a:endParaRPr>
          </a:p>
        </p:txBody>
      </p:sp>
      <p:sp>
        <p:nvSpPr>
          <p:cNvPr id="317" name="Google Shape;317;p12"/>
          <p:cNvSpPr/>
          <p:nvPr/>
        </p:nvSpPr>
        <p:spPr>
          <a:xfrm>
            <a:off x="4572000" y="3749040"/>
            <a:ext cx="3136392"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4A3B8"/>
              </a:buClr>
              <a:buSzPts val="1300"/>
              <a:buFont typeface="Calibri"/>
              <a:buNone/>
            </a:pPr>
            <a:r>
              <a:rPr b="1" i="1" lang="en-US" sz="1300">
                <a:solidFill>
                  <a:srgbClr val="94A3B8"/>
                </a:solidFill>
                <a:latin typeface="Calibri"/>
                <a:ea typeface="Calibri"/>
                <a:cs typeface="Calibri"/>
                <a:sym typeface="Calibri"/>
              </a:rPr>
              <a:t>Active Natural-Language Control</a:t>
            </a:r>
            <a:endParaRPr sz="1050">
              <a:solidFill>
                <a:schemeClr val="dk1"/>
              </a:solidFill>
              <a:latin typeface="Calibri"/>
              <a:ea typeface="Calibri"/>
              <a:cs typeface="Calibri"/>
              <a:sym typeface="Calibri"/>
            </a:endParaRPr>
          </a:p>
        </p:txBody>
      </p:sp>
      <p:sp>
        <p:nvSpPr>
          <p:cNvPr id="318" name="Google Shape;318;p12"/>
          <p:cNvSpPr/>
          <p:nvPr/>
        </p:nvSpPr>
        <p:spPr>
          <a:xfrm>
            <a:off x="4572000" y="4206240"/>
            <a:ext cx="3136392" cy="155448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F8FAFC"/>
              </a:buClr>
              <a:buSzPts val="1300"/>
              <a:buFont typeface="Calibri"/>
              <a:buNone/>
            </a:pPr>
            <a:r>
              <a:rPr lang="en-US" sz="1300">
                <a:solidFill>
                  <a:srgbClr val="F8FAFC"/>
                </a:solidFill>
                <a:latin typeface="Calibri"/>
                <a:ea typeface="Calibri"/>
                <a:cs typeface="Calibri"/>
                <a:sym typeface="Calibri"/>
              </a:rPr>
              <a:t>Empowers catalog managers to issue active directives (e.g. 'Use NEMA 4X enclosure rating for all Fluke meters') directly into the extraction pipeline.</a:t>
            </a:r>
            <a:endParaRPr sz="1100">
              <a:solidFill>
                <a:schemeClr val="dk1"/>
              </a:solidFill>
              <a:latin typeface="Calibri"/>
              <a:ea typeface="Calibri"/>
              <a:cs typeface="Calibri"/>
              <a:sym typeface="Calibri"/>
            </a:endParaRPr>
          </a:p>
        </p:txBody>
      </p:sp>
      <p:sp>
        <p:nvSpPr>
          <p:cNvPr id="319" name="Google Shape;319;p12"/>
          <p:cNvSpPr/>
          <p:nvPr/>
        </p:nvSpPr>
        <p:spPr>
          <a:xfrm>
            <a:off x="8083296" y="1737360"/>
            <a:ext cx="3648456" cy="4160520"/>
          </a:xfrm>
          <a:prstGeom prst="roundRect">
            <a:avLst>
              <a:gd fmla="val 2256" name="adj"/>
            </a:avLst>
          </a:prstGeom>
          <a:solidFill>
            <a:srgbClr val="1E293B"/>
          </a:solidFill>
          <a:ln>
            <a:noFill/>
          </a:ln>
          <a:effectLst>
            <a:outerShdw blurRad="1016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0" name="Google Shape;320;p12"/>
          <p:cNvSpPr/>
          <p:nvPr/>
        </p:nvSpPr>
        <p:spPr>
          <a:xfrm>
            <a:off x="8339328" y="1965960"/>
            <a:ext cx="3136392"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4D399"/>
              </a:buClr>
              <a:buSzPts val="3200"/>
              <a:buFont typeface="Calibri"/>
              <a:buNone/>
            </a:pPr>
            <a:r>
              <a:rPr b="1" lang="en-US" sz="3200">
                <a:solidFill>
                  <a:srgbClr val="34D399"/>
                </a:solidFill>
                <a:latin typeface="Calibri"/>
                <a:ea typeface="Calibri"/>
                <a:cs typeface="Calibri"/>
                <a:sym typeface="Calibri"/>
              </a:rPr>
              <a:t>#3</a:t>
            </a:r>
            <a:endParaRPr sz="4000">
              <a:solidFill>
                <a:schemeClr val="dk1"/>
              </a:solidFill>
              <a:latin typeface="Calibri"/>
              <a:ea typeface="Calibri"/>
              <a:cs typeface="Calibri"/>
              <a:sym typeface="Calibri"/>
            </a:endParaRPr>
          </a:p>
        </p:txBody>
      </p:sp>
      <p:sp>
        <p:nvSpPr>
          <p:cNvPr id="321" name="Google Shape;321;p12"/>
          <p:cNvSpPr/>
          <p:nvPr/>
        </p:nvSpPr>
        <p:spPr>
          <a:xfrm>
            <a:off x="8339328" y="2880360"/>
            <a:ext cx="3136392" cy="82296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38BDF8"/>
              </a:buClr>
              <a:buSzPts val="1600"/>
              <a:buFont typeface="Calibri"/>
              <a:buNone/>
            </a:pPr>
            <a:r>
              <a:rPr b="1" lang="en-US" sz="1600">
                <a:solidFill>
                  <a:srgbClr val="38BDF8"/>
                </a:solidFill>
                <a:latin typeface="Calibri"/>
                <a:ea typeface="Calibri"/>
                <a:cs typeface="Calibri"/>
                <a:sym typeface="Calibri"/>
              </a:rPr>
              <a:t>Graph-Backed Series Inheritance</a:t>
            </a:r>
            <a:endParaRPr sz="1550">
              <a:solidFill>
                <a:schemeClr val="dk1"/>
              </a:solidFill>
              <a:latin typeface="Calibri"/>
              <a:ea typeface="Calibri"/>
              <a:cs typeface="Calibri"/>
              <a:sym typeface="Calibri"/>
            </a:endParaRPr>
          </a:p>
        </p:txBody>
      </p:sp>
      <p:sp>
        <p:nvSpPr>
          <p:cNvPr id="322" name="Google Shape;322;p12"/>
          <p:cNvSpPr/>
          <p:nvPr/>
        </p:nvSpPr>
        <p:spPr>
          <a:xfrm>
            <a:off x="8339328" y="3749040"/>
            <a:ext cx="3136392"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4A3B8"/>
              </a:buClr>
              <a:buSzPts val="1300"/>
              <a:buFont typeface="Calibri"/>
              <a:buNone/>
            </a:pPr>
            <a:r>
              <a:rPr b="1" i="1" lang="en-US" sz="1300">
                <a:solidFill>
                  <a:srgbClr val="94A3B8"/>
                </a:solidFill>
                <a:latin typeface="Calibri"/>
                <a:ea typeface="Calibri"/>
                <a:cs typeface="Calibri"/>
                <a:sym typeface="Calibri"/>
              </a:rPr>
              <a:t>SHA-256 Vector Deduplication</a:t>
            </a:r>
            <a:endParaRPr sz="1050">
              <a:solidFill>
                <a:schemeClr val="dk1"/>
              </a:solidFill>
              <a:latin typeface="Calibri"/>
              <a:ea typeface="Calibri"/>
              <a:cs typeface="Calibri"/>
              <a:sym typeface="Calibri"/>
            </a:endParaRPr>
          </a:p>
        </p:txBody>
      </p:sp>
      <p:sp>
        <p:nvSpPr>
          <p:cNvPr id="323" name="Google Shape;323;p12"/>
          <p:cNvSpPr/>
          <p:nvPr/>
        </p:nvSpPr>
        <p:spPr>
          <a:xfrm>
            <a:off x="8339328" y="4206240"/>
            <a:ext cx="3136392" cy="1554480"/>
          </a:xfrm>
          <a:prstGeom prst="rect">
            <a:avLst/>
          </a:prstGeom>
          <a:noFill/>
          <a:ln>
            <a:noFill/>
          </a:ln>
        </p:spPr>
        <p:txBody>
          <a:bodyPr anchorCtr="0" anchor="ctr" bIns="45700" lIns="91425" spcFirstLastPara="1" rIns="91425" wrap="square" tIns="45700">
            <a:noAutofit/>
          </a:bodyPr>
          <a:lstStyle/>
          <a:p>
            <a:pPr indent="0" lvl="0" marL="0" rtl="0" algn="l">
              <a:lnSpc>
                <a:spcPct val="120000"/>
              </a:lnSpc>
              <a:spcBef>
                <a:spcPts val="0"/>
              </a:spcBef>
              <a:spcAft>
                <a:spcPts val="0"/>
              </a:spcAft>
              <a:buClr>
                <a:schemeClr val="dk1"/>
              </a:buClr>
              <a:buSzPts val="1100"/>
              <a:buFont typeface="Arial"/>
              <a:buNone/>
            </a:pPr>
            <a:r>
              <a:rPr lang="en-US" sz="1300">
                <a:solidFill>
                  <a:srgbClr val="F8FAFC"/>
                </a:solidFill>
                <a:latin typeface="Calibri"/>
                <a:ea typeface="Calibri"/>
                <a:cs typeface="Calibri"/>
                <a:sym typeface="Calibri"/>
              </a:rPr>
              <a:t>NetworkX Knowledge Graph propagates verified specs across sibling SKUs instantly — cutting web scrapes by &gt;70% at $0.00 marginal LLM cost per SKU. Also  reduces  duplicate downloads or chunking,also low cost ectration of attributes as no llm call only using rag retrieval</a:t>
            </a:r>
            <a:endParaRPr sz="1300">
              <a:solidFill>
                <a:srgbClr val="F8FAFC"/>
              </a:solidFill>
              <a:latin typeface="Calibri"/>
              <a:ea typeface="Calibri"/>
              <a:cs typeface="Calibri"/>
              <a:sym typeface="Calibri"/>
            </a:endParaRPr>
          </a:p>
          <a:p>
            <a:pPr indent="0" lvl="0" marL="0" marR="0" rtl="0" algn="l">
              <a:lnSpc>
                <a:spcPct val="120000"/>
              </a:lnSpc>
              <a:spcBef>
                <a:spcPts val="0"/>
              </a:spcBef>
              <a:spcAft>
                <a:spcPts val="0"/>
              </a:spcAft>
              <a:buClr>
                <a:srgbClr val="F8FAFC"/>
              </a:buClr>
              <a:buSzPts val="1300"/>
              <a:buFont typeface="Calibri"/>
              <a:buNone/>
            </a:pPr>
            <a:r>
              <a:t/>
            </a:r>
            <a:endParaRPr sz="1300">
              <a:solidFill>
                <a:srgbClr val="F8FAFC"/>
              </a:solidFill>
              <a:latin typeface="Calibri"/>
              <a:ea typeface="Calibri"/>
              <a:cs typeface="Calibri"/>
              <a:sym typeface="Calibri"/>
            </a:endParaRPr>
          </a:p>
        </p:txBody>
      </p:sp>
      <p:sp>
        <p:nvSpPr>
          <p:cNvPr id="324" name="Google Shape;324;p12"/>
          <p:cNvSpPr/>
          <p:nvPr/>
        </p:nvSpPr>
        <p:spPr>
          <a:xfrm>
            <a:off x="45720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172A"/>
              </a:buClr>
              <a:buSzPts val="1300"/>
              <a:buFont typeface="Calibri"/>
              <a:buNone/>
            </a:pPr>
            <a:r>
              <a:rPr lang="en-US" sz="1300">
                <a:solidFill>
                  <a:srgbClr val="0F172A"/>
                </a:solidFill>
                <a:latin typeface="Calibri"/>
                <a:ea typeface="Calibri"/>
                <a:cs typeface="Calibri"/>
                <a:sym typeface="Calibri"/>
              </a:rPr>
              <a:t>09 / 15   •   USPs</a:t>
            </a:r>
            <a:endParaRPr sz="9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329" name="Shape 329"/>
        <p:cNvGrpSpPr/>
        <p:nvPr/>
      </p:nvGrpSpPr>
      <p:grpSpPr>
        <a:xfrm>
          <a:off x="0" y="0"/>
          <a:ext cx="0" cy="0"/>
          <a:chOff x="0" y="0"/>
          <a:chExt cx="0" cy="0"/>
        </a:xfrm>
      </p:grpSpPr>
      <p:pic>
        <p:nvPicPr>
          <p:cNvPr descr="image.png" id="330" name="Google Shape;330;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31" name="Google Shape;331;p13"/>
          <p:cNvSpPr/>
          <p:nvPr/>
        </p:nvSpPr>
        <p:spPr>
          <a:xfrm>
            <a:off x="548640" y="347472"/>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172A"/>
              </a:buClr>
              <a:buSzPts val="1300"/>
              <a:buFont typeface="Calibri"/>
              <a:buNone/>
            </a:pPr>
            <a:r>
              <a:rPr b="1" lang="en-US" sz="1300">
                <a:solidFill>
                  <a:srgbClr val="0F172A"/>
                </a:solidFill>
                <a:latin typeface="Calibri"/>
                <a:ea typeface="Calibri"/>
                <a:cs typeface="Calibri"/>
                <a:sym typeface="Calibri"/>
              </a:rPr>
              <a:t>CAPABILITIES</a:t>
            </a:r>
            <a:endParaRPr sz="1100">
              <a:solidFill>
                <a:schemeClr val="dk1"/>
              </a:solidFill>
              <a:latin typeface="Calibri"/>
              <a:ea typeface="Calibri"/>
              <a:cs typeface="Calibri"/>
              <a:sym typeface="Calibri"/>
            </a:endParaRPr>
          </a:p>
        </p:txBody>
      </p:sp>
      <p:sp>
        <p:nvSpPr>
          <p:cNvPr id="332" name="Google Shape;332;p13"/>
          <p:cNvSpPr/>
          <p:nvPr/>
        </p:nvSpPr>
        <p:spPr>
          <a:xfrm>
            <a:off x="548640" y="603504"/>
            <a:ext cx="11064240" cy="86868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0F172A"/>
              </a:buClr>
              <a:buSzPts val="3200"/>
              <a:buFont typeface="Calibri"/>
              <a:buNone/>
            </a:pPr>
            <a:r>
              <a:rPr b="1" lang="en-US" sz="3200">
                <a:solidFill>
                  <a:srgbClr val="0F172A"/>
                </a:solidFill>
                <a:latin typeface="Calibri"/>
                <a:ea typeface="Calibri"/>
                <a:cs typeface="Calibri"/>
                <a:sym typeface="Calibri"/>
              </a:rPr>
              <a:t>List of Features Offered by the Solution</a:t>
            </a:r>
            <a:endParaRPr sz="2800">
              <a:solidFill>
                <a:schemeClr val="dk1"/>
              </a:solidFill>
              <a:latin typeface="Calibri"/>
              <a:ea typeface="Calibri"/>
              <a:cs typeface="Calibri"/>
              <a:sym typeface="Calibri"/>
            </a:endParaRPr>
          </a:p>
        </p:txBody>
      </p:sp>
      <p:sp>
        <p:nvSpPr>
          <p:cNvPr id="333" name="Google Shape;333;p13"/>
          <p:cNvSpPr/>
          <p:nvPr/>
        </p:nvSpPr>
        <p:spPr>
          <a:xfrm>
            <a:off x="548640" y="1600200"/>
            <a:ext cx="5468112" cy="5029200"/>
          </a:xfrm>
          <a:prstGeom prst="roundRect">
            <a:avLst>
              <a:gd fmla="val 1636" name="adj"/>
            </a:avLst>
          </a:prstGeom>
          <a:solidFill>
            <a:srgbClr val="1E293B"/>
          </a:solidFill>
          <a:ln>
            <a:noFill/>
          </a:ln>
          <a:effectLst>
            <a:outerShdw blurRad="1016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4" name="Google Shape;334;p13"/>
          <p:cNvSpPr/>
          <p:nvPr/>
        </p:nvSpPr>
        <p:spPr>
          <a:xfrm>
            <a:off x="822960" y="1810512"/>
            <a:ext cx="4919472"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8BDF8"/>
              </a:buClr>
              <a:buSzPts val="1600"/>
              <a:buFont typeface="Calibri"/>
              <a:buNone/>
            </a:pPr>
            <a:r>
              <a:rPr b="1" lang="en-US" sz="1600">
                <a:solidFill>
                  <a:srgbClr val="38BDF8"/>
                </a:solidFill>
                <a:latin typeface="Calibri"/>
                <a:ea typeface="Calibri"/>
                <a:cs typeface="Calibri"/>
                <a:sym typeface="Calibri"/>
              </a:rPr>
              <a:t>Automated Pipeline Engine</a:t>
            </a:r>
            <a:endParaRPr sz="1550">
              <a:solidFill>
                <a:schemeClr val="dk1"/>
              </a:solidFill>
              <a:latin typeface="Calibri"/>
              <a:ea typeface="Calibri"/>
              <a:cs typeface="Calibri"/>
              <a:sym typeface="Calibri"/>
            </a:endParaRPr>
          </a:p>
        </p:txBody>
      </p:sp>
      <p:sp>
        <p:nvSpPr>
          <p:cNvPr id="335" name="Google Shape;335;p13"/>
          <p:cNvSpPr/>
          <p:nvPr/>
        </p:nvSpPr>
        <p:spPr>
          <a:xfrm>
            <a:off x="822960" y="2331720"/>
            <a:ext cx="329184" cy="329184"/>
          </a:xfrm>
          <a:prstGeom prst="ellipse">
            <a:avLst/>
          </a:prstGeom>
          <a:solidFill>
            <a:srgbClr val="38BDF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6" name="Google Shape;336;p13"/>
          <p:cNvSpPr/>
          <p:nvPr/>
        </p:nvSpPr>
        <p:spPr>
          <a:xfrm>
            <a:off x="822960" y="2331720"/>
            <a:ext cx="329184" cy="32918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1600"/>
              <a:buFont typeface="Calibri"/>
              <a:buNone/>
            </a:pPr>
            <a:r>
              <a:rPr b="1" lang="en-US" sz="1600">
                <a:solidFill>
                  <a:srgbClr val="0F172A"/>
                </a:solidFill>
                <a:latin typeface="Calibri"/>
                <a:ea typeface="Calibri"/>
                <a:cs typeface="Calibri"/>
                <a:sym typeface="Calibri"/>
              </a:rPr>
              <a:t>1</a:t>
            </a:r>
            <a:endParaRPr sz="1200">
              <a:solidFill>
                <a:schemeClr val="dk1"/>
              </a:solidFill>
              <a:latin typeface="Calibri"/>
              <a:ea typeface="Calibri"/>
              <a:cs typeface="Calibri"/>
              <a:sym typeface="Calibri"/>
            </a:endParaRPr>
          </a:p>
        </p:txBody>
      </p:sp>
      <p:sp>
        <p:nvSpPr>
          <p:cNvPr id="337" name="Google Shape;337;p13"/>
          <p:cNvSpPr/>
          <p:nvPr/>
        </p:nvSpPr>
        <p:spPr>
          <a:xfrm>
            <a:off x="1325880" y="2304288"/>
            <a:ext cx="4416552"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8FAFC"/>
              </a:buClr>
              <a:buSzPts val="1600"/>
              <a:buFont typeface="Calibri"/>
              <a:buNone/>
            </a:pPr>
            <a:r>
              <a:rPr b="1" lang="en-US" sz="1600">
                <a:solidFill>
                  <a:srgbClr val="F8FAFC"/>
                </a:solidFill>
                <a:latin typeface="Calibri"/>
                <a:ea typeface="Calibri"/>
                <a:cs typeface="Calibri"/>
                <a:sym typeface="Calibri"/>
              </a:rPr>
              <a:t>Dirty Brand Disambiguation &amp; Abbreviation Expander</a:t>
            </a:r>
            <a:endParaRPr sz="1200">
              <a:solidFill>
                <a:schemeClr val="dk1"/>
              </a:solidFill>
              <a:latin typeface="Calibri"/>
              <a:ea typeface="Calibri"/>
              <a:cs typeface="Calibri"/>
              <a:sym typeface="Calibri"/>
            </a:endParaRPr>
          </a:p>
        </p:txBody>
      </p:sp>
      <p:sp>
        <p:nvSpPr>
          <p:cNvPr id="338" name="Google Shape;338;p13"/>
          <p:cNvSpPr/>
          <p:nvPr/>
        </p:nvSpPr>
        <p:spPr>
          <a:xfrm>
            <a:off x="1325880" y="2651760"/>
            <a:ext cx="4416552"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94A3B8"/>
              </a:buClr>
              <a:buSzPts val="1300"/>
              <a:buFont typeface="Calibri"/>
              <a:buNone/>
            </a:pPr>
            <a:r>
              <a:rPr lang="en-US" sz="1300">
                <a:solidFill>
                  <a:srgbClr val="94A3B8"/>
                </a:solidFill>
                <a:latin typeface="Calibri"/>
                <a:ea typeface="Calibri"/>
                <a:cs typeface="Calibri"/>
                <a:sym typeface="Calibri"/>
              </a:rPr>
              <a:t>Normalizes dirty supplier strings (APPDE → Whirlpool Corporation).</a:t>
            </a:r>
            <a:endParaRPr sz="1000">
              <a:solidFill>
                <a:schemeClr val="dk1"/>
              </a:solidFill>
              <a:latin typeface="Calibri"/>
              <a:ea typeface="Calibri"/>
              <a:cs typeface="Calibri"/>
              <a:sym typeface="Calibri"/>
            </a:endParaRPr>
          </a:p>
        </p:txBody>
      </p:sp>
      <p:sp>
        <p:nvSpPr>
          <p:cNvPr id="339" name="Google Shape;339;p13"/>
          <p:cNvSpPr/>
          <p:nvPr/>
        </p:nvSpPr>
        <p:spPr>
          <a:xfrm>
            <a:off x="822960" y="3209544"/>
            <a:ext cx="329184" cy="329184"/>
          </a:xfrm>
          <a:prstGeom prst="ellipse">
            <a:avLst/>
          </a:prstGeom>
          <a:solidFill>
            <a:srgbClr val="38BDF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0" name="Google Shape;340;p13"/>
          <p:cNvSpPr/>
          <p:nvPr/>
        </p:nvSpPr>
        <p:spPr>
          <a:xfrm>
            <a:off x="822960" y="3209544"/>
            <a:ext cx="329184" cy="32918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1600"/>
              <a:buFont typeface="Calibri"/>
              <a:buNone/>
            </a:pPr>
            <a:r>
              <a:rPr b="1" lang="en-US" sz="1600">
                <a:solidFill>
                  <a:srgbClr val="0F172A"/>
                </a:solidFill>
                <a:latin typeface="Calibri"/>
                <a:ea typeface="Calibri"/>
                <a:cs typeface="Calibri"/>
                <a:sym typeface="Calibri"/>
              </a:rPr>
              <a:t>2</a:t>
            </a:r>
            <a:endParaRPr sz="1200">
              <a:solidFill>
                <a:schemeClr val="dk1"/>
              </a:solidFill>
              <a:latin typeface="Calibri"/>
              <a:ea typeface="Calibri"/>
              <a:cs typeface="Calibri"/>
              <a:sym typeface="Calibri"/>
            </a:endParaRPr>
          </a:p>
        </p:txBody>
      </p:sp>
      <p:sp>
        <p:nvSpPr>
          <p:cNvPr id="341" name="Google Shape;341;p13"/>
          <p:cNvSpPr/>
          <p:nvPr/>
        </p:nvSpPr>
        <p:spPr>
          <a:xfrm>
            <a:off x="1325880" y="3182112"/>
            <a:ext cx="4416552"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8FAFC"/>
              </a:buClr>
              <a:buSzPts val="1600"/>
              <a:buFont typeface="Calibri"/>
              <a:buNone/>
            </a:pPr>
            <a:r>
              <a:rPr b="1" lang="en-US" sz="1600">
                <a:solidFill>
                  <a:srgbClr val="F8FAFC"/>
                </a:solidFill>
                <a:latin typeface="Calibri"/>
                <a:ea typeface="Calibri"/>
                <a:cs typeface="Calibri"/>
                <a:sym typeface="Calibri"/>
              </a:rPr>
              <a:t>8-Digit UNSPSC Leaf Classification</a:t>
            </a:r>
            <a:endParaRPr sz="1200">
              <a:solidFill>
                <a:schemeClr val="dk1"/>
              </a:solidFill>
              <a:latin typeface="Calibri"/>
              <a:ea typeface="Calibri"/>
              <a:cs typeface="Calibri"/>
              <a:sym typeface="Calibri"/>
            </a:endParaRPr>
          </a:p>
        </p:txBody>
      </p:sp>
      <p:sp>
        <p:nvSpPr>
          <p:cNvPr id="342" name="Google Shape;342;p13"/>
          <p:cNvSpPr/>
          <p:nvPr/>
        </p:nvSpPr>
        <p:spPr>
          <a:xfrm>
            <a:off x="1325880" y="3529584"/>
            <a:ext cx="4416552"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94A3B8"/>
              </a:buClr>
              <a:buSzPts val="1300"/>
              <a:buFont typeface="Calibri"/>
              <a:buNone/>
            </a:pPr>
            <a:r>
              <a:rPr lang="en-US" sz="1300">
                <a:solidFill>
                  <a:srgbClr val="94A3B8"/>
                </a:solidFill>
                <a:latin typeface="Calibri"/>
                <a:ea typeface="Calibri"/>
                <a:cs typeface="Calibri"/>
                <a:sym typeface="Calibri"/>
              </a:rPr>
              <a:t>Maps items to deep leaf categories &amp; expected schemas.</a:t>
            </a:r>
            <a:endParaRPr sz="1000">
              <a:solidFill>
                <a:schemeClr val="dk1"/>
              </a:solidFill>
              <a:latin typeface="Calibri"/>
              <a:ea typeface="Calibri"/>
              <a:cs typeface="Calibri"/>
              <a:sym typeface="Calibri"/>
            </a:endParaRPr>
          </a:p>
        </p:txBody>
      </p:sp>
      <p:sp>
        <p:nvSpPr>
          <p:cNvPr id="343" name="Google Shape;343;p13"/>
          <p:cNvSpPr/>
          <p:nvPr/>
        </p:nvSpPr>
        <p:spPr>
          <a:xfrm>
            <a:off x="822960" y="4087368"/>
            <a:ext cx="329184" cy="329184"/>
          </a:xfrm>
          <a:prstGeom prst="ellipse">
            <a:avLst/>
          </a:prstGeom>
          <a:solidFill>
            <a:srgbClr val="38BDF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4" name="Google Shape;344;p13"/>
          <p:cNvSpPr/>
          <p:nvPr/>
        </p:nvSpPr>
        <p:spPr>
          <a:xfrm>
            <a:off x="822960" y="4087368"/>
            <a:ext cx="329184" cy="32918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1600"/>
              <a:buFont typeface="Calibri"/>
              <a:buNone/>
            </a:pPr>
            <a:r>
              <a:rPr b="1" lang="en-US" sz="1600">
                <a:solidFill>
                  <a:srgbClr val="0F172A"/>
                </a:solidFill>
                <a:latin typeface="Calibri"/>
                <a:ea typeface="Calibri"/>
                <a:cs typeface="Calibri"/>
                <a:sym typeface="Calibri"/>
              </a:rPr>
              <a:t>3</a:t>
            </a:r>
            <a:endParaRPr sz="1200">
              <a:solidFill>
                <a:schemeClr val="dk1"/>
              </a:solidFill>
              <a:latin typeface="Calibri"/>
              <a:ea typeface="Calibri"/>
              <a:cs typeface="Calibri"/>
              <a:sym typeface="Calibri"/>
            </a:endParaRPr>
          </a:p>
        </p:txBody>
      </p:sp>
      <p:sp>
        <p:nvSpPr>
          <p:cNvPr id="345" name="Google Shape;345;p13"/>
          <p:cNvSpPr/>
          <p:nvPr/>
        </p:nvSpPr>
        <p:spPr>
          <a:xfrm>
            <a:off x="1325880" y="4059936"/>
            <a:ext cx="4416552"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8FAFC"/>
              </a:buClr>
              <a:buSzPts val="1600"/>
              <a:buFont typeface="Calibri"/>
              <a:buNone/>
            </a:pPr>
            <a:r>
              <a:rPr b="1" lang="en-US" sz="1600">
                <a:solidFill>
                  <a:srgbClr val="F8FAFC"/>
                </a:solidFill>
                <a:latin typeface="Calibri"/>
                <a:ea typeface="Calibri"/>
                <a:cs typeface="Calibri"/>
                <a:sym typeface="Calibri"/>
              </a:rPr>
              <a:t>Multi-Pass OEM Document Harvesting</a:t>
            </a:r>
            <a:endParaRPr sz="1200">
              <a:solidFill>
                <a:schemeClr val="dk1"/>
              </a:solidFill>
              <a:latin typeface="Calibri"/>
              <a:ea typeface="Calibri"/>
              <a:cs typeface="Calibri"/>
              <a:sym typeface="Calibri"/>
            </a:endParaRPr>
          </a:p>
        </p:txBody>
      </p:sp>
      <p:sp>
        <p:nvSpPr>
          <p:cNvPr id="346" name="Google Shape;346;p13"/>
          <p:cNvSpPr/>
          <p:nvPr/>
        </p:nvSpPr>
        <p:spPr>
          <a:xfrm>
            <a:off x="1325880" y="4407408"/>
            <a:ext cx="4416552"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94A3B8"/>
              </a:buClr>
              <a:buSzPts val="1300"/>
              <a:buFont typeface="Calibri"/>
              <a:buNone/>
            </a:pPr>
            <a:r>
              <a:rPr lang="en-US" sz="1300">
                <a:solidFill>
                  <a:srgbClr val="94A3B8"/>
                </a:solidFill>
                <a:latin typeface="Calibri"/>
                <a:ea typeface="Calibri"/>
                <a:cs typeface="Calibri"/>
                <a:sym typeface="Calibri"/>
              </a:rPr>
              <a:t>Ingests spec PDFs, manuals, SDS sheets, and images.</a:t>
            </a:r>
            <a:endParaRPr sz="1000">
              <a:solidFill>
                <a:schemeClr val="dk1"/>
              </a:solidFill>
              <a:latin typeface="Calibri"/>
              <a:ea typeface="Calibri"/>
              <a:cs typeface="Calibri"/>
              <a:sym typeface="Calibri"/>
            </a:endParaRPr>
          </a:p>
        </p:txBody>
      </p:sp>
      <p:sp>
        <p:nvSpPr>
          <p:cNvPr id="347" name="Google Shape;347;p13"/>
          <p:cNvSpPr/>
          <p:nvPr/>
        </p:nvSpPr>
        <p:spPr>
          <a:xfrm>
            <a:off x="822960" y="4965192"/>
            <a:ext cx="329184" cy="329184"/>
          </a:xfrm>
          <a:prstGeom prst="ellipse">
            <a:avLst/>
          </a:prstGeom>
          <a:solidFill>
            <a:srgbClr val="38BDF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8" name="Google Shape;348;p13"/>
          <p:cNvSpPr/>
          <p:nvPr/>
        </p:nvSpPr>
        <p:spPr>
          <a:xfrm>
            <a:off x="822960" y="4965192"/>
            <a:ext cx="329184" cy="32918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1600"/>
              <a:buFont typeface="Calibri"/>
              <a:buNone/>
            </a:pPr>
            <a:r>
              <a:rPr b="1" lang="en-US" sz="1600">
                <a:solidFill>
                  <a:srgbClr val="0F172A"/>
                </a:solidFill>
                <a:latin typeface="Calibri"/>
                <a:ea typeface="Calibri"/>
                <a:cs typeface="Calibri"/>
                <a:sym typeface="Calibri"/>
              </a:rPr>
              <a:t>4</a:t>
            </a:r>
            <a:endParaRPr sz="1200">
              <a:solidFill>
                <a:schemeClr val="dk1"/>
              </a:solidFill>
              <a:latin typeface="Calibri"/>
              <a:ea typeface="Calibri"/>
              <a:cs typeface="Calibri"/>
              <a:sym typeface="Calibri"/>
            </a:endParaRPr>
          </a:p>
        </p:txBody>
      </p:sp>
      <p:sp>
        <p:nvSpPr>
          <p:cNvPr id="349" name="Google Shape;349;p13"/>
          <p:cNvSpPr/>
          <p:nvPr/>
        </p:nvSpPr>
        <p:spPr>
          <a:xfrm>
            <a:off x="1325880" y="4937760"/>
            <a:ext cx="4416552"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8FAFC"/>
              </a:buClr>
              <a:buSzPts val="1600"/>
              <a:buFont typeface="Calibri"/>
              <a:buNone/>
            </a:pPr>
            <a:r>
              <a:rPr b="1" lang="en-US" sz="1600">
                <a:solidFill>
                  <a:srgbClr val="F8FAFC"/>
                </a:solidFill>
                <a:latin typeface="Calibri"/>
                <a:ea typeface="Calibri"/>
                <a:cs typeface="Calibri"/>
                <a:sym typeface="Calibri"/>
              </a:rPr>
              <a:t>SHA-256 PDF Caching &amp; Vector RAG</a:t>
            </a:r>
            <a:endParaRPr sz="1200">
              <a:solidFill>
                <a:schemeClr val="dk1"/>
              </a:solidFill>
              <a:latin typeface="Calibri"/>
              <a:ea typeface="Calibri"/>
              <a:cs typeface="Calibri"/>
              <a:sym typeface="Calibri"/>
            </a:endParaRPr>
          </a:p>
        </p:txBody>
      </p:sp>
      <p:sp>
        <p:nvSpPr>
          <p:cNvPr id="350" name="Google Shape;350;p13"/>
          <p:cNvSpPr/>
          <p:nvPr/>
        </p:nvSpPr>
        <p:spPr>
          <a:xfrm>
            <a:off x="1325880" y="5285232"/>
            <a:ext cx="4416552"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94A3B8"/>
              </a:buClr>
              <a:buSzPts val="1300"/>
              <a:buFont typeface="Calibri"/>
              <a:buNone/>
            </a:pPr>
            <a:r>
              <a:rPr lang="en-US" sz="1300">
                <a:solidFill>
                  <a:srgbClr val="94A3B8"/>
                </a:solidFill>
                <a:latin typeface="Calibri"/>
                <a:ea typeface="Calibri"/>
                <a:cs typeface="Calibri"/>
                <a:sym typeface="Calibri"/>
              </a:rPr>
              <a:t>ChromaDB vector store with zero duplicate PDF processing.</a:t>
            </a:r>
            <a:endParaRPr sz="1000">
              <a:solidFill>
                <a:schemeClr val="dk1"/>
              </a:solidFill>
              <a:latin typeface="Calibri"/>
              <a:ea typeface="Calibri"/>
              <a:cs typeface="Calibri"/>
              <a:sym typeface="Calibri"/>
            </a:endParaRPr>
          </a:p>
        </p:txBody>
      </p:sp>
      <p:sp>
        <p:nvSpPr>
          <p:cNvPr id="351" name="Google Shape;351;p13"/>
          <p:cNvSpPr/>
          <p:nvPr/>
        </p:nvSpPr>
        <p:spPr>
          <a:xfrm>
            <a:off x="822960" y="5843016"/>
            <a:ext cx="329184" cy="329184"/>
          </a:xfrm>
          <a:prstGeom prst="ellipse">
            <a:avLst/>
          </a:prstGeom>
          <a:solidFill>
            <a:srgbClr val="38BDF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2" name="Google Shape;352;p13"/>
          <p:cNvSpPr/>
          <p:nvPr/>
        </p:nvSpPr>
        <p:spPr>
          <a:xfrm>
            <a:off x="822960" y="5843016"/>
            <a:ext cx="329184" cy="32918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1600"/>
              <a:buFont typeface="Calibri"/>
              <a:buNone/>
            </a:pPr>
            <a:r>
              <a:rPr b="1" lang="en-US" sz="1600">
                <a:solidFill>
                  <a:srgbClr val="0F172A"/>
                </a:solidFill>
                <a:latin typeface="Calibri"/>
                <a:ea typeface="Calibri"/>
                <a:cs typeface="Calibri"/>
                <a:sym typeface="Calibri"/>
              </a:rPr>
              <a:t>5</a:t>
            </a:r>
            <a:endParaRPr sz="1200">
              <a:solidFill>
                <a:schemeClr val="dk1"/>
              </a:solidFill>
              <a:latin typeface="Calibri"/>
              <a:ea typeface="Calibri"/>
              <a:cs typeface="Calibri"/>
              <a:sym typeface="Calibri"/>
            </a:endParaRPr>
          </a:p>
        </p:txBody>
      </p:sp>
      <p:sp>
        <p:nvSpPr>
          <p:cNvPr id="353" name="Google Shape;353;p13"/>
          <p:cNvSpPr/>
          <p:nvPr/>
        </p:nvSpPr>
        <p:spPr>
          <a:xfrm>
            <a:off x="1325880" y="5815584"/>
            <a:ext cx="4416552"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8FAFC"/>
              </a:buClr>
              <a:buSzPts val="1600"/>
              <a:buFont typeface="Calibri"/>
              <a:buNone/>
            </a:pPr>
            <a:r>
              <a:rPr b="1" lang="en-US" sz="1600">
                <a:solidFill>
                  <a:srgbClr val="F8FAFC"/>
                </a:solidFill>
                <a:latin typeface="Calibri"/>
                <a:ea typeface="Calibri"/>
                <a:cs typeface="Calibri"/>
                <a:sym typeface="Calibri"/>
              </a:rPr>
              <a:t>Commercial Copywriting Engine</a:t>
            </a:r>
            <a:endParaRPr sz="1200">
              <a:solidFill>
                <a:schemeClr val="dk1"/>
              </a:solidFill>
              <a:latin typeface="Calibri"/>
              <a:ea typeface="Calibri"/>
              <a:cs typeface="Calibri"/>
              <a:sym typeface="Calibri"/>
            </a:endParaRPr>
          </a:p>
        </p:txBody>
      </p:sp>
      <p:sp>
        <p:nvSpPr>
          <p:cNvPr id="354" name="Google Shape;354;p13"/>
          <p:cNvSpPr/>
          <p:nvPr/>
        </p:nvSpPr>
        <p:spPr>
          <a:xfrm>
            <a:off x="1325880" y="6163056"/>
            <a:ext cx="4416552"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0F172A"/>
              </a:buClr>
              <a:buSzPts val="1300"/>
              <a:buFont typeface="Calibri"/>
              <a:buNone/>
            </a:pPr>
            <a:r>
              <a:rPr lang="en-US" sz="1300">
                <a:solidFill>
                  <a:srgbClr val="0F172A"/>
                </a:solidFill>
                <a:latin typeface="Calibri"/>
                <a:ea typeface="Calibri"/>
                <a:cs typeface="Calibri"/>
                <a:sym typeface="Calibri"/>
              </a:rPr>
              <a:t>Generates Invoice Description (≤40 chars), Short, Long, and Marketing copy.</a:t>
            </a:r>
            <a:endParaRPr sz="1000">
              <a:solidFill>
                <a:schemeClr val="dk1"/>
              </a:solidFill>
              <a:latin typeface="Calibri"/>
              <a:ea typeface="Calibri"/>
              <a:cs typeface="Calibri"/>
              <a:sym typeface="Calibri"/>
            </a:endParaRPr>
          </a:p>
        </p:txBody>
      </p:sp>
      <p:sp>
        <p:nvSpPr>
          <p:cNvPr id="355" name="Google Shape;355;p13"/>
          <p:cNvSpPr/>
          <p:nvPr/>
        </p:nvSpPr>
        <p:spPr>
          <a:xfrm>
            <a:off x="6181344" y="1600200"/>
            <a:ext cx="5468100" cy="4800600"/>
          </a:xfrm>
          <a:prstGeom prst="roundRect">
            <a:avLst>
              <a:gd fmla="val 1714" name="adj"/>
            </a:avLst>
          </a:prstGeom>
          <a:solidFill>
            <a:srgbClr val="16213A"/>
          </a:solidFill>
          <a:ln>
            <a:noFill/>
          </a:ln>
          <a:effectLst>
            <a:outerShdw blurRad="1016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Clr>
                <a:srgbClr val="000000"/>
              </a:buClr>
              <a:buFont typeface="Arial"/>
              <a:buNone/>
            </a:pPr>
            <a:r>
              <a:t/>
            </a:r>
            <a:endParaRPr sz="1800">
              <a:solidFill>
                <a:schemeClr val="dk1"/>
              </a:solidFill>
              <a:latin typeface="Calibri"/>
              <a:ea typeface="Calibri"/>
              <a:cs typeface="Calibri"/>
              <a:sym typeface="Calibri"/>
            </a:endParaRPr>
          </a:p>
        </p:txBody>
      </p:sp>
      <p:sp>
        <p:nvSpPr>
          <p:cNvPr id="356" name="Google Shape;356;p13"/>
          <p:cNvSpPr/>
          <p:nvPr/>
        </p:nvSpPr>
        <p:spPr>
          <a:xfrm>
            <a:off x="6455664" y="1810512"/>
            <a:ext cx="4919472"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4D399"/>
              </a:buClr>
              <a:buSzPts val="1600"/>
              <a:buFont typeface="Calibri"/>
              <a:buNone/>
            </a:pPr>
            <a:r>
              <a:rPr b="1" lang="en-US" sz="1600">
                <a:solidFill>
                  <a:srgbClr val="34D399"/>
                </a:solidFill>
                <a:latin typeface="Calibri"/>
                <a:ea typeface="Calibri"/>
                <a:cs typeface="Calibri"/>
                <a:sym typeface="Calibri"/>
              </a:rPr>
              <a:t>Interactive Human Review Suite</a:t>
            </a:r>
            <a:endParaRPr sz="1550">
              <a:solidFill>
                <a:schemeClr val="dk1"/>
              </a:solidFill>
              <a:latin typeface="Calibri"/>
              <a:ea typeface="Calibri"/>
              <a:cs typeface="Calibri"/>
              <a:sym typeface="Calibri"/>
            </a:endParaRPr>
          </a:p>
        </p:txBody>
      </p:sp>
      <p:sp>
        <p:nvSpPr>
          <p:cNvPr id="357" name="Google Shape;357;p13"/>
          <p:cNvSpPr/>
          <p:nvPr/>
        </p:nvSpPr>
        <p:spPr>
          <a:xfrm>
            <a:off x="6455664" y="2331720"/>
            <a:ext cx="329184" cy="329184"/>
          </a:xfrm>
          <a:prstGeom prst="ellipse">
            <a:avLst/>
          </a:prstGeom>
          <a:solidFill>
            <a:srgbClr val="34D3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8" name="Google Shape;358;p13"/>
          <p:cNvSpPr/>
          <p:nvPr/>
        </p:nvSpPr>
        <p:spPr>
          <a:xfrm>
            <a:off x="6455664" y="2331720"/>
            <a:ext cx="329184" cy="32918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1600"/>
              <a:buFont typeface="Calibri"/>
              <a:buNone/>
            </a:pPr>
            <a:r>
              <a:rPr b="1" lang="en-US" sz="1600">
                <a:solidFill>
                  <a:srgbClr val="0F172A"/>
                </a:solidFill>
                <a:latin typeface="Calibri"/>
                <a:ea typeface="Calibri"/>
                <a:cs typeface="Calibri"/>
                <a:sym typeface="Calibri"/>
              </a:rPr>
              <a:t>1</a:t>
            </a:r>
            <a:endParaRPr sz="1200">
              <a:solidFill>
                <a:schemeClr val="dk1"/>
              </a:solidFill>
              <a:latin typeface="Calibri"/>
              <a:ea typeface="Calibri"/>
              <a:cs typeface="Calibri"/>
              <a:sym typeface="Calibri"/>
            </a:endParaRPr>
          </a:p>
        </p:txBody>
      </p:sp>
      <p:sp>
        <p:nvSpPr>
          <p:cNvPr id="359" name="Google Shape;359;p13"/>
          <p:cNvSpPr/>
          <p:nvPr/>
        </p:nvSpPr>
        <p:spPr>
          <a:xfrm>
            <a:off x="6958584" y="2304288"/>
            <a:ext cx="4416552"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8FAFC"/>
              </a:buClr>
              <a:buSzPts val="1600"/>
              <a:buFont typeface="Calibri"/>
              <a:buNone/>
            </a:pPr>
            <a:r>
              <a:rPr b="1" lang="en-US" sz="1600">
                <a:solidFill>
                  <a:srgbClr val="F8FAFC"/>
                </a:solidFill>
                <a:latin typeface="Calibri"/>
                <a:ea typeface="Calibri"/>
                <a:cs typeface="Calibri"/>
                <a:sym typeface="Calibri"/>
              </a:rPr>
              <a:t>5-Stage React Review Console</a:t>
            </a:r>
            <a:endParaRPr sz="1200">
              <a:solidFill>
                <a:schemeClr val="dk1"/>
              </a:solidFill>
              <a:latin typeface="Calibri"/>
              <a:ea typeface="Calibri"/>
              <a:cs typeface="Calibri"/>
              <a:sym typeface="Calibri"/>
            </a:endParaRPr>
          </a:p>
        </p:txBody>
      </p:sp>
      <p:sp>
        <p:nvSpPr>
          <p:cNvPr id="360" name="Google Shape;360;p13"/>
          <p:cNvSpPr/>
          <p:nvPr/>
        </p:nvSpPr>
        <p:spPr>
          <a:xfrm>
            <a:off x="6958584" y="2651760"/>
            <a:ext cx="4416552"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94A3B8"/>
              </a:buClr>
              <a:buSzPts val="1300"/>
              <a:buFont typeface="Calibri"/>
              <a:buNone/>
            </a:pPr>
            <a:r>
              <a:rPr lang="en-US" sz="1300">
                <a:solidFill>
                  <a:srgbClr val="94A3B8"/>
                </a:solidFill>
                <a:latin typeface="Calibri"/>
                <a:ea typeface="Calibri"/>
                <a:cs typeface="Calibri"/>
                <a:sym typeface="Calibri"/>
              </a:rPr>
              <a:t>Identity, Sourcing, Attributes, Copywriting, and Delivery format audit.</a:t>
            </a:r>
            <a:endParaRPr sz="1000">
              <a:solidFill>
                <a:schemeClr val="dk1"/>
              </a:solidFill>
              <a:latin typeface="Calibri"/>
              <a:ea typeface="Calibri"/>
              <a:cs typeface="Calibri"/>
              <a:sym typeface="Calibri"/>
            </a:endParaRPr>
          </a:p>
        </p:txBody>
      </p:sp>
      <p:sp>
        <p:nvSpPr>
          <p:cNvPr id="361" name="Google Shape;361;p13"/>
          <p:cNvSpPr/>
          <p:nvPr/>
        </p:nvSpPr>
        <p:spPr>
          <a:xfrm>
            <a:off x="6455664" y="3182112"/>
            <a:ext cx="329184" cy="329184"/>
          </a:xfrm>
          <a:prstGeom prst="ellipse">
            <a:avLst/>
          </a:prstGeom>
          <a:solidFill>
            <a:srgbClr val="34D3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2" name="Google Shape;362;p13"/>
          <p:cNvSpPr/>
          <p:nvPr/>
        </p:nvSpPr>
        <p:spPr>
          <a:xfrm>
            <a:off x="6455664" y="3182112"/>
            <a:ext cx="329184" cy="32918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1600"/>
              <a:buFont typeface="Calibri"/>
              <a:buNone/>
            </a:pPr>
            <a:r>
              <a:rPr b="1" lang="en-US" sz="1600">
                <a:solidFill>
                  <a:srgbClr val="0F172A"/>
                </a:solidFill>
                <a:latin typeface="Calibri"/>
                <a:ea typeface="Calibri"/>
                <a:cs typeface="Calibri"/>
                <a:sym typeface="Calibri"/>
              </a:rPr>
              <a:t>2</a:t>
            </a:r>
            <a:endParaRPr sz="1200">
              <a:solidFill>
                <a:schemeClr val="dk1"/>
              </a:solidFill>
              <a:latin typeface="Calibri"/>
              <a:ea typeface="Calibri"/>
              <a:cs typeface="Calibri"/>
              <a:sym typeface="Calibri"/>
            </a:endParaRPr>
          </a:p>
        </p:txBody>
      </p:sp>
      <p:sp>
        <p:nvSpPr>
          <p:cNvPr id="363" name="Google Shape;363;p13"/>
          <p:cNvSpPr/>
          <p:nvPr/>
        </p:nvSpPr>
        <p:spPr>
          <a:xfrm>
            <a:off x="6958584" y="3154680"/>
            <a:ext cx="4416552"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8FAFC"/>
              </a:buClr>
              <a:buSzPts val="1600"/>
              <a:buFont typeface="Calibri"/>
              <a:buNone/>
            </a:pPr>
            <a:r>
              <a:rPr b="1" lang="en-US" sz="1600">
                <a:solidFill>
                  <a:srgbClr val="F8FAFC"/>
                </a:solidFill>
                <a:latin typeface="Calibri"/>
                <a:ea typeface="Calibri"/>
                <a:cs typeface="Calibri"/>
                <a:sym typeface="Calibri"/>
              </a:rPr>
              <a:t>Natural Language AI Steering Bar</a:t>
            </a:r>
            <a:endParaRPr sz="1200">
              <a:solidFill>
                <a:schemeClr val="dk1"/>
              </a:solidFill>
              <a:latin typeface="Calibri"/>
              <a:ea typeface="Calibri"/>
              <a:cs typeface="Calibri"/>
              <a:sym typeface="Calibri"/>
            </a:endParaRPr>
          </a:p>
        </p:txBody>
      </p:sp>
      <p:sp>
        <p:nvSpPr>
          <p:cNvPr id="364" name="Google Shape;364;p13"/>
          <p:cNvSpPr/>
          <p:nvPr/>
        </p:nvSpPr>
        <p:spPr>
          <a:xfrm>
            <a:off x="6958584" y="3502152"/>
            <a:ext cx="4416552"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94A3B8"/>
              </a:buClr>
              <a:buSzPts val="1300"/>
              <a:buFont typeface="Calibri"/>
              <a:buNone/>
            </a:pPr>
            <a:r>
              <a:rPr lang="en-US" sz="1300">
                <a:solidFill>
                  <a:srgbClr val="94A3B8"/>
                </a:solidFill>
                <a:latin typeface="Calibri"/>
                <a:ea typeface="Calibri"/>
                <a:cs typeface="Calibri"/>
                <a:sym typeface="Calibri"/>
              </a:rPr>
              <a:t>Allows reviewers to steer extraction nodes with active text directives.</a:t>
            </a:r>
            <a:endParaRPr sz="1000">
              <a:solidFill>
                <a:schemeClr val="dk1"/>
              </a:solidFill>
              <a:latin typeface="Calibri"/>
              <a:ea typeface="Calibri"/>
              <a:cs typeface="Calibri"/>
              <a:sym typeface="Calibri"/>
            </a:endParaRPr>
          </a:p>
        </p:txBody>
      </p:sp>
      <p:sp>
        <p:nvSpPr>
          <p:cNvPr id="365" name="Google Shape;365;p13"/>
          <p:cNvSpPr/>
          <p:nvPr/>
        </p:nvSpPr>
        <p:spPr>
          <a:xfrm>
            <a:off x="6455664" y="4032504"/>
            <a:ext cx="329184" cy="329184"/>
          </a:xfrm>
          <a:prstGeom prst="ellipse">
            <a:avLst/>
          </a:prstGeom>
          <a:solidFill>
            <a:srgbClr val="34D3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6" name="Google Shape;366;p13"/>
          <p:cNvSpPr/>
          <p:nvPr/>
        </p:nvSpPr>
        <p:spPr>
          <a:xfrm>
            <a:off x="6455664" y="4032504"/>
            <a:ext cx="329184" cy="32918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1600"/>
              <a:buFont typeface="Calibri"/>
              <a:buNone/>
            </a:pPr>
            <a:r>
              <a:rPr b="1" lang="en-US" sz="1600">
                <a:solidFill>
                  <a:srgbClr val="0F172A"/>
                </a:solidFill>
                <a:latin typeface="Calibri"/>
                <a:ea typeface="Calibri"/>
                <a:cs typeface="Calibri"/>
                <a:sym typeface="Calibri"/>
              </a:rPr>
              <a:t>3</a:t>
            </a:r>
            <a:endParaRPr sz="1200">
              <a:solidFill>
                <a:schemeClr val="dk1"/>
              </a:solidFill>
              <a:latin typeface="Calibri"/>
              <a:ea typeface="Calibri"/>
              <a:cs typeface="Calibri"/>
              <a:sym typeface="Calibri"/>
            </a:endParaRPr>
          </a:p>
        </p:txBody>
      </p:sp>
      <p:sp>
        <p:nvSpPr>
          <p:cNvPr id="367" name="Google Shape;367;p13"/>
          <p:cNvSpPr/>
          <p:nvPr/>
        </p:nvSpPr>
        <p:spPr>
          <a:xfrm>
            <a:off x="6958584" y="4005072"/>
            <a:ext cx="4416552"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8FAFC"/>
              </a:buClr>
              <a:buSzPts val="1600"/>
              <a:buFont typeface="Calibri"/>
              <a:buNone/>
            </a:pPr>
            <a:r>
              <a:rPr b="1" lang="en-US" sz="1600">
                <a:solidFill>
                  <a:srgbClr val="F8FAFC"/>
                </a:solidFill>
                <a:latin typeface="Calibri"/>
                <a:ea typeface="Calibri"/>
                <a:cs typeface="Calibri"/>
                <a:sym typeface="Calibri"/>
              </a:rPr>
              <a:t>252-Column Unilog CSV Exporter</a:t>
            </a:r>
            <a:endParaRPr sz="1200">
              <a:solidFill>
                <a:schemeClr val="dk1"/>
              </a:solidFill>
              <a:latin typeface="Calibri"/>
              <a:ea typeface="Calibri"/>
              <a:cs typeface="Calibri"/>
              <a:sym typeface="Calibri"/>
            </a:endParaRPr>
          </a:p>
        </p:txBody>
      </p:sp>
      <p:sp>
        <p:nvSpPr>
          <p:cNvPr id="368" name="Google Shape;368;p13"/>
          <p:cNvSpPr/>
          <p:nvPr/>
        </p:nvSpPr>
        <p:spPr>
          <a:xfrm>
            <a:off x="6958584" y="4352544"/>
            <a:ext cx="4416552"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94A3B8"/>
              </a:buClr>
              <a:buSzPts val="1300"/>
              <a:buFont typeface="Calibri"/>
              <a:buNone/>
            </a:pPr>
            <a:r>
              <a:rPr lang="en-US" sz="1300">
                <a:solidFill>
                  <a:srgbClr val="94A3B8"/>
                </a:solidFill>
                <a:latin typeface="Calibri"/>
                <a:ea typeface="Calibri"/>
                <a:cs typeface="Calibri"/>
                <a:sym typeface="Calibri"/>
              </a:rPr>
              <a:t>1-click export compliant with Unilog master delivery specifications.</a:t>
            </a:r>
            <a:endParaRPr sz="1000">
              <a:solidFill>
                <a:schemeClr val="dk1"/>
              </a:solidFill>
              <a:latin typeface="Calibri"/>
              <a:ea typeface="Calibri"/>
              <a:cs typeface="Calibri"/>
              <a:sym typeface="Calibri"/>
            </a:endParaRPr>
          </a:p>
        </p:txBody>
      </p:sp>
      <p:sp>
        <p:nvSpPr>
          <p:cNvPr id="369" name="Google Shape;369;p13"/>
          <p:cNvSpPr/>
          <p:nvPr/>
        </p:nvSpPr>
        <p:spPr>
          <a:xfrm>
            <a:off x="45720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172A"/>
              </a:buClr>
              <a:buSzPts val="1300"/>
              <a:buFont typeface="Calibri"/>
              <a:buNone/>
            </a:pPr>
            <a:r>
              <a:rPr lang="en-US" sz="1300">
                <a:solidFill>
                  <a:srgbClr val="0F172A"/>
                </a:solidFill>
                <a:latin typeface="Calibri"/>
                <a:ea typeface="Calibri"/>
                <a:cs typeface="Calibri"/>
                <a:sym typeface="Calibri"/>
              </a:rPr>
              <a:t>10 / 15   •   Features</a:t>
            </a:r>
            <a:endParaRPr sz="900">
              <a:solidFill>
                <a:schemeClr val="dk1"/>
              </a:solidFill>
              <a:latin typeface="Calibri"/>
              <a:ea typeface="Calibri"/>
              <a:cs typeface="Calibri"/>
              <a:sym typeface="Calibri"/>
            </a:endParaRPr>
          </a:p>
        </p:txBody>
      </p:sp>
      <p:sp>
        <p:nvSpPr>
          <p:cNvPr id="370" name="Google Shape;370;p13"/>
          <p:cNvSpPr txBox="1"/>
          <p:nvPr/>
        </p:nvSpPr>
        <p:spPr>
          <a:xfrm>
            <a:off x="7011150" y="4937750"/>
            <a:ext cx="3368400" cy="6885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Clr>
                <a:schemeClr val="dk1"/>
              </a:buClr>
              <a:buSzPts val="1100"/>
              <a:buFont typeface="Arial"/>
              <a:buNone/>
            </a:pPr>
            <a:r>
              <a:rPr b="1" lang="en-US">
                <a:solidFill>
                  <a:srgbClr val="F8FAFC"/>
                </a:solidFill>
                <a:latin typeface="Calibri"/>
                <a:ea typeface="Calibri"/>
                <a:cs typeface="Calibri"/>
                <a:sym typeface="Calibri"/>
              </a:rPr>
              <a:t>Deduplication  – ( mpn + brand ) as unique key for caching or databse so same product (not pipline)</a:t>
            </a:r>
            <a:endParaRPr b="1">
              <a:solidFill>
                <a:srgbClr val="F8FAFC"/>
              </a:solidFill>
              <a:latin typeface="Calibri"/>
              <a:ea typeface="Calibri"/>
              <a:cs typeface="Calibri"/>
              <a:sym typeface="Calibri"/>
            </a:endParaRPr>
          </a:p>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375" name="Shape 375"/>
        <p:cNvGrpSpPr/>
        <p:nvPr/>
      </p:nvGrpSpPr>
      <p:grpSpPr>
        <a:xfrm>
          <a:off x="0" y="0"/>
          <a:ext cx="0" cy="0"/>
          <a:chOff x="0" y="0"/>
          <a:chExt cx="0" cy="0"/>
        </a:xfrm>
      </p:grpSpPr>
      <p:pic>
        <p:nvPicPr>
          <p:cNvPr descr="image.png" id="376" name="Google Shape;376;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77" name="Google Shape;377;p14"/>
          <p:cNvSpPr/>
          <p:nvPr/>
        </p:nvSpPr>
        <p:spPr>
          <a:xfrm>
            <a:off x="548640" y="347472"/>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172A"/>
              </a:buClr>
              <a:buSzPts val="1300"/>
              <a:buFont typeface="Calibri"/>
              <a:buNone/>
            </a:pPr>
            <a:r>
              <a:rPr b="1" lang="en-US" sz="1300">
                <a:solidFill>
                  <a:srgbClr val="0F172A"/>
                </a:solidFill>
                <a:latin typeface="Calibri"/>
                <a:ea typeface="Calibri"/>
                <a:cs typeface="Calibri"/>
                <a:sym typeface="Calibri"/>
              </a:rPr>
              <a:t>SYSTEM DESIGN</a:t>
            </a:r>
            <a:endParaRPr sz="1100">
              <a:solidFill>
                <a:schemeClr val="dk1"/>
              </a:solidFill>
              <a:latin typeface="Calibri"/>
              <a:ea typeface="Calibri"/>
              <a:cs typeface="Calibri"/>
              <a:sym typeface="Calibri"/>
            </a:endParaRPr>
          </a:p>
        </p:txBody>
      </p:sp>
      <p:sp>
        <p:nvSpPr>
          <p:cNvPr id="378" name="Google Shape;378;p14"/>
          <p:cNvSpPr/>
          <p:nvPr/>
        </p:nvSpPr>
        <p:spPr>
          <a:xfrm>
            <a:off x="548640" y="603504"/>
            <a:ext cx="11064240" cy="86868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0F172A"/>
              </a:buClr>
              <a:buSzPts val="3200"/>
              <a:buFont typeface="Calibri"/>
              <a:buNone/>
            </a:pPr>
            <a:r>
              <a:rPr b="1" lang="en-US" sz="3200">
                <a:solidFill>
                  <a:srgbClr val="0F172A"/>
                </a:solidFill>
                <a:latin typeface="Calibri"/>
                <a:ea typeface="Calibri"/>
                <a:cs typeface="Calibri"/>
                <a:sym typeface="Calibri"/>
              </a:rPr>
              <a:t>Process Flow — 10-Node LangGraph State Machine</a:t>
            </a:r>
            <a:endParaRPr sz="2500">
              <a:solidFill>
                <a:schemeClr val="dk1"/>
              </a:solidFill>
              <a:latin typeface="Calibri"/>
              <a:ea typeface="Calibri"/>
              <a:cs typeface="Calibri"/>
              <a:sym typeface="Calibri"/>
            </a:endParaRPr>
          </a:p>
        </p:txBody>
      </p:sp>
      <p:sp>
        <p:nvSpPr>
          <p:cNvPr id="379" name="Google Shape;379;p14"/>
          <p:cNvSpPr/>
          <p:nvPr/>
        </p:nvSpPr>
        <p:spPr>
          <a:xfrm>
            <a:off x="548640" y="1600200"/>
            <a:ext cx="5468112" cy="1024128"/>
          </a:xfrm>
          <a:prstGeom prst="roundRect">
            <a:avLst>
              <a:gd fmla="val 8036" name="adj"/>
            </a:avLst>
          </a:prstGeom>
          <a:solidFill>
            <a:srgbClr val="1E29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0" name="Google Shape;380;p14"/>
          <p:cNvSpPr/>
          <p:nvPr/>
        </p:nvSpPr>
        <p:spPr>
          <a:xfrm>
            <a:off x="749808" y="1874520"/>
            <a:ext cx="475488" cy="475488"/>
          </a:xfrm>
          <a:prstGeom prst="ellipse">
            <a:avLst/>
          </a:prstGeom>
          <a:solidFill>
            <a:srgbClr val="38BDF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1" name="Google Shape;381;p14"/>
          <p:cNvSpPr/>
          <p:nvPr/>
        </p:nvSpPr>
        <p:spPr>
          <a:xfrm>
            <a:off x="749808" y="1874520"/>
            <a:ext cx="475488" cy="4754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2200"/>
              <a:buFont typeface="Calibri"/>
              <a:buNone/>
            </a:pPr>
            <a:r>
              <a:rPr b="1" lang="en-US" sz="2200">
                <a:solidFill>
                  <a:srgbClr val="0F172A"/>
                </a:solidFill>
                <a:latin typeface="Calibri"/>
                <a:ea typeface="Calibri"/>
                <a:cs typeface="Calibri"/>
                <a:sym typeface="Calibri"/>
              </a:rPr>
              <a:t>1</a:t>
            </a:r>
            <a:endParaRPr sz="1700">
              <a:solidFill>
                <a:schemeClr val="dk1"/>
              </a:solidFill>
              <a:latin typeface="Calibri"/>
              <a:ea typeface="Calibri"/>
              <a:cs typeface="Calibri"/>
              <a:sym typeface="Calibri"/>
            </a:endParaRPr>
          </a:p>
        </p:txBody>
      </p:sp>
      <p:sp>
        <p:nvSpPr>
          <p:cNvPr id="382" name="Google Shape;382;p14"/>
          <p:cNvSpPr/>
          <p:nvPr/>
        </p:nvSpPr>
        <p:spPr>
          <a:xfrm>
            <a:off x="1417320" y="1691640"/>
            <a:ext cx="4370832"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8FAFC"/>
              </a:buClr>
              <a:buSzPts val="1600"/>
              <a:buFont typeface="Calibri"/>
              <a:buNone/>
            </a:pPr>
            <a:r>
              <a:rPr b="1" lang="en-US" sz="1600">
                <a:solidFill>
                  <a:srgbClr val="F8FAFC"/>
                </a:solidFill>
                <a:latin typeface="Calibri"/>
                <a:ea typeface="Calibri"/>
                <a:cs typeface="Calibri"/>
                <a:sym typeface="Calibri"/>
              </a:rPr>
              <a:t>Input Ingestion</a:t>
            </a:r>
            <a:endParaRPr sz="1300">
              <a:solidFill>
                <a:schemeClr val="dk1"/>
              </a:solidFill>
              <a:latin typeface="Calibri"/>
              <a:ea typeface="Calibri"/>
              <a:cs typeface="Calibri"/>
              <a:sym typeface="Calibri"/>
            </a:endParaRPr>
          </a:p>
        </p:txBody>
      </p:sp>
      <p:sp>
        <p:nvSpPr>
          <p:cNvPr id="383" name="Google Shape;383;p14"/>
          <p:cNvSpPr/>
          <p:nvPr/>
        </p:nvSpPr>
        <p:spPr>
          <a:xfrm>
            <a:off x="1417320" y="2057400"/>
            <a:ext cx="4370832"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94A3B8"/>
              </a:buClr>
              <a:buSzPts val="1300"/>
              <a:buFont typeface="Calibri"/>
              <a:buNone/>
            </a:pPr>
            <a:r>
              <a:rPr lang="en-US" sz="1300">
                <a:solidFill>
                  <a:srgbClr val="94A3B8"/>
                </a:solidFill>
                <a:latin typeface="Calibri"/>
                <a:ea typeface="Calibri"/>
                <a:cs typeface="Calibri"/>
                <a:sym typeface="Calibri"/>
              </a:rPr>
              <a:t>Ingests dirty Brand, MPN, Description feed.</a:t>
            </a:r>
            <a:endParaRPr sz="1000">
              <a:solidFill>
                <a:schemeClr val="dk1"/>
              </a:solidFill>
              <a:latin typeface="Calibri"/>
              <a:ea typeface="Calibri"/>
              <a:cs typeface="Calibri"/>
              <a:sym typeface="Calibri"/>
            </a:endParaRPr>
          </a:p>
        </p:txBody>
      </p:sp>
      <p:cxnSp>
        <p:nvCxnSpPr>
          <p:cNvPr id="384" name="Google Shape;384;p14"/>
          <p:cNvCxnSpPr/>
          <p:nvPr/>
        </p:nvCxnSpPr>
        <p:spPr>
          <a:xfrm>
            <a:off x="987552" y="2624328"/>
            <a:ext cx="914" cy="146304"/>
          </a:xfrm>
          <a:prstGeom prst="straightConnector1">
            <a:avLst/>
          </a:prstGeom>
          <a:noFill/>
          <a:ln cap="flat" cmpd="sng" w="15875">
            <a:solidFill>
              <a:srgbClr val="64748B"/>
            </a:solidFill>
            <a:prstDash val="dash"/>
            <a:round/>
            <a:headEnd len="sm" w="sm" type="none"/>
            <a:tailEnd len="sm" w="sm" type="none"/>
          </a:ln>
        </p:spPr>
      </p:cxnSp>
      <p:sp>
        <p:nvSpPr>
          <p:cNvPr id="385" name="Google Shape;385;p14"/>
          <p:cNvSpPr/>
          <p:nvPr/>
        </p:nvSpPr>
        <p:spPr>
          <a:xfrm>
            <a:off x="548640" y="2770632"/>
            <a:ext cx="5468112" cy="1024128"/>
          </a:xfrm>
          <a:prstGeom prst="roundRect">
            <a:avLst>
              <a:gd fmla="val 8036" name="adj"/>
            </a:avLst>
          </a:prstGeom>
          <a:solidFill>
            <a:srgbClr val="1E29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6" name="Google Shape;386;p14"/>
          <p:cNvSpPr/>
          <p:nvPr/>
        </p:nvSpPr>
        <p:spPr>
          <a:xfrm>
            <a:off x="749808" y="3044952"/>
            <a:ext cx="475488" cy="475488"/>
          </a:xfrm>
          <a:prstGeom prst="ellipse">
            <a:avLst/>
          </a:prstGeom>
          <a:solidFill>
            <a:srgbClr val="38BDF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7" name="Google Shape;387;p14"/>
          <p:cNvSpPr/>
          <p:nvPr/>
        </p:nvSpPr>
        <p:spPr>
          <a:xfrm>
            <a:off x="749808" y="3044952"/>
            <a:ext cx="475488" cy="4754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2200"/>
              <a:buFont typeface="Calibri"/>
              <a:buNone/>
            </a:pPr>
            <a:r>
              <a:rPr b="1" lang="en-US" sz="2200">
                <a:solidFill>
                  <a:srgbClr val="0F172A"/>
                </a:solidFill>
                <a:latin typeface="Calibri"/>
                <a:ea typeface="Calibri"/>
                <a:cs typeface="Calibri"/>
                <a:sym typeface="Calibri"/>
              </a:rPr>
              <a:t>2</a:t>
            </a:r>
            <a:endParaRPr sz="1700">
              <a:solidFill>
                <a:schemeClr val="dk1"/>
              </a:solidFill>
              <a:latin typeface="Calibri"/>
              <a:ea typeface="Calibri"/>
              <a:cs typeface="Calibri"/>
              <a:sym typeface="Calibri"/>
            </a:endParaRPr>
          </a:p>
        </p:txBody>
      </p:sp>
      <p:sp>
        <p:nvSpPr>
          <p:cNvPr id="388" name="Google Shape;388;p14"/>
          <p:cNvSpPr/>
          <p:nvPr/>
        </p:nvSpPr>
        <p:spPr>
          <a:xfrm>
            <a:off x="1417320" y="2862072"/>
            <a:ext cx="4370832"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8FAFC"/>
              </a:buClr>
              <a:buSzPts val="1600"/>
              <a:buFont typeface="Calibri"/>
              <a:buNone/>
            </a:pPr>
            <a:r>
              <a:rPr b="1" lang="en-US" sz="1600">
                <a:solidFill>
                  <a:srgbClr val="F8FAFC"/>
                </a:solidFill>
                <a:latin typeface="Calibri"/>
                <a:ea typeface="Calibri"/>
                <a:cs typeface="Calibri"/>
                <a:sym typeface="Calibri"/>
              </a:rPr>
              <a:t>Identity &amp; Taxonomy</a:t>
            </a:r>
            <a:endParaRPr sz="1300">
              <a:solidFill>
                <a:schemeClr val="dk1"/>
              </a:solidFill>
              <a:latin typeface="Calibri"/>
              <a:ea typeface="Calibri"/>
              <a:cs typeface="Calibri"/>
              <a:sym typeface="Calibri"/>
            </a:endParaRPr>
          </a:p>
        </p:txBody>
      </p:sp>
      <p:sp>
        <p:nvSpPr>
          <p:cNvPr id="389" name="Google Shape;389;p14"/>
          <p:cNvSpPr/>
          <p:nvPr/>
        </p:nvSpPr>
        <p:spPr>
          <a:xfrm>
            <a:off x="1417320" y="3227832"/>
            <a:ext cx="4370832"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94A3B8"/>
              </a:buClr>
              <a:buSzPts val="1300"/>
              <a:buFont typeface="Calibri"/>
              <a:buNone/>
            </a:pPr>
            <a:r>
              <a:rPr lang="en-US" sz="1300">
                <a:solidFill>
                  <a:srgbClr val="94A3B8"/>
                </a:solidFill>
                <a:latin typeface="Calibri"/>
                <a:ea typeface="Calibri"/>
                <a:cs typeface="Calibri"/>
                <a:sym typeface="Calibri"/>
              </a:rPr>
              <a:t>Resolves OEM Brand &amp; 8-Digit UNSPSC Category Code.</a:t>
            </a:r>
            <a:endParaRPr sz="1000">
              <a:solidFill>
                <a:schemeClr val="dk1"/>
              </a:solidFill>
              <a:latin typeface="Calibri"/>
              <a:ea typeface="Calibri"/>
              <a:cs typeface="Calibri"/>
              <a:sym typeface="Calibri"/>
            </a:endParaRPr>
          </a:p>
        </p:txBody>
      </p:sp>
      <p:cxnSp>
        <p:nvCxnSpPr>
          <p:cNvPr id="390" name="Google Shape;390;p14"/>
          <p:cNvCxnSpPr/>
          <p:nvPr/>
        </p:nvCxnSpPr>
        <p:spPr>
          <a:xfrm>
            <a:off x="987552" y="3794760"/>
            <a:ext cx="914" cy="146304"/>
          </a:xfrm>
          <a:prstGeom prst="straightConnector1">
            <a:avLst/>
          </a:prstGeom>
          <a:noFill/>
          <a:ln cap="flat" cmpd="sng" w="15875">
            <a:solidFill>
              <a:srgbClr val="64748B"/>
            </a:solidFill>
            <a:prstDash val="dash"/>
            <a:round/>
            <a:headEnd len="sm" w="sm" type="none"/>
            <a:tailEnd len="sm" w="sm" type="none"/>
          </a:ln>
        </p:spPr>
      </p:cxnSp>
      <p:sp>
        <p:nvSpPr>
          <p:cNvPr id="391" name="Google Shape;391;p14"/>
          <p:cNvSpPr/>
          <p:nvPr/>
        </p:nvSpPr>
        <p:spPr>
          <a:xfrm>
            <a:off x="548640" y="3941064"/>
            <a:ext cx="5468112" cy="1024128"/>
          </a:xfrm>
          <a:prstGeom prst="roundRect">
            <a:avLst>
              <a:gd fmla="val 8036" name="adj"/>
            </a:avLst>
          </a:prstGeom>
          <a:solidFill>
            <a:srgbClr val="16213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2" name="Google Shape;392;p14"/>
          <p:cNvSpPr/>
          <p:nvPr/>
        </p:nvSpPr>
        <p:spPr>
          <a:xfrm>
            <a:off x="749808" y="4215384"/>
            <a:ext cx="475488" cy="475488"/>
          </a:xfrm>
          <a:prstGeom prst="ellipse">
            <a:avLst/>
          </a:prstGeom>
          <a:solidFill>
            <a:srgbClr val="34D3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3" name="Google Shape;393;p14"/>
          <p:cNvSpPr/>
          <p:nvPr/>
        </p:nvSpPr>
        <p:spPr>
          <a:xfrm>
            <a:off x="749808" y="4215384"/>
            <a:ext cx="475488" cy="4754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2200"/>
              <a:buFont typeface="Calibri"/>
              <a:buNone/>
            </a:pPr>
            <a:r>
              <a:rPr b="1" lang="en-US" sz="2200">
                <a:solidFill>
                  <a:srgbClr val="0F172A"/>
                </a:solidFill>
                <a:latin typeface="Calibri"/>
                <a:ea typeface="Calibri"/>
                <a:cs typeface="Calibri"/>
                <a:sym typeface="Calibri"/>
              </a:rPr>
              <a:t>3</a:t>
            </a:r>
            <a:endParaRPr sz="1700">
              <a:solidFill>
                <a:schemeClr val="dk1"/>
              </a:solidFill>
              <a:latin typeface="Calibri"/>
              <a:ea typeface="Calibri"/>
              <a:cs typeface="Calibri"/>
              <a:sym typeface="Calibri"/>
            </a:endParaRPr>
          </a:p>
        </p:txBody>
      </p:sp>
      <p:sp>
        <p:nvSpPr>
          <p:cNvPr id="394" name="Google Shape;394;p14"/>
          <p:cNvSpPr/>
          <p:nvPr/>
        </p:nvSpPr>
        <p:spPr>
          <a:xfrm>
            <a:off x="1417320" y="4032504"/>
            <a:ext cx="4370832"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4D399"/>
              </a:buClr>
              <a:buSzPts val="1600"/>
              <a:buFont typeface="Calibri"/>
              <a:buNone/>
            </a:pPr>
            <a:r>
              <a:rPr b="1" lang="en-US" sz="1600">
                <a:solidFill>
                  <a:srgbClr val="34D399"/>
                </a:solidFill>
                <a:latin typeface="Calibri"/>
                <a:ea typeface="Calibri"/>
                <a:cs typeface="Calibri"/>
                <a:sym typeface="Calibri"/>
              </a:rPr>
              <a:t>Checkpoint 1 — HITL Identity</a:t>
            </a:r>
            <a:endParaRPr sz="1300">
              <a:solidFill>
                <a:schemeClr val="dk1"/>
              </a:solidFill>
              <a:latin typeface="Calibri"/>
              <a:ea typeface="Calibri"/>
              <a:cs typeface="Calibri"/>
              <a:sym typeface="Calibri"/>
            </a:endParaRPr>
          </a:p>
        </p:txBody>
      </p:sp>
      <p:sp>
        <p:nvSpPr>
          <p:cNvPr id="395" name="Google Shape;395;p14"/>
          <p:cNvSpPr/>
          <p:nvPr/>
        </p:nvSpPr>
        <p:spPr>
          <a:xfrm>
            <a:off x="1417320" y="4398264"/>
            <a:ext cx="4370832"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94A3B8"/>
              </a:buClr>
              <a:buSzPts val="1300"/>
              <a:buFont typeface="Calibri"/>
              <a:buNone/>
            </a:pPr>
            <a:r>
              <a:rPr lang="en-US" sz="1300">
                <a:solidFill>
                  <a:srgbClr val="94A3B8"/>
                </a:solidFill>
                <a:latin typeface="Calibri"/>
                <a:ea typeface="Calibri"/>
                <a:cs typeface="Calibri"/>
                <a:sym typeface="Calibri"/>
              </a:rPr>
              <a:t>Pauses for human brand &amp; taxonomy audit.</a:t>
            </a:r>
            <a:endParaRPr sz="1000">
              <a:solidFill>
                <a:schemeClr val="dk1"/>
              </a:solidFill>
              <a:latin typeface="Calibri"/>
              <a:ea typeface="Calibri"/>
              <a:cs typeface="Calibri"/>
              <a:sym typeface="Calibri"/>
            </a:endParaRPr>
          </a:p>
        </p:txBody>
      </p:sp>
      <p:cxnSp>
        <p:nvCxnSpPr>
          <p:cNvPr id="396" name="Google Shape;396;p14"/>
          <p:cNvCxnSpPr/>
          <p:nvPr/>
        </p:nvCxnSpPr>
        <p:spPr>
          <a:xfrm>
            <a:off x="987552" y="4965192"/>
            <a:ext cx="914" cy="146304"/>
          </a:xfrm>
          <a:prstGeom prst="straightConnector1">
            <a:avLst/>
          </a:prstGeom>
          <a:noFill/>
          <a:ln cap="flat" cmpd="sng" w="15875">
            <a:solidFill>
              <a:srgbClr val="64748B"/>
            </a:solidFill>
            <a:prstDash val="dash"/>
            <a:round/>
            <a:headEnd len="sm" w="sm" type="none"/>
            <a:tailEnd len="sm" w="sm" type="none"/>
          </a:ln>
        </p:spPr>
      </p:cxnSp>
      <p:sp>
        <p:nvSpPr>
          <p:cNvPr id="397" name="Google Shape;397;p14"/>
          <p:cNvSpPr/>
          <p:nvPr/>
        </p:nvSpPr>
        <p:spPr>
          <a:xfrm>
            <a:off x="548640" y="5111496"/>
            <a:ext cx="5468112" cy="1024128"/>
          </a:xfrm>
          <a:prstGeom prst="roundRect">
            <a:avLst>
              <a:gd fmla="val 8036" name="adj"/>
            </a:avLst>
          </a:prstGeom>
          <a:solidFill>
            <a:srgbClr val="1E29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8" name="Google Shape;398;p14"/>
          <p:cNvSpPr/>
          <p:nvPr/>
        </p:nvSpPr>
        <p:spPr>
          <a:xfrm>
            <a:off x="749808" y="5385816"/>
            <a:ext cx="475488" cy="475488"/>
          </a:xfrm>
          <a:prstGeom prst="ellipse">
            <a:avLst/>
          </a:prstGeom>
          <a:solidFill>
            <a:srgbClr val="38BDF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9" name="Google Shape;399;p14"/>
          <p:cNvSpPr/>
          <p:nvPr/>
        </p:nvSpPr>
        <p:spPr>
          <a:xfrm>
            <a:off x="749808" y="5385816"/>
            <a:ext cx="475488" cy="4754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2200"/>
              <a:buFont typeface="Calibri"/>
              <a:buNone/>
            </a:pPr>
            <a:r>
              <a:rPr b="1" lang="en-US" sz="2200">
                <a:solidFill>
                  <a:srgbClr val="0F172A"/>
                </a:solidFill>
                <a:latin typeface="Calibri"/>
                <a:ea typeface="Calibri"/>
                <a:cs typeface="Calibri"/>
                <a:sym typeface="Calibri"/>
              </a:rPr>
              <a:t>4</a:t>
            </a:r>
            <a:endParaRPr sz="1700">
              <a:solidFill>
                <a:schemeClr val="dk1"/>
              </a:solidFill>
              <a:latin typeface="Calibri"/>
              <a:ea typeface="Calibri"/>
              <a:cs typeface="Calibri"/>
              <a:sym typeface="Calibri"/>
            </a:endParaRPr>
          </a:p>
        </p:txBody>
      </p:sp>
      <p:sp>
        <p:nvSpPr>
          <p:cNvPr id="400" name="Google Shape;400;p14"/>
          <p:cNvSpPr/>
          <p:nvPr/>
        </p:nvSpPr>
        <p:spPr>
          <a:xfrm>
            <a:off x="1417320" y="5202936"/>
            <a:ext cx="4370832"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8FAFC"/>
              </a:buClr>
              <a:buSzPts val="1600"/>
              <a:buFont typeface="Calibri"/>
              <a:buNone/>
            </a:pPr>
            <a:r>
              <a:rPr b="1" lang="en-US" sz="1600">
                <a:solidFill>
                  <a:srgbClr val="F8FAFC"/>
                </a:solidFill>
                <a:latin typeface="Calibri"/>
                <a:ea typeface="Calibri"/>
                <a:cs typeface="Calibri"/>
                <a:sym typeface="Calibri"/>
              </a:rPr>
              <a:t>Sourcing &amp; Harvesting</a:t>
            </a:r>
            <a:endParaRPr sz="1300">
              <a:solidFill>
                <a:schemeClr val="dk1"/>
              </a:solidFill>
              <a:latin typeface="Calibri"/>
              <a:ea typeface="Calibri"/>
              <a:cs typeface="Calibri"/>
              <a:sym typeface="Calibri"/>
            </a:endParaRPr>
          </a:p>
        </p:txBody>
      </p:sp>
      <p:sp>
        <p:nvSpPr>
          <p:cNvPr id="401" name="Google Shape;401;p14"/>
          <p:cNvSpPr/>
          <p:nvPr/>
        </p:nvSpPr>
        <p:spPr>
          <a:xfrm>
            <a:off x="1417320" y="5568696"/>
            <a:ext cx="4370832"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94A3B8"/>
              </a:buClr>
              <a:buSzPts val="1300"/>
              <a:buFont typeface="Calibri"/>
              <a:buNone/>
            </a:pPr>
            <a:r>
              <a:rPr lang="en-US" sz="1300">
                <a:solidFill>
                  <a:srgbClr val="94A3B8"/>
                </a:solidFill>
                <a:latin typeface="Calibri"/>
                <a:ea typeface="Calibri"/>
                <a:cs typeface="Calibri"/>
                <a:sym typeface="Calibri"/>
              </a:rPr>
              <a:t>Locates OEM domain, downloads PDFs, hashes into ChromaDB.</a:t>
            </a:r>
            <a:endParaRPr sz="1000">
              <a:solidFill>
                <a:schemeClr val="dk1"/>
              </a:solidFill>
              <a:latin typeface="Calibri"/>
              <a:ea typeface="Calibri"/>
              <a:cs typeface="Calibri"/>
              <a:sym typeface="Calibri"/>
            </a:endParaRPr>
          </a:p>
        </p:txBody>
      </p:sp>
      <p:sp>
        <p:nvSpPr>
          <p:cNvPr id="402" name="Google Shape;402;p14"/>
          <p:cNvSpPr/>
          <p:nvPr/>
        </p:nvSpPr>
        <p:spPr>
          <a:xfrm>
            <a:off x="6181344" y="1600200"/>
            <a:ext cx="5468112" cy="1024128"/>
          </a:xfrm>
          <a:prstGeom prst="roundRect">
            <a:avLst>
              <a:gd fmla="val 8036" name="adj"/>
            </a:avLst>
          </a:prstGeom>
          <a:solidFill>
            <a:srgbClr val="16213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3" name="Google Shape;403;p14"/>
          <p:cNvSpPr/>
          <p:nvPr/>
        </p:nvSpPr>
        <p:spPr>
          <a:xfrm>
            <a:off x="6382512" y="1874520"/>
            <a:ext cx="475488" cy="475488"/>
          </a:xfrm>
          <a:prstGeom prst="ellipse">
            <a:avLst/>
          </a:prstGeom>
          <a:solidFill>
            <a:srgbClr val="34D3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4" name="Google Shape;404;p14"/>
          <p:cNvSpPr/>
          <p:nvPr/>
        </p:nvSpPr>
        <p:spPr>
          <a:xfrm>
            <a:off x="6382512" y="1874520"/>
            <a:ext cx="475488" cy="4754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2200"/>
              <a:buFont typeface="Calibri"/>
              <a:buNone/>
            </a:pPr>
            <a:r>
              <a:rPr b="1" lang="en-US" sz="2200">
                <a:solidFill>
                  <a:srgbClr val="0F172A"/>
                </a:solidFill>
                <a:latin typeface="Calibri"/>
                <a:ea typeface="Calibri"/>
                <a:cs typeface="Calibri"/>
                <a:sym typeface="Calibri"/>
              </a:rPr>
              <a:t>5</a:t>
            </a:r>
            <a:endParaRPr sz="1700">
              <a:solidFill>
                <a:schemeClr val="dk1"/>
              </a:solidFill>
              <a:latin typeface="Calibri"/>
              <a:ea typeface="Calibri"/>
              <a:cs typeface="Calibri"/>
              <a:sym typeface="Calibri"/>
            </a:endParaRPr>
          </a:p>
        </p:txBody>
      </p:sp>
      <p:sp>
        <p:nvSpPr>
          <p:cNvPr id="405" name="Google Shape;405;p14"/>
          <p:cNvSpPr/>
          <p:nvPr/>
        </p:nvSpPr>
        <p:spPr>
          <a:xfrm>
            <a:off x="7050024" y="1691640"/>
            <a:ext cx="4370832"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4D399"/>
              </a:buClr>
              <a:buSzPts val="1600"/>
              <a:buFont typeface="Calibri"/>
              <a:buNone/>
            </a:pPr>
            <a:r>
              <a:rPr b="1" lang="en-US" sz="1600">
                <a:solidFill>
                  <a:srgbClr val="34D399"/>
                </a:solidFill>
                <a:latin typeface="Calibri"/>
                <a:ea typeface="Calibri"/>
                <a:cs typeface="Calibri"/>
                <a:sym typeface="Calibri"/>
              </a:rPr>
              <a:t>Checkpoint 2 — HITL Sourcing</a:t>
            </a:r>
            <a:endParaRPr sz="1300">
              <a:solidFill>
                <a:schemeClr val="dk1"/>
              </a:solidFill>
              <a:latin typeface="Calibri"/>
              <a:ea typeface="Calibri"/>
              <a:cs typeface="Calibri"/>
              <a:sym typeface="Calibri"/>
            </a:endParaRPr>
          </a:p>
        </p:txBody>
      </p:sp>
      <p:sp>
        <p:nvSpPr>
          <p:cNvPr id="406" name="Google Shape;406;p14"/>
          <p:cNvSpPr/>
          <p:nvPr/>
        </p:nvSpPr>
        <p:spPr>
          <a:xfrm>
            <a:off x="7050024" y="2057400"/>
            <a:ext cx="4370832"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94A3B8"/>
              </a:buClr>
              <a:buSzPts val="1300"/>
              <a:buFont typeface="Calibri"/>
              <a:buNone/>
            </a:pPr>
            <a:r>
              <a:rPr lang="en-US" sz="1300">
                <a:solidFill>
                  <a:srgbClr val="94A3B8"/>
                </a:solidFill>
                <a:latin typeface="Calibri"/>
                <a:ea typeface="Calibri"/>
                <a:cs typeface="Calibri"/>
                <a:sym typeface="Calibri"/>
              </a:rPr>
              <a:t>Pauses for human URL &amp; asset audit.</a:t>
            </a:r>
            <a:endParaRPr sz="1000">
              <a:solidFill>
                <a:schemeClr val="dk1"/>
              </a:solidFill>
              <a:latin typeface="Calibri"/>
              <a:ea typeface="Calibri"/>
              <a:cs typeface="Calibri"/>
              <a:sym typeface="Calibri"/>
            </a:endParaRPr>
          </a:p>
        </p:txBody>
      </p:sp>
      <p:cxnSp>
        <p:nvCxnSpPr>
          <p:cNvPr id="407" name="Google Shape;407;p14"/>
          <p:cNvCxnSpPr/>
          <p:nvPr/>
        </p:nvCxnSpPr>
        <p:spPr>
          <a:xfrm>
            <a:off x="6620256" y="2624328"/>
            <a:ext cx="914" cy="146304"/>
          </a:xfrm>
          <a:prstGeom prst="straightConnector1">
            <a:avLst/>
          </a:prstGeom>
          <a:noFill/>
          <a:ln cap="flat" cmpd="sng" w="15875">
            <a:solidFill>
              <a:srgbClr val="64748B"/>
            </a:solidFill>
            <a:prstDash val="dash"/>
            <a:round/>
            <a:headEnd len="sm" w="sm" type="none"/>
            <a:tailEnd len="sm" w="sm" type="none"/>
          </a:ln>
        </p:spPr>
      </p:cxnSp>
      <p:sp>
        <p:nvSpPr>
          <p:cNvPr id="408" name="Google Shape;408;p14"/>
          <p:cNvSpPr/>
          <p:nvPr/>
        </p:nvSpPr>
        <p:spPr>
          <a:xfrm>
            <a:off x="6181344" y="2770632"/>
            <a:ext cx="5468112" cy="1024128"/>
          </a:xfrm>
          <a:prstGeom prst="roundRect">
            <a:avLst>
              <a:gd fmla="val 8036" name="adj"/>
            </a:avLst>
          </a:prstGeom>
          <a:solidFill>
            <a:srgbClr val="1E29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9" name="Google Shape;409;p14"/>
          <p:cNvSpPr/>
          <p:nvPr/>
        </p:nvSpPr>
        <p:spPr>
          <a:xfrm>
            <a:off x="6382512" y="3044952"/>
            <a:ext cx="475488" cy="475488"/>
          </a:xfrm>
          <a:prstGeom prst="ellipse">
            <a:avLst/>
          </a:prstGeom>
          <a:solidFill>
            <a:srgbClr val="38BDF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0" name="Google Shape;410;p14"/>
          <p:cNvSpPr/>
          <p:nvPr/>
        </p:nvSpPr>
        <p:spPr>
          <a:xfrm>
            <a:off x="6382512" y="3044952"/>
            <a:ext cx="475488" cy="4754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2200"/>
              <a:buFont typeface="Calibri"/>
              <a:buNone/>
            </a:pPr>
            <a:r>
              <a:rPr b="1" lang="en-US" sz="2200">
                <a:solidFill>
                  <a:srgbClr val="0F172A"/>
                </a:solidFill>
                <a:latin typeface="Calibri"/>
                <a:ea typeface="Calibri"/>
                <a:cs typeface="Calibri"/>
                <a:sym typeface="Calibri"/>
              </a:rPr>
              <a:t>6</a:t>
            </a:r>
            <a:endParaRPr sz="1700">
              <a:solidFill>
                <a:schemeClr val="dk1"/>
              </a:solidFill>
              <a:latin typeface="Calibri"/>
              <a:ea typeface="Calibri"/>
              <a:cs typeface="Calibri"/>
              <a:sym typeface="Calibri"/>
            </a:endParaRPr>
          </a:p>
        </p:txBody>
      </p:sp>
      <p:sp>
        <p:nvSpPr>
          <p:cNvPr id="411" name="Google Shape;411;p14"/>
          <p:cNvSpPr/>
          <p:nvPr/>
        </p:nvSpPr>
        <p:spPr>
          <a:xfrm>
            <a:off x="7050024" y="2862072"/>
            <a:ext cx="4370832"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8FAFC"/>
              </a:buClr>
              <a:buSzPts val="1600"/>
              <a:buFont typeface="Calibri"/>
              <a:buNone/>
            </a:pPr>
            <a:r>
              <a:rPr b="1" lang="en-US" sz="1600">
                <a:solidFill>
                  <a:srgbClr val="F8FAFC"/>
                </a:solidFill>
                <a:latin typeface="Calibri"/>
                <a:ea typeface="Calibri"/>
                <a:cs typeface="Calibri"/>
                <a:sym typeface="Calibri"/>
              </a:rPr>
              <a:t>RAG Extraction &amp; Graph Lookup</a:t>
            </a:r>
            <a:endParaRPr sz="1300">
              <a:solidFill>
                <a:schemeClr val="dk1"/>
              </a:solidFill>
              <a:latin typeface="Calibri"/>
              <a:ea typeface="Calibri"/>
              <a:cs typeface="Calibri"/>
              <a:sym typeface="Calibri"/>
            </a:endParaRPr>
          </a:p>
        </p:txBody>
      </p:sp>
      <p:sp>
        <p:nvSpPr>
          <p:cNvPr id="412" name="Google Shape;412;p14"/>
          <p:cNvSpPr/>
          <p:nvPr/>
        </p:nvSpPr>
        <p:spPr>
          <a:xfrm>
            <a:off x="7050024" y="3227832"/>
            <a:ext cx="4370832"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94A3B8"/>
              </a:buClr>
              <a:buSzPts val="1300"/>
              <a:buFont typeface="Calibri"/>
              <a:buNone/>
            </a:pPr>
            <a:r>
              <a:rPr lang="en-US" sz="1300">
                <a:solidFill>
                  <a:srgbClr val="94A3B8"/>
                </a:solidFill>
                <a:latin typeface="Calibri"/>
                <a:ea typeface="Calibri"/>
                <a:cs typeface="Calibri"/>
                <a:sym typeface="Calibri"/>
              </a:rPr>
              <a:t>Extracts 50 attributes from PDF chunks and NetworkX series memory.</a:t>
            </a:r>
            <a:endParaRPr sz="1000">
              <a:solidFill>
                <a:schemeClr val="dk1"/>
              </a:solidFill>
              <a:latin typeface="Calibri"/>
              <a:ea typeface="Calibri"/>
              <a:cs typeface="Calibri"/>
              <a:sym typeface="Calibri"/>
            </a:endParaRPr>
          </a:p>
        </p:txBody>
      </p:sp>
      <p:cxnSp>
        <p:nvCxnSpPr>
          <p:cNvPr id="413" name="Google Shape;413;p14"/>
          <p:cNvCxnSpPr/>
          <p:nvPr/>
        </p:nvCxnSpPr>
        <p:spPr>
          <a:xfrm>
            <a:off x="6620256" y="3794760"/>
            <a:ext cx="914" cy="146304"/>
          </a:xfrm>
          <a:prstGeom prst="straightConnector1">
            <a:avLst/>
          </a:prstGeom>
          <a:noFill/>
          <a:ln cap="flat" cmpd="sng" w="15875">
            <a:solidFill>
              <a:srgbClr val="64748B"/>
            </a:solidFill>
            <a:prstDash val="dash"/>
            <a:round/>
            <a:headEnd len="sm" w="sm" type="none"/>
            <a:tailEnd len="sm" w="sm" type="none"/>
          </a:ln>
        </p:spPr>
      </p:cxnSp>
      <p:sp>
        <p:nvSpPr>
          <p:cNvPr id="414" name="Google Shape;414;p14"/>
          <p:cNvSpPr/>
          <p:nvPr/>
        </p:nvSpPr>
        <p:spPr>
          <a:xfrm>
            <a:off x="6181344" y="3941064"/>
            <a:ext cx="5468112" cy="1024128"/>
          </a:xfrm>
          <a:prstGeom prst="roundRect">
            <a:avLst>
              <a:gd fmla="val 8036" name="adj"/>
            </a:avLst>
          </a:prstGeom>
          <a:solidFill>
            <a:srgbClr val="1E29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5" name="Google Shape;415;p14"/>
          <p:cNvSpPr/>
          <p:nvPr/>
        </p:nvSpPr>
        <p:spPr>
          <a:xfrm>
            <a:off x="6382512" y="4215384"/>
            <a:ext cx="475488" cy="475488"/>
          </a:xfrm>
          <a:prstGeom prst="ellipse">
            <a:avLst/>
          </a:prstGeom>
          <a:solidFill>
            <a:srgbClr val="38BDF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6" name="Google Shape;416;p14"/>
          <p:cNvSpPr/>
          <p:nvPr/>
        </p:nvSpPr>
        <p:spPr>
          <a:xfrm>
            <a:off x="6382512" y="4215384"/>
            <a:ext cx="475488" cy="4754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2200"/>
              <a:buFont typeface="Calibri"/>
              <a:buNone/>
            </a:pPr>
            <a:r>
              <a:rPr b="1" lang="en-US" sz="2200">
                <a:solidFill>
                  <a:srgbClr val="0F172A"/>
                </a:solidFill>
                <a:latin typeface="Calibri"/>
                <a:ea typeface="Calibri"/>
                <a:cs typeface="Calibri"/>
                <a:sym typeface="Calibri"/>
              </a:rPr>
              <a:t>7</a:t>
            </a:r>
            <a:endParaRPr sz="1700">
              <a:solidFill>
                <a:schemeClr val="dk1"/>
              </a:solidFill>
              <a:latin typeface="Calibri"/>
              <a:ea typeface="Calibri"/>
              <a:cs typeface="Calibri"/>
              <a:sym typeface="Calibri"/>
            </a:endParaRPr>
          </a:p>
        </p:txBody>
      </p:sp>
      <p:sp>
        <p:nvSpPr>
          <p:cNvPr id="417" name="Google Shape;417;p14"/>
          <p:cNvSpPr/>
          <p:nvPr/>
        </p:nvSpPr>
        <p:spPr>
          <a:xfrm>
            <a:off x="7050024" y="4032504"/>
            <a:ext cx="4370832"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8FAFC"/>
              </a:buClr>
              <a:buSzPts val="1600"/>
              <a:buFont typeface="Calibri"/>
              <a:buNone/>
            </a:pPr>
            <a:r>
              <a:rPr b="1" lang="en-US" sz="1600">
                <a:solidFill>
                  <a:srgbClr val="F8FAFC"/>
                </a:solidFill>
                <a:latin typeface="Calibri"/>
                <a:ea typeface="Calibri"/>
                <a:cs typeface="Calibri"/>
                <a:sym typeface="Calibri"/>
              </a:rPr>
              <a:t>Validation &amp; Confidence Scoring</a:t>
            </a:r>
            <a:endParaRPr sz="1300">
              <a:solidFill>
                <a:schemeClr val="dk1"/>
              </a:solidFill>
              <a:latin typeface="Calibri"/>
              <a:ea typeface="Calibri"/>
              <a:cs typeface="Calibri"/>
              <a:sym typeface="Calibri"/>
            </a:endParaRPr>
          </a:p>
        </p:txBody>
      </p:sp>
      <p:sp>
        <p:nvSpPr>
          <p:cNvPr id="418" name="Google Shape;418;p14"/>
          <p:cNvSpPr/>
          <p:nvPr/>
        </p:nvSpPr>
        <p:spPr>
          <a:xfrm>
            <a:off x="7050024" y="4398264"/>
            <a:ext cx="4370832"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94A3B8"/>
              </a:buClr>
              <a:buSzPts val="1300"/>
              <a:buFont typeface="Calibri"/>
              <a:buNone/>
            </a:pPr>
            <a:r>
              <a:rPr lang="en-US" sz="1300">
                <a:solidFill>
                  <a:srgbClr val="94A3B8"/>
                </a:solidFill>
                <a:latin typeface="Calibri"/>
                <a:ea typeface="Calibri"/>
                <a:cs typeface="Calibri"/>
                <a:sym typeface="Calibri"/>
              </a:rPr>
              <a:t>Runs FIELD_SANITY rules and assigns confidence scores.</a:t>
            </a:r>
            <a:endParaRPr sz="1000">
              <a:solidFill>
                <a:schemeClr val="dk1"/>
              </a:solidFill>
              <a:latin typeface="Calibri"/>
              <a:ea typeface="Calibri"/>
              <a:cs typeface="Calibri"/>
              <a:sym typeface="Calibri"/>
            </a:endParaRPr>
          </a:p>
        </p:txBody>
      </p:sp>
      <p:cxnSp>
        <p:nvCxnSpPr>
          <p:cNvPr id="419" name="Google Shape;419;p14"/>
          <p:cNvCxnSpPr/>
          <p:nvPr/>
        </p:nvCxnSpPr>
        <p:spPr>
          <a:xfrm>
            <a:off x="6620256" y="4965192"/>
            <a:ext cx="914" cy="146304"/>
          </a:xfrm>
          <a:prstGeom prst="straightConnector1">
            <a:avLst/>
          </a:prstGeom>
          <a:noFill/>
          <a:ln cap="flat" cmpd="sng" w="15875">
            <a:solidFill>
              <a:srgbClr val="64748B"/>
            </a:solidFill>
            <a:prstDash val="dash"/>
            <a:round/>
            <a:headEnd len="sm" w="sm" type="none"/>
            <a:tailEnd len="sm" w="sm" type="none"/>
          </a:ln>
        </p:spPr>
      </p:cxnSp>
      <p:sp>
        <p:nvSpPr>
          <p:cNvPr id="420" name="Google Shape;420;p14"/>
          <p:cNvSpPr/>
          <p:nvPr/>
        </p:nvSpPr>
        <p:spPr>
          <a:xfrm>
            <a:off x="6181344" y="5111496"/>
            <a:ext cx="5468112" cy="1024128"/>
          </a:xfrm>
          <a:prstGeom prst="roundRect">
            <a:avLst>
              <a:gd fmla="val 8036" name="adj"/>
            </a:avLst>
          </a:prstGeom>
          <a:solidFill>
            <a:srgbClr val="1E29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1" name="Google Shape;421;p14"/>
          <p:cNvSpPr/>
          <p:nvPr/>
        </p:nvSpPr>
        <p:spPr>
          <a:xfrm>
            <a:off x="6382512" y="5385816"/>
            <a:ext cx="475488" cy="475488"/>
          </a:xfrm>
          <a:prstGeom prst="ellipse">
            <a:avLst/>
          </a:prstGeom>
          <a:solidFill>
            <a:srgbClr val="38BDF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2" name="Google Shape;422;p14"/>
          <p:cNvSpPr/>
          <p:nvPr/>
        </p:nvSpPr>
        <p:spPr>
          <a:xfrm>
            <a:off x="6382512" y="5385816"/>
            <a:ext cx="475488" cy="4754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2200"/>
              <a:buFont typeface="Calibri"/>
              <a:buNone/>
            </a:pPr>
            <a:r>
              <a:rPr b="1" lang="en-US" sz="2200">
                <a:solidFill>
                  <a:srgbClr val="0F172A"/>
                </a:solidFill>
                <a:latin typeface="Calibri"/>
                <a:ea typeface="Calibri"/>
                <a:cs typeface="Calibri"/>
                <a:sym typeface="Calibri"/>
              </a:rPr>
              <a:t>8</a:t>
            </a:r>
            <a:endParaRPr sz="1700">
              <a:solidFill>
                <a:schemeClr val="dk1"/>
              </a:solidFill>
              <a:latin typeface="Calibri"/>
              <a:ea typeface="Calibri"/>
              <a:cs typeface="Calibri"/>
              <a:sym typeface="Calibri"/>
            </a:endParaRPr>
          </a:p>
        </p:txBody>
      </p:sp>
      <p:sp>
        <p:nvSpPr>
          <p:cNvPr id="423" name="Google Shape;423;p14"/>
          <p:cNvSpPr/>
          <p:nvPr/>
        </p:nvSpPr>
        <p:spPr>
          <a:xfrm>
            <a:off x="7050024" y="5202936"/>
            <a:ext cx="4370832"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8FAFC"/>
              </a:buClr>
              <a:buSzPts val="1600"/>
              <a:buFont typeface="Calibri"/>
              <a:buNone/>
            </a:pPr>
            <a:r>
              <a:rPr b="1" lang="en-US" sz="1600">
                <a:solidFill>
                  <a:srgbClr val="F8FAFC"/>
                </a:solidFill>
                <a:latin typeface="Calibri"/>
                <a:ea typeface="Calibri"/>
                <a:cs typeface="Calibri"/>
                <a:sym typeface="Calibri"/>
              </a:rPr>
              <a:t>Copywriting &amp; 252-Column Export</a:t>
            </a:r>
            <a:endParaRPr sz="1300">
              <a:solidFill>
                <a:schemeClr val="dk1"/>
              </a:solidFill>
              <a:latin typeface="Calibri"/>
              <a:ea typeface="Calibri"/>
              <a:cs typeface="Calibri"/>
              <a:sym typeface="Calibri"/>
            </a:endParaRPr>
          </a:p>
        </p:txBody>
      </p:sp>
      <p:sp>
        <p:nvSpPr>
          <p:cNvPr id="424" name="Google Shape;424;p14"/>
          <p:cNvSpPr/>
          <p:nvPr/>
        </p:nvSpPr>
        <p:spPr>
          <a:xfrm>
            <a:off x="7050024" y="5568696"/>
            <a:ext cx="4370832"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94A3B8"/>
              </a:buClr>
              <a:buSzPts val="1300"/>
              <a:buFont typeface="Calibri"/>
              <a:buNone/>
            </a:pPr>
            <a:r>
              <a:rPr lang="en-US" sz="1300">
                <a:solidFill>
                  <a:srgbClr val="94A3B8"/>
                </a:solidFill>
                <a:latin typeface="Calibri"/>
                <a:ea typeface="Calibri"/>
                <a:cs typeface="Calibri"/>
                <a:sym typeface="Calibri"/>
              </a:rPr>
              <a:t>Synthesizes Invoice Copy (≤40 chars) &amp; downloads Unilog CSV.</a:t>
            </a:r>
            <a:endParaRPr sz="1000">
              <a:solidFill>
                <a:schemeClr val="dk1"/>
              </a:solidFill>
              <a:latin typeface="Calibri"/>
              <a:ea typeface="Calibri"/>
              <a:cs typeface="Calibri"/>
              <a:sym typeface="Calibri"/>
            </a:endParaRPr>
          </a:p>
        </p:txBody>
      </p:sp>
      <p:sp>
        <p:nvSpPr>
          <p:cNvPr id="425" name="Google Shape;425;p14"/>
          <p:cNvSpPr/>
          <p:nvPr/>
        </p:nvSpPr>
        <p:spPr>
          <a:xfrm>
            <a:off x="45720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172A"/>
              </a:buClr>
              <a:buSzPts val="1300"/>
              <a:buFont typeface="Calibri"/>
              <a:buNone/>
            </a:pPr>
            <a:r>
              <a:rPr lang="en-US" sz="1300">
                <a:solidFill>
                  <a:srgbClr val="0F172A"/>
                </a:solidFill>
                <a:latin typeface="Calibri"/>
                <a:ea typeface="Calibri"/>
                <a:cs typeface="Calibri"/>
                <a:sym typeface="Calibri"/>
              </a:rPr>
              <a:t>11 / 15   •   Process Flow</a:t>
            </a:r>
            <a:endParaRPr sz="9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430" name="Shape 430"/>
        <p:cNvGrpSpPr/>
        <p:nvPr/>
      </p:nvGrpSpPr>
      <p:grpSpPr>
        <a:xfrm>
          <a:off x="0" y="0"/>
          <a:ext cx="0" cy="0"/>
          <a:chOff x="0" y="0"/>
          <a:chExt cx="0" cy="0"/>
        </a:xfrm>
      </p:grpSpPr>
      <p:pic>
        <p:nvPicPr>
          <p:cNvPr descr="image.png" id="431" name="Google Shape;431;p1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32" name="Google Shape;432;p15"/>
          <p:cNvSpPr/>
          <p:nvPr/>
        </p:nvSpPr>
        <p:spPr>
          <a:xfrm>
            <a:off x="548640" y="347472"/>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172A"/>
              </a:buClr>
              <a:buSzPts val="1300"/>
              <a:buFont typeface="Calibri"/>
              <a:buNone/>
            </a:pPr>
            <a:r>
              <a:rPr b="1" lang="en-US" sz="1300">
                <a:solidFill>
                  <a:srgbClr val="0F172A"/>
                </a:solidFill>
                <a:latin typeface="Calibri"/>
                <a:ea typeface="Calibri"/>
                <a:cs typeface="Calibri"/>
                <a:sym typeface="Calibri"/>
              </a:rPr>
              <a:t>PRODUCT EXPERIENCE</a:t>
            </a:r>
            <a:endParaRPr sz="1100">
              <a:solidFill>
                <a:schemeClr val="dk1"/>
              </a:solidFill>
              <a:latin typeface="Calibri"/>
              <a:ea typeface="Calibri"/>
              <a:cs typeface="Calibri"/>
              <a:sym typeface="Calibri"/>
            </a:endParaRPr>
          </a:p>
        </p:txBody>
      </p:sp>
      <p:sp>
        <p:nvSpPr>
          <p:cNvPr id="433" name="Google Shape;433;p15"/>
          <p:cNvSpPr/>
          <p:nvPr/>
        </p:nvSpPr>
        <p:spPr>
          <a:xfrm>
            <a:off x="548640" y="603504"/>
            <a:ext cx="11064240" cy="86868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0F172A"/>
              </a:buClr>
              <a:buSzPts val="3200"/>
              <a:buFont typeface="Calibri"/>
              <a:buNone/>
            </a:pPr>
            <a:r>
              <a:rPr b="1" lang="en-US" sz="3200">
                <a:solidFill>
                  <a:srgbClr val="0F172A"/>
                </a:solidFill>
                <a:latin typeface="Calibri"/>
                <a:ea typeface="Calibri"/>
                <a:cs typeface="Calibri"/>
                <a:sym typeface="Calibri"/>
              </a:rPr>
              <a:t>Wireframes &amp; Dashboard Interface</a:t>
            </a:r>
            <a:endParaRPr sz="2800">
              <a:solidFill>
                <a:schemeClr val="dk1"/>
              </a:solidFill>
              <a:latin typeface="Calibri"/>
              <a:ea typeface="Calibri"/>
              <a:cs typeface="Calibri"/>
              <a:sym typeface="Calibri"/>
            </a:endParaRPr>
          </a:p>
        </p:txBody>
      </p:sp>
      <p:sp>
        <p:nvSpPr>
          <p:cNvPr id="434" name="Google Shape;434;p15"/>
          <p:cNvSpPr/>
          <p:nvPr/>
        </p:nvSpPr>
        <p:spPr>
          <a:xfrm>
            <a:off x="548640" y="1691640"/>
            <a:ext cx="3584448" cy="2240280"/>
          </a:xfrm>
          <a:prstGeom prst="roundRect">
            <a:avLst>
              <a:gd fmla="val 3673" name="adj"/>
            </a:avLst>
          </a:prstGeom>
          <a:solidFill>
            <a:srgbClr val="1E293B"/>
          </a:solidFill>
          <a:ln>
            <a:noFill/>
          </a:ln>
          <a:effectLst>
            <a:outerShdw blurRad="1016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5" name="Google Shape;435;p15"/>
          <p:cNvSpPr/>
          <p:nvPr/>
        </p:nvSpPr>
        <p:spPr>
          <a:xfrm>
            <a:off x="786384" y="1911096"/>
            <a:ext cx="420624" cy="420624"/>
          </a:xfrm>
          <a:prstGeom prst="ellipse">
            <a:avLst/>
          </a:prstGeom>
          <a:solidFill>
            <a:srgbClr val="38BDF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6" name="Google Shape;436;p15"/>
          <p:cNvSpPr/>
          <p:nvPr/>
        </p:nvSpPr>
        <p:spPr>
          <a:xfrm>
            <a:off x="786384" y="1911096"/>
            <a:ext cx="420624" cy="42062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1600"/>
              <a:buFont typeface="Calibri"/>
              <a:buNone/>
            </a:pPr>
            <a:r>
              <a:rPr b="1" lang="en-US" sz="1600">
                <a:solidFill>
                  <a:srgbClr val="0F172A"/>
                </a:solidFill>
                <a:latin typeface="Calibri"/>
                <a:ea typeface="Calibri"/>
                <a:cs typeface="Calibri"/>
                <a:sym typeface="Calibri"/>
              </a:rPr>
              <a:t>1</a:t>
            </a:r>
            <a:endParaRPr sz="1500">
              <a:solidFill>
                <a:schemeClr val="dk1"/>
              </a:solidFill>
              <a:latin typeface="Calibri"/>
              <a:ea typeface="Calibri"/>
              <a:cs typeface="Calibri"/>
              <a:sym typeface="Calibri"/>
            </a:endParaRPr>
          </a:p>
        </p:txBody>
      </p:sp>
      <p:sp>
        <p:nvSpPr>
          <p:cNvPr id="437" name="Google Shape;437;p15"/>
          <p:cNvSpPr/>
          <p:nvPr/>
        </p:nvSpPr>
        <p:spPr>
          <a:xfrm>
            <a:off x="786384" y="2496312"/>
            <a:ext cx="3108960" cy="685800"/>
          </a:xfrm>
          <a:prstGeom prst="rect">
            <a:avLst/>
          </a:prstGeom>
          <a:noFill/>
          <a:ln>
            <a:noFill/>
          </a:ln>
        </p:spPr>
        <p:txBody>
          <a:bodyPr anchorCtr="0" anchor="ctr" bIns="45700" lIns="91425" spcFirstLastPara="1" rIns="91425" wrap="square" tIns="45700">
            <a:noAutofit/>
          </a:bodyPr>
          <a:lstStyle/>
          <a:p>
            <a:pPr indent="0" lvl="0" marL="0" marR="0" rtl="0" algn="l">
              <a:lnSpc>
                <a:spcPct val="108000"/>
              </a:lnSpc>
              <a:spcBef>
                <a:spcPts val="0"/>
              </a:spcBef>
              <a:spcAft>
                <a:spcPts val="0"/>
              </a:spcAft>
              <a:buClr>
                <a:srgbClr val="F8FAFC"/>
              </a:buClr>
              <a:buSzPts val="1600"/>
              <a:buFont typeface="Calibri"/>
              <a:buNone/>
            </a:pPr>
            <a:r>
              <a:rPr b="1" lang="en-US" sz="1600">
                <a:solidFill>
                  <a:srgbClr val="F8FAFC"/>
                </a:solidFill>
                <a:latin typeface="Calibri"/>
                <a:ea typeface="Calibri"/>
                <a:cs typeface="Calibri"/>
                <a:sym typeface="Calibri"/>
              </a:rPr>
              <a:t>1-Click Sample Product Loader</a:t>
            </a:r>
            <a:endParaRPr sz="1250">
              <a:solidFill>
                <a:schemeClr val="dk1"/>
              </a:solidFill>
              <a:latin typeface="Calibri"/>
              <a:ea typeface="Calibri"/>
              <a:cs typeface="Calibri"/>
              <a:sym typeface="Calibri"/>
            </a:endParaRPr>
          </a:p>
        </p:txBody>
      </p:sp>
      <p:sp>
        <p:nvSpPr>
          <p:cNvPr id="438" name="Google Shape;438;p15"/>
          <p:cNvSpPr/>
          <p:nvPr/>
        </p:nvSpPr>
        <p:spPr>
          <a:xfrm>
            <a:off x="786384" y="3154680"/>
            <a:ext cx="3108960" cy="685800"/>
          </a:xfrm>
          <a:prstGeom prst="rect">
            <a:avLst/>
          </a:prstGeom>
          <a:noFill/>
          <a:ln>
            <a:noFill/>
          </a:ln>
        </p:spPr>
        <p:txBody>
          <a:bodyPr anchorCtr="0" anchor="ctr" bIns="45700" lIns="91425" spcFirstLastPara="1" rIns="91425" wrap="square" tIns="45700">
            <a:noAutofit/>
          </a:bodyPr>
          <a:lstStyle/>
          <a:p>
            <a:pPr indent="0" lvl="0" marL="0" marR="0" rtl="0" algn="l">
              <a:lnSpc>
                <a:spcPct val="112000"/>
              </a:lnSpc>
              <a:spcBef>
                <a:spcPts val="0"/>
              </a:spcBef>
              <a:spcAft>
                <a:spcPts val="0"/>
              </a:spcAft>
              <a:buClr>
                <a:srgbClr val="94A3B8"/>
              </a:buClr>
              <a:buSzPts val="1300"/>
              <a:buFont typeface="Calibri"/>
              <a:buNone/>
            </a:pPr>
            <a:r>
              <a:rPr lang="en-US" sz="1300">
                <a:solidFill>
                  <a:srgbClr val="94A3B8"/>
                </a:solidFill>
                <a:latin typeface="Calibri"/>
                <a:ea typeface="Calibri"/>
                <a:cs typeface="Calibri"/>
                <a:sym typeface="Calibri"/>
              </a:rPr>
              <a:t>Instant demo buttons for Fluke 117, 3M Cubitron II, and Whirlpool SS Dishwasher.</a:t>
            </a:r>
            <a:endParaRPr sz="1000">
              <a:solidFill>
                <a:schemeClr val="dk1"/>
              </a:solidFill>
              <a:latin typeface="Calibri"/>
              <a:ea typeface="Calibri"/>
              <a:cs typeface="Calibri"/>
              <a:sym typeface="Calibri"/>
            </a:endParaRPr>
          </a:p>
        </p:txBody>
      </p:sp>
      <p:sp>
        <p:nvSpPr>
          <p:cNvPr id="439" name="Google Shape;439;p15"/>
          <p:cNvSpPr/>
          <p:nvPr/>
        </p:nvSpPr>
        <p:spPr>
          <a:xfrm>
            <a:off x="4297680" y="1691640"/>
            <a:ext cx="3584448" cy="2240280"/>
          </a:xfrm>
          <a:prstGeom prst="roundRect">
            <a:avLst>
              <a:gd fmla="val 3673" name="adj"/>
            </a:avLst>
          </a:prstGeom>
          <a:solidFill>
            <a:srgbClr val="1E293B"/>
          </a:solidFill>
          <a:ln>
            <a:noFill/>
          </a:ln>
          <a:effectLst>
            <a:outerShdw blurRad="1016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0" name="Google Shape;440;p15"/>
          <p:cNvSpPr/>
          <p:nvPr/>
        </p:nvSpPr>
        <p:spPr>
          <a:xfrm>
            <a:off x="4535424" y="1911096"/>
            <a:ext cx="420624" cy="420624"/>
          </a:xfrm>
          <a:prstGeom prst="ellipse">
            <a:avLst/>
          </a:prstGeom>
          <a:solidFill>
            <a:srgbClr val="38BDF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1" name="Google Shape;441;p15"/>
          <p:cNvSpPr/>
          <p:nvPr/>
        </p:nvSpPr>
        <p:spPr>
          <a:xfrm>
            <a:off x="4535424" y="1911096"/>
            <a:ext cx="420624" cy="42062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1600"/>
              <a:buFont typeface="Calibri"/>
              <a:buNone/>
            </a:pPr>
            <a:r>
              <a:rPr b="1" lang="en-US" sz="1600">
                <a:solidFill>
                  <a:srgbClr val="0F172A"/>
                </a:solidFill>
                <a:latin typeface="Calibri"/>
                <a:ea typeface="Calibri"/>
                <a:cs typeface="Calibri"/>
                <a:sym typeface="Calibri"/>
              </a:rPr>
              <a:t>2</a:t>
            </a:r>
            <a:endParaRPr sz="1500">
              <a:solidFill>
                <a:schemeClr val="dk1"/>
              </a:solidFill>
              <a:latin typeface="Calibri"/>
              <a:ea typeface="Calibri"/>
              <a:cs typeface="Calibri"/>
              <a:sym typeface="Calibri"/>
            </a:endParaRPr>
          </a:p>
        </p:txBody>
      </p:sp>
      <p:sp>
        <p:nvSpPr>
          <p:cNvPr id="442" name="Google Shape;442;p15"/>
          <p:cNvSpPr/>
          <p:nvPr/>
        </p:nvSpPr>
        <p:spPr>
          <a:xfrm>
            <a:off x="4535424" y="2496312"/>
            <a:ext cx="3108960" cy="685800"/>
          </a:xfrm>
          <a:prstGeom prst="rect">
            <a:avLst/>
          </a:prstGeom>
          <a:noFill/>
          <a:ln>
            <a:noFill/>
          </a:ln>
        </p:spPr>
        <p:txBody>
          <a:bodyPr anchorCtr="0" anchor="ctr" bIns="45700" lIns="91425" spcFirstLastPara="1" rIns="91425" wrap="square" tIns="45700">
            <a:noAutofit/>
          </a:bodyPr>
          <a:lstStyle/>
          <a:p>
            <a:pPr indent="0" lvl="0" marL="0" marR="0" rtl="0" algn="l">
              <a:lnSpc>
                <a:spcPct val="108000"/>
              </a:lnSpc>
              <a:spcBef>
                <a:spcPts val="0"/>
              </a:spcBef>
              <a:spcAft>
                <a:spcPts val="0"/>
              </a:spcAft>
              <a:buClr>
                <a:srgbClr val="F8FAFC"/>
              </a:buClr>
              <a:buSzPts val="1600"/>
              <a:buFont typeface="Calibri"/>
              <a:buNone/>
            </a:pPr>
            <a:r>
              <a:rPr b="1" lang="en-US" sz="1600">
                <a:solidFill>
                  <a:srgbClr val="F8FAFC"/>
                </a:solidFill>
                <a:latin typeface="Calibri"/>
                <a:ea typeface="Calibri"/>
                <a:cs typeface="Calibri"/>
                <a:sym typeface="Calibri"/>
              </a:rPr>
              <a:t>Visual 5-Stage Pipeline Progress Panel</a:t>
            </a:r>
            <a:endParaRPr sz="1250">
              <a:solidFill>
                <a:schemeClr val="dk1"/>
              </a:solidFill>
              <a:latin typeface="Calibri"/>
              <a:ea typeface="Calibri"/>
              <a:cs typeface="Calibri"/>
              <a:sym typeface="Calibri"/>
            </a:endParaRPr>
          </a:p>
        </p:txBody>
      </p:sp>
      <p:sp>
        <p:nvSpPr>
          <p:cNvPr id="443" name="Google Shape;443;p15"/>
          <p:cNvSpPr/>
          <p:nvPr/>
        </p:nvSpPr>
        <p:spPr>
          <a:xfrm>
            <a:off x="4535424" y="3154680"/>
            <a:ext cx="3108960" cy="685800"/>
          </a:xfrm>
          <a:prstGeom prst="rect">
            <a:avLst/>
          </a:prstGeom>
          <a:noFill/>
          <a:ln>
            <a:noFill/>
          </a:ln>
        </p:spPr>
        <p:txBody>
          <a:bodyPr anchorCtr="0" anchor="ctr" bIns="45700" lIns="91425" spcFirstLastPara="1" rIns="91425" wrap="square" tIns="45700">
            <a:noAutofit/>
          </a:bodyPr>
          <a:lstStyle/>
          <a:p>
            <a:pPr indent="0" lvl="0" marL="0" marR="0" rtl="0" algn="l">
              <a:lnSpc>
                <a:spcPct val="112000"/>
              </a:lnSpc>
              <a:spcBef>
                <a:spcPts val="0"/>
              </a:spcBef>
              <a:spcAft>
                <a:spcPts val="0"/>
              </a:spcAft>
              <a:buClr>
                <a:srgbClr val="94A3B8"/>
              </a:buClr>
              <a:buSzPts val="1300"/>
              <a:buFont typeface="Calibri"/>
              <a:buNone/>
            </a:pPr>
            <a:r>
              <a:rPr lang="en-US" sz="1300">
                <a:solidFill>
                  <a:srgbClr val="94A3B8"/>
                </a:solidFill>
                <a:latin typeface="Calibri"/>
                <a:ea typeface="Calibri"/>
                <a:cs typeface="Calibri"/>
                <a:sym typeface="Calibri"/>
              </a:rPr>
              <a:t>Real-time execution status: Identity → Sourcing → Attributes → Copywriting → Delivery.</a:t>
            </a:r>
            <a:endParaRPr sz="1000">
              <a:solidFill>
                <a:schemeClr val="dk1"/>
              </a:solidFill>
              <a:latin typeface="Calibri"/>
              <a:ea typeface="Calibri"/>
              <a:cs typeface="Calibri"/>
              <a:sym typeface="Calibri"/>
            </a:endParaRPr>
          </a:p>
        </p:txBody>
      </p:sp>
      <p:sp>
        <p:nvSpPr>
          <p:cNvPr id="444" name="Google Shape;444;p15"/>
          <p:cNvSpPr/>
          <p:nvPr/>
        </p:nvSpPr>
        <p:spPr>
          <a:xfrm>
            <a:off x="8046720" y="1691640"/>
            <a:ext cx="3584448" cy="2240280"/>
          </a:xfrm>
          <a:prstGeom prst="roundRect">
            <a:avLst>
              <a:gd fmla="val 3673" name="adj"/>
            </a:avLst>
          </a:prstGeom>
          <a:solidFill>
            <a:srgbClr val="1E293B"/>
          </a:solidFill>
          <a:ln>
            <a:noFill/>
          </a:ln>
          <a:effectLst>
            <a:outerShdw blurRad="1016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5" name="Google Shape;445;p15"/>
          <p:cNvSpPr/>
          <p:nvPr/>
        </p:nvSpPr>
        <p:spPr>
          <a:xfrm>
            <a:off x="8284464" y="1911096"/>
            <a:ext cx="420624" cy="420624"/>
          </a:xfrm>
          <a:prstGeom prst="ellipse">
            <a:avLst/>
          </a:prstGeom>
          <a:solidFill>
            <a:srgbClr val="38BDF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6" name="Google Shape;446;p15"/>
          <p:cNvSpPr/>
          <p:nvPr/>
        </p:nvSpPr>
        <p:spPr>
          <a:xfrm>
            <a:off x="8284464" y="1911096"/>
            <a:ext cx="420624" cy="42062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1600"/>
              <a:buFont typeface="Calibri"/>
              <a:buNone/>
            </a:pPr>
            <a:r>
              <a:rPr b="1" lang="en-US" sz="1600">
                <a:solidFill>
                  <a:srgbClr val="0F172A"/>
                </a:solidFill>
                <a:latin typeface="Calibri"/>
                <a:ea typeface="Calibri"/>
                <a:cs typeface="Calibri"/>
                <a:sym typeface="Calibri"/>
              </a:rPr>
              <a:t>3</a:t>
            </a:r>
            <a:endParaRPr sz="1500">
              <a:solidFill>
                <a:schemeClr val="dk1"/>
              </a:solidFill>
              <a:latin typeface="Calibri"/>
              <a:ea typeface="Calibri"/>
              <a:cs typeface="Calibri"/>
              <a:sym typeface="Calibri"/>
            </a:endParaRPr>
          </a:p>
        </p:txBody>
      </p:sp>
      <p:sp>
        <p:nvSpPr>
          <p:cNvPr id="447" name="Google Shape;447;p15"/>
          <p:cNvSpPr/>
          <p:nvPr/>
        </p:nvSpPr>
        <p:spPr>
          <a:xfrm>
            <a:off x="8284464" y="2496312"/>
            <a:ext cx="3108960" cy="685800"/>
          </a:xfrm>
          <a:prstGeom prst="rect">
            <a:avLst/>
          </a:prstGeom>
          <a:noFill/>
          <a:ln>
            <a:noFill/>
          </a:ln>
        </p:spPr>
        <p:txBody>
          <a:bodyPr anchorCtr="0" anchor="ctr" bIns="45700" lIns="91425" spcFirstLastPara="1" rIns="91425" wrap="square" tIns="45700">
            <a:noAutofit/>
          </a:bodyPr>
          <a:lstStyle/>
          <a:p>
            <a:pPr indent="0" lvl="0" marL="0" marR="0" rtl="0" algn="l">
              <a:lnSpc>
                <a:spcPct val="108000"/>
              </a:lnSpc>
              <a:spcBef>
                <a:spcPts val="0"/>
              </a:spcBef>
              <a:spcAft>
                <a:spcPts val="0"/>
              </a:spcAft>
              <a:buClr>
                <a:srgbClr val="F8FAFC"/>
              </a:buClr>
              <a:buSzPts val="1600"/>
              <a:buFont typeface="Calibri"/>
              <a:buNone/>
            </a:pPr>
            <a:r>
              <a:rPr b="1" lang="en-US" sz="1600">
                <a:solidFill>
                  <a:srgbClr val="F8FAFC"/>
                </a:solidFill>
                <a:latin typeface="Calibri"/>
                <a:ea typeface="Calibri"/>
                <a:cs typeface="Calibri"/>
                <a:sym typeface="Calibri"/>
              </a:rPr>
              <a:t>Interactive Review Queue Console</a:t>
            </a:r>
            <a:endParaRPr sz="1250">
              <a:solidFill>
                <a:schemeClr val="dk1"/>
              </a:solidFill>
              <a:latin typeface="Calibri"/>
              <a:ea typeface="Calibri"/>
              <a:cs typeface="Calibri"/>
              <a:sym typeface="Calibri"/>
            </a:endParaRPr>
          </a:p>
        </p:txBody>
      </p:sp>
      <p:sp>
        <p:nvSpPr>
          <p:cNvPr id="448" name="Google Shape;448;p15"/>
          <p:cNvSpPr/>
          <p:nvPr/>
        </p:nvSpPr>
        <p:spPr>
          <a:xfrm>
            <a:off x="8284464" y="3154680"/>
            <a:ext cx="3108960" cy="685800"/>
          </a:xfrm>
          <a:prstGeom prst="rect">
            <a:avLst/>
          </a:prstGeom>
          <a:noFill/>
          <a:ln>
            <a:noFill/>
          </a:ln>
        </p:spPr>
        <p:txBody>
          <a:bodyPr anchorCtr="0" anchor="ctr" bIns="45700" lIns="91425" spcFirstLastPara="1" rIns="91425" wrap="square" tIns="45700">
            <a:noAutofit/>
          </a:bodyPr>
          <a:lstStyle/>
          <a:p>
            <a:pPr indent="0" lvl="0" marL="0" marR="0" rtl="0" algn="l">
              <a:lnSpc>
                <a:spcPct val="112000"/>
              </a:lnSpc>
              <a:spcBef>
                <a:spcPts val="0"/>
              </a:spcBef>
              <a:spcAft>
                <a:spcPts val="0"/>
              </a:spcAft>
              <a:buClr>
                <a:srgbClr val="94A3B8"/>
              </a:buClr>
              <a:buSzPts val="1300"/>
              <a:buFont typeface="Calibri"/>
              <a:buNone/>
            </a:pPr>
            <a:r>
              <a:rPr lang="en-US" sz="1300">
                <a:solidFill>
                  <a:srgbClr val="94A3B8"/>
                </a:solidFill>
                <a:latin typeface="Calibri"/>
                <a:ea typeface="Calibri"/>
                <a:cs typeface="Calibri"/>
                <a:sym typeface="Calibri"/>
              </a:rPr>
              <a:t>Filterable table displaying jobs requiring review, confidence scores, and stage tags.</a:t>
            </a:r>
            <a:endParaRPr sz="1000">
              <a:solidFill>
                <a:schemeClr val="dk1"/>
              </a:solidFill>
              <a:latin typeface="Calibri"/>
              <a:ea typeface="Calibri"/>
              <a:cs typeface="Calibri"/>
              <a:sym typeface="Calibri"/>
            </a:endParaRPr>
          </a:p>
        </p:txBody>
      </p:sp>
      <p:sp>
        <p:nvSpPr>
          <p:cNvPr id="449" name="Google Shape;449;p15"/>
          <p:cNvSpPr/>
          <p:nvPr/>
        </p:nvSpPr>
        <p:spPr>
          <a:xfrm>
            <a:off x="548640" y="4096512"/>
            <a:ext cx="3584448" cy="2240280"/>
          </a:xfrm>
          <a:prstGeom prst="roundRect">
            <a:avLst>
              <a:gd fmla="val 3673" name="adj"/>
            </a:avLst>
          </a:prstGeom>
          <a:solidFill>
            <a:srgbClr val="16213A"/>
          </a:solidFill>
          <a:ln>
            <a:noFill/>
          </a:ln>
          <a:effectLst>
            <a:outerShdw blurRad="1016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0" name="Google Shape;450;p15"/>
          <p:cNvSpPr/>
          <p:nvPr/>
        </p:nvSpPr>
        <p:spPr>
          <a:xfrm>
            <a:off x="786384" y="4315968"/>
            <a:ext cx="420624" cy="420624"/>
          </a:xfrm>
          <a:prstGeom prst="ellipse">
            <a:avLst/>
          </a:prstGeom>
          <a:solidFill>
            <a:srgbClr val="38BDF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1" name="Google Shape;451;p15"/>
          <p:cNvSpPr/>
          <p:nvPr/>
        </p:nvSpPr>
        <p:spPr>
          <a:xfrm>
            <a:off x="786384" y="4315968"/>
            <a:ext cx="420624" cy="42062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1600"/>
              <a:buFont typeface="Calibri"/>
              <a:buNone/>
            </a:pPr>
            <a:r>
              <a:rPr b="1" lang="en-US" sz="1600">
                <a:solidFill>
                  <a:srgbClr val="0F172A"/>
                </a:solidFill>
                <a:latin typeface="Calibri"/>
                <a:ea typeface="Calibri"/>
                <a:cs typeface="Calibri"/>
                <a:sym typeface="Calibri"/>
              </a:rPr>
              <a:t>4</a:t>
            </a:r>
            <a:endParaRPr sz="1500">
              <a:solidFill>
                <a:schemeClr val="dk1"/>
              </a:solidFill>
              <a:latin typeface="Calibri"/>
              <a:ea typeface="Calibri"/>
              <a:cs typeface="Calibri"/>
              <a:sym typeface="Calibri"/>
            </a:endParaRPr>
          </a:p>
        </p:txBody>
      </p:sp>
      <p:sp>
        <p:nvSpPr>
          <p:cNvPr id="452" name="Google Shape;452;p15"/>
          <p:cNvSpPr/>
          <p:nvPr/>
        </p:nvSpPr>
        <p:spPr>
          <a:xfrm>
            <a:off x="786384" y="4901184"/>
            <a:ext cx="3108960" cy="685800"/>
          </a:xfrm>
          <a:prstGeom prst="rect">
            <a:avLst/>
          </a:prstGeom>
          <a:noFill/>
          <a:ln>
            <a:noFill/>
          </a:ln>
        </p:spPr>
        <p:txBody>
          <a:bodyPr anchorCtr="0" anchor="ctr" bIns="45700" lIns="91425" spcFirstLastPara="1" rIns="91425" wrap="square" tIns="45700">
            <a:noAutofit/>
          </a:bodyPr>
          <a:lstStyle/>
          <a:p>
            <a:pPr indent="0" lvl="0" marL="0" marR="0" rtl="0" algn="l">
              <a:lnSpc>
                <a:spcPct val="108000"/>
              </a:lnSpc>
              <a:spcBef>
                <a:spcPts val="0"/>
              </a:spcBef>
              <a:spcAft>
                <a:spcPts val="0"/>
              </a:spcAft>
              <a:buClr>
                <a:srgbClr val="F8FAFC"/>
              </a:buClr>
              <a:buSzPts val="1600"/>
              <a:buFont typeface="Calibri"/>
              <a:buNone/>
            </a:pPr>
            <a:r>
              <a:rPr b="1" lang="en-US" sz="1600">
                <a:solidFill>
                  <a:srgbClr val="F8FAFC"/>
                </a:solidFill>
                <a:latin typeface="Calibri"/>
                <a:ea typeface="Calibri"/>
                <a:cs typeface="Calibri"/>
                <a:sym typeface="Calibri"/>
              </a:rPr>
              <a:t>Side-by-Side PDF Evidence Inspector</a:t>
            </a:r>
            <a:endParaRPr sz="1250">
              <a:solidFill>
                <a:schemeClr val="dk1"/>
              </a:solidFill>
              <a:latin typeface="Calibri"/>
              <a:ea typeface="Calibri"/>
              <a:cs typeface="Calibri"/>
              <a:sym typeface="Calibri"/>
            </a:endParaRPr>
          </a:p>
        </p:txBody>
      </p:sp>
      <p:sp>
        <p:nvSpPr>
          <p:cNvPr id="453" name="Google Shape;453;p15"/>
          <p:cNvSpPr/>
          <p:nvPr/>
        </p:nvSpPr>
        <p:spPr>
          <a:xfrm>
            <a:off x="786384" y="5559552"/>
            <a:ext cx="3108960" cy="685800"/>
          </a:xfrm>
          <a:prstGeom prst="rect">
            <a:avLst/>
          </a:prstGeom>
          <a:noFill/>
          <a:ln>
            <a:noFill/>
          </a:ln>
        </p:spPr>
        <p:txBody>
          <a:bodyPr anchorCtr="0" anchor="ctr" bIns="45700" lIns="91425" spcFirstLastPara="1" rIns="91425" wrap="square" tIns="45700">
            <a:noAutofit/>
          </a:bodyPr>
          <a:lstStyle/>
          <a:p>
            <a:pPr indent="0" lvl="0" marL="0" marR="0" rtl="0" algn="l">
              <a:lnSpc>
                <a:spcPct val="112000"/>
              </a:lnSpc>
              <a:spcBef>
                <a:spcPts val="0"/>
              </a:spcBef>
              <a:spcAft>
                <a:spcPts val="0"/>
              </a:spcAft>
              <a:buClr>
                <a:srgbClr val="94A3B8"/>
              </a:buClr>
              <a:buSzPts val="1300"/>
              <a:buFont typeface="Calibri"/>
              <a:buNone/>
            </a:pPr>
            <a:r>
              <a:rPr lang="en-US" sz="1300">
                <a:solidFill>
                  <a:srgbClr val="94A3B8"/>
                </a:solidFill>
                <a:latin typeface="Calibri"/>
                <a:ea typeface="Calibri"/>
                <a:cs typeface="Calibri"/>
                <a:sym typeface="Calibri"/>
              </a:rPr>
              <a:t>Shows verbatim PDF text snippets alongside extracted attribute values for instant verification.</a:t>
            </a:r>
            <a:endParaRPr sz="1000">
              <a:solidFill>
                <a:schemeClr val="dk1"/>
              </a:solidFill>
              <a:latin typeface="Calibri"/>
              <a:ea typeface="Calibri"/>
              <a:cs typeface="Calibri"/>
              <a:sym typeface="Calibri"/>
            </a:endParaRPr>
          </a:p>
        </p:txBody>
      </p:sp>
      <p:sp>
        <p:nvSpPr>
          <p:cNvPr id="454" name="Google Shape;454;p15"/>
          <p:cNvSpPr/>
          <p:nvPr/>
        </p:nvSpPr>
        <p:spPr>
          <a:xfrm>
            <a:off x="4297680" y="4096512"/>
            <a:ext cx="3584448" cy="2240280"/>
          </a:xfrm>
          <a:prstGeom prst="roundRect">
            <a:avLst>
              <a:gd fmla="val 3673" name="adj"/>
            </a:avLst>
          </a:prstGeom>
          <a:solidFill>
            <a:srgbClr val="16213A"/>
          </a:solidFill>
          <a:ln>
            <a:noFill/>
          </a:ln>
          <a:effectLst>
            <a:outerShdw blurRad="1016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5" name="Google Shape;455;p15"/>
          <p:cNvSpPr/>
          <p:nvPr/>
        </p:nvSpPr>
        <p:spPr>
          <a:xfrm>
            <a:off x="4535424" y="4315968"/>
            <a:ext cx="420624" cy="420624"/>
          </a:xfrm>
          <a:prstGeom prst="ellipse">
            <a:avLst/>
          </a:prstGeom>
          <a:solidFill>
            <a:srgbClr val="38BDF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6" name="Google Shape;456;p15"/>
          <p:cNvSpPr/>
          <p:nvPr/>
        </p:nvSpPr>
        <p:spPr>
          <a:xfrm>
            <a:off x="4535424" y="4315968"/>
            <a:ext cx="420624" cy="42062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1600"/>
              <a:buFont typeface="Calibri"/>
              <a:buNone/>
            </a:pPr>
            <a:r>
              <a:rPr b="1" lang="en-US" sz="1600">
                <a:solidFill>
                  <a:srgbClr val="0F172A"/>
                </a:solidFill>
                <a:latin typeface="Calibri"/>
                <a:ea typeface="Calibri"/>
                <a:cs typeface="Calibri"/>
                <a:sym typeface="Calibri"/>
              </a:rPr>
              <a:t>5</a:t>
            </a:r>
            <a:endParaRPr sz="1500">
              <a:solidFill>
                <a:schemeClr val="dk1"/>
              </a:solidFill>
              <a:latin typeface="Calibri"/>
              <a:ea typeface="Calibri"/>
              <a:cs typeface="Calibri"/>
              <a:sym typeface="Calibri"/>
            </a:endParaRPr>
          </a:p>
        </p:txBody>
      </p:sp>
      <p:sp>
        <p:nvSpPr>
          <p:cNvPr id="457" name="Google Shape;457;p15"/>
          <p:cNvSpPr/>
          <p:nvPr/>
        </p:nvSpPr>
        <p:spPr>
          <a:xfrm>
            <a:off x="4535424" y="4901184"/>
            <a:ext cx="3108960" cy="685800"/>
          </a:xfrm>
          <a:prstGeom prst="rect">
            <a:avLst/>
          </a:prstGeom>
          <a:noFill/>
          <a:ln>
            <a:noFill/>
          </a:ln>
        </p:spPr>
        <p:txBody>
          <a:bodyPr anchorCtr="0" anchor="ctr" bIns="45700" lIns="91425" spcFirstLastPara="1" rIns="91425" wrap="square" tIns="45700">
            <a:noAutofit/>
          </a:bodyPr>
          <a:lstStyle/>
          <a:p>
            <a:pPr indent="0" lvl="0" marL="0" marR="0" rtl="0" algn="l">
              <a:lnSpc>
                <a:spcPct val="108000"/>
              </a:lnSpc>
              <a:spcBef>
                <a:spcPts val="0"/>
              </a:spcBef>
              <a:spcAft>
                <a:spcPts val="0"/>
              </a:spcAft>
              <a:buClr>
                <a:srgbClr val="F8FAFC"/>
              </a:buClr>
              <a:buSzPts val="1600"/>
              <a:buFont typeface="Calibri"/>
              <a:buNone/>
            </a:pPr>
            <a:r>
              <a:rPr b="1" lang="en-US" sz="1600">
                <a:solidFill>
                  <a:srgbClr val="F8FAFC"/>
                </a:solidFill>
                <a:latin typeface="Calibri"/>
                <a:ea typeface="Calibri"/>
                <a:cs typeface="Calibri"/>
                <a:sym typeface="Calibri"/>
              </a:rPr>
              <a:t>252-Column Master Export Controls</a:t>
            </a:r>
            <a:endParaRPr sz="1250">
              <a:solidFill>
                <a:schemeClr val="dk1"/>
              </a:solidFill>
              <a:latin typeface="Calibri"/>
              <a:ea typeface="Calibri"/>
              <a:cs typeface="Calibri"/>
              <a:sym typeface="Calibri"/>
            </a:endParaRPr>
          </a:p>
        </p:txBody>
      </p:sp>
      <p:sp>
        <p:nvSpPr>
          <p:cNvPr id="458" name="Google Shape;458;p15"/>
          <p:cNvSpPr/>
          <p:nvPr/>
        </p:nvSpPr>
        <p:spPr>
          <a:xfrm>
            <a:off x="4535424" y="5559552"/>
            <a:ext cx="3108960" cy="685800"/>
          </a:xfrm>
          <a:prstGeom prst="rect">
            <a:avLst/>
          </a:prstGeom>
          <a:noFill/>
          <a:ln>
            <a:noFill/>
          </a:ln>
        </p:spPr>
        <p:txBody>
          <a:bodyPr anchorCtr="0" anchor="ctr" bIns="45700" lIns="91425" spcFirstLastPara="1" rIns="91425" wrap="square" tIns="45700">
            <a:noAutofit/>
          </a:bodyPr>
          <a:lstStyle/>
          <a:p>
            <a:pPr indent="0" lvl="0" marL="0" marR="0" rtl="0" algn="l">
              <a:lnSpc>
                <a:spcPct val="112000"/>
              </a:lnSpc>
              <a:spcBef>
                <a:spcPts val="0"/>
              </a:spcBef>
              <a:spcAft>
                <a:spcPts val="0"/>
              </a:spcAft>
              <a:buClr>
                <a:srgbClr val="94A3B8"/>
              </a:buClr>
              <a:buSzPts val="1300"/>
              <a:buFont typeface="Calibri"/>
              <a:buNone/>
            </a:pPr>
            <a:r>
              <a:rPr lang="en-US" sz="1300">
                <a:solidFill>
                  <a:srgbClr val="94A3B8"/>
                </a:solidFill>
                <a:latin typeface="Calibri"/>
                <a:ea typeface="Calibri"/>
                <a:cs typeface="Calibri"/>
                <a:sym typeface="Calibri"/>
              </a:rPr>
              <a:t>1-click button to download Unilog_Submission.csv and save to the SQLite product database.</a:t>
            </a:r>
            <a:endParaRPr sz="1000">
              <a:solidFill>
                <a:schemeClr val="dk1"/>
              </a:solidFill>
              <a:latin typeface="Calibri"/>
              <a:ea typeface="Calibri"/>
              <a:cs typeface="Calibri"/>
              <a:sym typeface="Calibri"/>
            </a:endParaRPr>
          </a:p>
        </p:txBody>
      </p:sp>
      <p:sp>
        <p:nvSpPr>
          <p:cNvPr id="459" name="Google Shape;459;p15"/>
          <p:cNvSpPr/>
          <p:nvPr/>
        </p:nvSpPr>
        <p:spPr>
          <a:xfrm>
            <a:off x="45720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172A"/>
              </a:buClr>
              <a:buSzPts val="1300"/>
              <a:buFont typeface="Calibri"/>
              <a:buNone/>
            </a:pPr>
            <a:r>
              <a:rPr lang="en-US" sz="1300">
                <a:solidFill>
                  <a:srgbClr val="0F172A"/>
                </a:solidFill>
                <a:latin typeface="Calibri"/>
                <a:ea typeface="Calibri"/>
                <a:cs typeface="Calibri"/>
                <a:sym typeface="Calibri"/>
              </a:rPr>
              <a:t>12 / 15   •   Wireframes &amp; Dashboard</a:t>
            </a:r>
            <a:endParaRPr sz="9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pic>
        <p:nvPicPr>
          <p:cNvPr id="465" name="Google Shape;465;p16"/>
          <p:cNvPicPr preferRelativeResize="0"/>
          <p:nvPr/>
        </p:nvPicPr>
        <p:blipFill>
          <a:blip r:embed="rId3">
            <a:alphaModFix/>
          </a:blip>
          <a:stretch>
            <a:fillRect/>
          </a:stretch>
        </p:blipFill>
        <p:spPr>
          <a:xfrm>
            <a:off x="232775" y="1478475"/>
            <a:ext cx="11887199" cy="375254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470" name="Shape 470"/>
        <p:cNvGrpSpPr/>
        <p:nvPr/>
      </p:nvGrpSpPr>
      <p:grpSpPr>
        <a:xfrm>
          <a:off x="0" y="0"/>
          <a:ext cx="0" cy="0"/>
          <a:chOff x="0" y="0"/>
          <a:chExt cx="0" cy="0"/>
        </a:xfrm>
      </p:grpSpPr>
      <p:pic>
        <p:nvPicPr>
          <p:cNvPr descr="image.png" id="471" name="Google Shape;471;p1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72" name="Google Shape;472;p17"/>
          <p:cNvSpPr/>
          <p:nvPr/>
        </p:nvSpPr>
        <p:spPr>
          <a:xfrm>
            <a:off x="548640" y="347472"/>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172A"/>
              </a:buClr>
              <a:buSzPts val="1300"/>
              <a:buFont typeface="Calibri"/>
              <a:buNone/>
            </a:pPr>
            <a:r>
              <a:rPr b="1" lang="en-US" sz="1300">
                <a:solidFill>
                  <a:srgbClr val="0F172A"/>
                </a:solidFill>
                <a:latin typeface="Calibri"/>
                <a:ea typeface="Calibri"/>
                <a:cs typeface="Calibri"/>
                <a:sym typeface="Calibri"/>
              </a:rPr>
              <a:t>SYSTEM DESIGN</a:t>
            </a:r>
            <a:endParaRPr sz="1100">
              <a:solidFill>
                <a:schemeClr val="dk1"/>
              </a:solidFill>
              <a:latin typeface="Calibri"/>
              <a:ea typeface="Calibri"/>
              <a:cs typeface="Calibri"/>
              <a:sym typeface="Calibri"/>
            </a:endParaRPr>
          </a:p>
        </p:txBody>
      </p:sp>
      <p:sp>
        <p:nvSpPr>
          <p:cNvPr id="473" name="Google Shape;473;p17"/>
          <p:cNvSpPr/>
          <p:nvPr/>
        </p:nvSpPr>
        <p:spPr>
          <a:xfrm>
            <a:off x="548640" y="603504"/>
            <a:ext cx="11064240" cy="86868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0F172A"/>
              </a:buClr>
              <a:buSzPts val="3200"/>
              <a:buFont typeface="Calibri"/>
              <a:buNone/>
            </a:pPr>
            <a:r>
              <a:rPr b="1" lang="en-US" sz="3200">
                <a:solidFill>
                  <a:srgbClr val="0F172A"/>
                </a:solidFill>
                <a:latin typeface="Calibri"/>
                <a:ea typeface="Calibri"/>
                <a:cs typeface="Calibri"/>
                <a:sym typeface="Calibri"/>
              </a:rPr>
              <a:t>Architecture Diagram of the Proposed Solution </a:t>
            </a:r>
            <a:r>
              <a:rPr b="1" lang="en-US" sz="2500">
                <a:solidFill>
                  <a:srgbClr val="0F172A"/>
                </a:solidFill>
                <a:latin typeface="Calibri"/>
                <a:ea typeface="Calibri"/>
                <a:cs typeface="Calibri"/>
                <a:sym typeface="Calibri"/>
              </a:rPr>
              <a:t>(diagram next page)</a:t>
            </a:r>
            <a:endParaRPr sz="1900">
              <a:solidFill>
                <a:schemeClr val="dk1"/>
              </a:solidFill>
              <a:latin typeface="Calibri"/>
              <a:ea typeface="Calibri"/>
              <a:cs typeface="Calibri"/>
              <a:sym typeface="Calibri"/>
            </a:endParaRPr>
          </a:p>
        </p:txBody>
      </p:sp>
      <p:sp>
        <p:nvSpPr>
          <p:cNvPr id="474" name="Google Shape;474;p17"/>
          <p:cNvSpPr/>
          <p:nvPr/>
        </p:nvSpPr>
        <p:spPr>
          <a:xfrm>
            <a:off x="548640" y="1600200"/>
            <a:ext cx="11091672" cy="1508760"/>
          </a:xfrm>
          <a:prstGeom prst="roundRect">
            <a:avLst>
              <a:gd fmla="val 5455" name="adj"/>
            </a:avLst>
          </a:prstGeom>
          <a:solidFill>
            <a:srgbClr val="1E293B"/>
          </a:solidFill>
          <a:ln>
            <a:noFill/>
          </a:ln>
          <a:effectLst>
            <a:outerShdw blurRad="1016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5" name="Google Shape;475;p17"/>
          <p:cNvSpPr/>
          <p:nvPr/>
        </p:nvSpPr>
        <p:spPr>
          <a:xfrm>
            <a:off x="822960" y="2034540"/>
            <a:ext cx="640080" cy="640080"/>
          </a:xfrm>
          <a:prstGeom prst="ellipse">
            <a:avLst/>
          </a:prstGeom>
          <a:solidFill>
            <a:srgbClr val="38BDF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6" name="Google Shape;476;p17"/>
          <p:cNvSpPr/>
          <p:nvPr/>
        </p:nvSpPr>
        <p:spPr>
          <a:xfrm>
            <a:off x="822960" y="2034540"/>
            <a:ext cx="64008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2200"/>
              <a:buFont typeface="Calibri"/>
              <a:buNone/>
            </a:pPr>
            <a:r>
              <a:rPr b="1" lang="en-US" sz="2200">
                <a:solidFill>
                  <a:srgbClr val="0F172A"/>
                </a:solidFill>
                <a:latin typeface="Calibri"/>
                <a:ea typeface="Calibri"/>
                <a:cs typeface="Calibri"/>
                <a:sym typeface="Calibri"/>
              </a:rPr>
              <a:t>T1</a:t>
            </a:r>
            <a:endParaRPr sz="1800">
              <a:solidFill>
                <a:schemeClr val="dk1"/>
              </a:solidFill>
              <a:latin typeface="Calibri"/>
              <a:ea typeface="Calibri"/>
              <a:cs typeface="Calibri"/>
              <a:sym typeface="Calibri"/>
            </a:endParaRPr>
          </a:p>
        </p:txBody>
      </p:sp>
      <p:sp>
        <p:nvSpPr>
          <p:cNvPr id="477" name="Google Shape;477;p17"/>
          <p:cNvSpPr/>
          <p:nvPr/>
        </p:nvSpPr>
        <p:spPr>
          <a:xfrm>
            <a:off x="1783080" y="1737360"/>
            <a:ext cx="338328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F8FAFC"/>
              </a:buClr>
              <a:buSzPts val="1600"/>
              <a:buFont typeface="Calibri"/>
              <a:buNone/>
            </a:pPr>
            <a:r>
              <a:rPr b="1" lang="en-US" sz="1600">
                <a:solidFill>
                  <a:srgbClr val="F8FAFC"/>
                </a:solidFill>
                <a:latin typeface="Calibri"/>
                <a:ea typeface="Calibri"/>
                <a:cs typeface="Calibri"/>
                <a:sym typeface="Calibri"/>
              </a:rPr>
              <a:t>Frontend &amp; State Control</a:t>
            </a:r>
            <a:endParaRPr sz="1500">
              <a:solidFill>
                <a:schemeClr val="dk1"/>
              </a:solidFill>
              <a:latin typeface="Calibri"/>
              <a:ea typeface="Calibri"/>
              <a:cs typeface="Calibri"/>
              <a:sym typeface="Calibri"/>
            </a:endParaRPr>
          </a:p>
        </p:txBody>
      </p:sp>
      <p:sp>
        <p:nvSpPr>
          <p:cNvPr id="478" name="Google Shape;478;p17"/>
          <p:cNvSpPr/>
          <p:nvPr/>
        </p:nvSpPr>
        <p:spPr>
          <a:xfrm>
            <a:off x="5303520" y="1737360"/>
            <a:ext cx="6062472" cy="123444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15000"/>
              </a:lnSpc>
              <a:spcBef>
                <a:spcPts val="0"/>
              </a:spcBef>
              <a:spcAft>
                <a:spcPts val="0"/>
              </a:spcAft>
              <a:buClr>
                <a:srgbClr val="94A3B8"/>
              </a:buClr>
              <a:buSzPts val="1300"/>
              <a:buFont typeface="Calibri"/>
              <a:buChar char="•"/>
            </a:pPr>
            <a:r>
              <a:rPr lang="en-US" sz="1300">
                <a:solidFill>
                  <a:srgbClr val="94A3B8"/>
                </a:solidFill>
                <a:latin typeface="Calibri"/>
                <a:ea typeface="Calibri"/>
                <a:cs typeface="Calibri"/>
                <a:sym typeface="Calibri"/>
              </a:rPr>
              <a:t>React 18 + Vite Review Station</a:t>
            </a:r>
            <a:endParaRPr sz="1050">
              <a:solidFill>
                <a:schemeClr val="dk1"/>
              </a:solidFill>
              <a:latin typeface="Calibri"/>
              <a:ea typeface="Calibri"/>
              <a:cs typeface="Calibri"/>
              <a:sym typeface="Calibri"/>
            </a:endParaRPr>
          </a:p>
          <a:p>
            <a:pPr indent="-342900" lvl="0" marL="342900" marR="0" rtl="0" algn="l">
              <a:lnSpc>
                <a:spcPct val="115000"/>
              </a:lnSpc>
              <a:spcBef>
                <a:spcPts val="300"/>
              </a:spcBef>
              <a:spcAft>
                <a:spcPts val="0"/>
              </a:spcAft>
              <a:buClr>
                <a:srgbClr val="94A3B8"/>
              </a:buClr>
              <a:buSzPts val="1300"/>
              <a:buFont typeface="Calibri"/>
              <a:buChar char="•"/>
            </a:pPr>
            <a:r>
              <a:rPr lang="en-US" sz="1300">
                <a:solidFill>
                  <a:srgbClr val="94A3B8"/>
                </a:solidFill>
                <a:latin typeface="Calibri"/>
                <a:ea typeface="Calibri"/>
                <a:cs typeface="Calibri"/>
                <a:sym typeface="Calibri"/>
              </a:rPr>
              <a:t>FastAPI Async REST Gateway</a:t>
            </a:r>
            <a:endParaRPr sz="1050">
              <a:solidFill>
                <a:schemeClr val="dk1"/>
              </a:solidFill>
              <a:latin typeface="Calibri"/>
              <a:ea typeface="Calibri"/>
              <a:cs typeface="Calibri"/>
              <a:sym typeface="Calibri"/>
            </a:endParaRPr>
          </a:p>
          <a:p>
            <a:pPr indent="-342900" lvl="0" marL="342900" marR="0" rtl="0" algn="l">
              <a:lnSpc>
                <a:spcPct val="115000"/>
              </a:lnSpc>
              <a:spcBef>
                <a:spcPts val="300"/>
              </a:spcBef>
              <a:spcAft>
                <a:spcPts val="0"/>
              </a:spcAft>
              <a:buClr>
                <a:srgbClr val="94A3B8"/>
              </a:buClr>
              <a:buSzPts val="1300"/>
              <a:buFont typeface="Calibri"/>
              <a:buChar char="•"/>
            </a:pPr>
            <a:r>
              <a:rPr lang="en-US" sz="1300">
                <a:solidFill>
                  <a:srgbClr val="94A3B8"/>
                </a:solidFill>
                <a:latin typeface="Calibri"/>
                <a:ea typeface="Calibri"/>
                <a:cs typeface="Calibri"/>
                <a:sym typeface="Calibri"/>
              </a:rPr>
              <a:t>LangGraph 10-Node Supervisor State Machine</a:t>
            </a:r>
            <a:endParaRPr sz="1050">
              <a:solidFill>
                <a:schemeClr val="dk1"/>
              </a:solidFill>
              <a:latin typeface="Calibri"/>
              <a:ea typeface="Calibri"/>
              <a:cs typeface="Calibri"/>
              <a:sym typeface="Calibri"/>
            </a:endParaRPr>
          </a:p>
          <a:p>
            <a:pPr indent="-342900" lvl="0" marL="342900" marR="0" rtl="0" algn="l">
              <a:lnSpc>
                <a:spcPct val="115000"/>
              </a:lnSpc>
              <a:spcBef>
                <a:spcPts val="300"/>
              </a:spcBef>
              <a:spcAft>
                <a:spcPts val="0"/>
              </a:spcAft>
              <a:buClr>
                <a:srgbClr val="94A3B8"/>
              </a:buClr>
              <a:buSzPts val="1300"/>
              <a:buFont typeface="Calibri"/>
              <a:buChar char="•"/>
            </a:pPr>
            <a:r>
              <a:rPr lang="en-US" sz="1300">
                <a:solidFill>
                  <a:srgbClr val="94A3B8"/>
                </a:solidFill>
                <a:latin typeface="Calibri"/>
                <a:ea typeface="Calibri"/>
                <a:cs typeface="Calibri"/>
                <a:sym typeface="Calibri"/>
              </a:rPr>
              <a:t>SQLite job_store.db</a:t>
            </a:r>
            <a:endParaRPr sz="1050">
              <a:solidFill>
                <a:schemeClr val="dk1"/>
              </a:solidFill>
              <a:latin typeface="Calibri"/>
              <a:ea typeface="Calibri"/>
              <a:cs typeface="Calibri"/>
              <a:sym typeface="Calibri"/>
            </a:endParaRPr>
          </a:p>
        </p:txBody>
      </p:sp>
      <p:sp>
        <p:nvSpPr>
          <p:cNvPr id="479" name="Google Shape;479;p17"/>
          <p:cNvSpPr/>
          <p:nvPr/>
        </p:nvSpPr>
        <p:spPr>
          <a:xfrm>
            <a:off x="548640" y="3246120"/>
            <a:ext cx="11091672" cy="1508760"/>
          </a:xfrm>
          <a:prstGeom prst="roundRect">
            <a:avLst>
              <a:gd fmla="val 5455" name="adj"/>
            </a:avLst>
          </a:prstGeom>
          <a:solidFill>
            <a:srgbClr val="16213A"/>
          </a:solidFill>
          <a:ln>
            <a:noFill/>
          </a:ln>
          <a:effectLst>
            <a:outerShdw blurRad="1016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0" name="Google Shape;480;p17"/>
          <p:cNvSpPr/>
          <p:nvPr/>
        </p:nvSpPr>
        <p:spPr>
          <a:xfrm>
            <a:off x="822960" y="3680460"/>
            <a:ext cx="640080" cy="640080"/>
          </a:xfrm>
          <a:prstGeom prst="ellipse">
            <a:avLst/>
          </a:prstGeom>
          <a:solidFill>
            <a:srgbClr val="38BDF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1" name="Google Shape;481;p17"/>
          <p:cNvSpPr/>
          <p:nvPr/>
        </p:nvSpPr>
        <p:spPr>
          <a:xfrm>
            <a:off x="822960" y="3680460"/>
            <a:ext cx="64008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2200"/>
              <a:buFont typeface="Calibri"/>
              <a:buNone/>
            </a:pPr>
            <a:r>
              <a:rPr b="1" lang="en-US" sz="2200">
                <a:solidFill>
                  <a:srgbClr val="0F172A"/>
                </a:solidFill>
                <a:latin typeface="Calibri"/>
                <a:ea typeface="Calibri"/>
                <a:cs typeface="Calibri"/>
                <a:sym typeface="Calibri"/>
              </a:rPr>
              <a:t>T2</a:t>
            </a:r>
            <a:endParaRPr sz="1800">
              <a:solidFill>
                <a:schemeClr val="dk1"/>
              </a:solidFill>
              <a:latin typeface="Calibri"/>
              <a:ea typeface="Calibri"/>
              <a:cs typeface="Calibri"/>
              <a:sym typeface="Calibri"/>
            </a:endParaRPr>
          </a:p>
        </p:txBody>
      </p:sp>
      <p:sp>
        <p:nvSpPr>
          <p:cNvPr id="482" name="Google Shape;482;p17"/>
          <p:cNvSpPr/>
          <p:nvPr/>
        </p:nvSpPr>
        <p:spPr>
          <a:xfrm>
            <a:off x="1783080" y="3383280"/>
            <a:ext cx="338328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F8FAFC"/>
              </a:buClr>
              <a:buSzPts val="1600"/>
              <a:buFont typeface="Calibri"/>
              <a:buNone/>
            </a:pPr>
            <a:r>
              <a:rPr b="1" lang="en-US" sz="1600">
                <a:solidFill>
                  <a:srgbClr val="F8FAFC"/>
                </a:solidFill>
                <a:latin typeface="Calibri"/>
                <a:ea typeface="Calibri"/>
                <a:cs typeface="Calibri"/>
                <a:sym typeface="Calibri"/>
              </a:rPr>
              <a:t>Search, Vector &amp; Knowledge Stores</a:t>
            </a:r>
            <a:endParaRPr sz="1500">
              <a:solidFill>
                <a:schemeClr val="dk1"/>
              </a:solidFill>
              <a:latin typeface="Calibri"/>
              <a:ea typeface="Calibri"/>
              <a:cs typeface="Calibri"/>
              <a:sym typeface="Calibri"/>
            </a:endParaRPr>
          </a:p>
        </p:txBody>
      </p:sp>
      <p:sp>
        <p:nvSpPr>
          <p:cNvPr id="483" name="Google Shape;483;p17"/>
          <p:cNvSpPr/>
          <p:nvPr/>
        </p:nvSpPr>
        <p:spPr>
          <a:xfrm>
            <a:off x="5303520" y="3383280"/>
            <a:ext cx="6062472" cy="123444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15000"/>
              </a:lnSpc>
              <a:spcBef>
                <a:spcPts val="0"/>
              </a:spcBef>
              <a:spcAft>
                <a:spcPts val="0"/>
              </a:spcAft>
              <a:buClr>
                <a:srgbClr val="94A3B8"/>
              </a:buClr>
              <a:buSzPts val="1300"/>
              <a:buFont typeface="Calibri"/>
              <a:buChar char="•"/>
            </a:pPr>
            <a:r>
              <a:rPr lang="en-US" sz="1300">
                <a:solidFill>
                  <a:srgbClr val="94A3B8"/>
                </a:solidFill>
                <a:latin typeface="Calibri"/>
                <a:ea typeface="Calibri"/>
                <a:cs typeface="Calibri"/>
                <a:sym typeface="Calibri"/>
              </a:rPr>
              <a:t>Serper.dev Google API</a:t>
            </a:r>
            <a:endParaRPr sz="1050">
              <a:solidFill>
                <a:schemeClr val="dk1"/>
              </a:solidFill>
              <a:latin typeface="Calibri"/>
              <a:ea typeface="Calibri"/>
              <a:cs typeface="Calibri"/>
              <a:sym typeface="Calibri"/>
            </a:endParaRPr>
          </a:p>
          <a:p>
            <a:pPr indent="-342900" lvl="0" marL="342900" marR="0" rtl="0" algn="l">
              <a:lnSpc>
                <a:spcPct val="115000"/>
              </a:lnSpc>
              <a:spcBef>
                <a:spcPts val="300"/>
              </a:spcBef>
              <a:spcAft>
                <a:spcPts val="0"/>
              </a:spcAft>
              <a:buClr>
                <a:srgbClr val="94A3B8"/>
              </a:buClr>
              <a:buSzPts val="1300"/>
              <a:buFont typeface="Calibri"/>
              <a:buChar char="•"/>
            </a:pPr>
            <a:r>
              <a:rPr lang="en-US" sz="1300">
                <a:solidFill>
                  <a:srgbClr val="94A3B8"/>
                </a:solidFill>
                <a:latin typeface="Calibri"/>
                <a:ea typeface="Calibri"/>
                <a:cs typeface="Calibri"/>
                <a:sym typeface="Calibri"/>
              </a:rPr>
              <a:t>ChromaDB Vector DB (all-MiniLM-L6-v2)</a:t>
            </a:r>
            <a:endParaRPr sz="1050">
              <a:solidFill>
                <a:schemeClr val="dk1"/>
              </a:solidFill>
              <a:latin typeface="Calibri"/>
              <a:ea typeface="Calibri"/>
              <a:cs typeface="Calibri"/>
              <a:sym typeface="Calibri"/>
            </a:endParaRPr>
          </a:p>
          <a:p>
            <a:pPr indent="-342900" lvl="0" marL="342900" marR="0" rtl="0" algn="l">
              <a:lnSpc>
                <a:spcPct val="115000"/>
              </a:lnSpc>
              <a:spcBef>
                <a:spcPts val="300"/>
              </a:spcBef>
              <a:spcAft>
                <a:spcPts val="0"/>
              </a:spcAft>
              <a:buClr>
                <a:srgbClr val="94A3B8"/>
              </a:buClr>
              <a:buSzPts val="1300"/>
              <a:buFont typeface="Calibri"/>
              <a:buChar char="•"/>
            </a:pPr>
            <a:r>
              <a:rPr lang="en-US" sz="1300">
                <a:solidFill>
                  <a:srgbClr val="94A3B8"/>
                </a:solidFill>
                <a:latin typeface="Calibri"/>
                <a:ea typeface="Calibri"/>
                <a:cs typeface="Calibri"/>
                <a:sym typeface="Calibri"/>
              </a:rPr>
              <a:t>NetworkX Knowledge Graph</a:t>
            </a:r>
            <a:endParaRPr sz="1050">
              <a:solidFill>
                <a:schemeClr val="dk1"/>
              </a:solidFill>
              <a:latin typeface="Calibri"/>
              <a:ea typeface="Calibri"/>
              <a:cs typeface="Calibri"/>
              <a:sym typeface="Calibri"/>
            </a:endParaRPr>
          </a:p>
          <a:p>
            <a:pPr indent="-342900" lvl="0" marL="342900" marR="0" rtl="0" algn="l">
              <a:lnSpc>
                <a:spcPct val="115000"/>
              </a:lnSpc>
              <a:spcBef>
                <a:spcPts val="300"/>
              </a:spcBef>
              <a:spcAft>
                <a:spcPts val="0"/>
              </a:spcAft>
              <a:buClr>
                <a:srgbClr val="94A3B8"/>
              </a:buClr>
              <a:buSzPts val="1300"/>
              <a:buFont typeface="Calibri"/>
              <a:buChar char="•"/>
            </a:pPr>
            <a:r>
              <a:rPr lang="en-US" sz="1300">
                <a:solidFill>
                  <a:srgbClr val="94A3B8"/>
                </a:solidFill>
                <a:latin typeface="Calibri"/>
                <a:ea typeface="Calibri"/>
                <a:cs typeface="Calibri"/>
                <a:sym typeface="Calibri"/>
              </a:rPr>
              <a:t>PyMuPDF &amp; Trafilatura text extraction</a:t>
            </a:r>
            <a:endParaRPr sz="1050">
              <a:solidFill>
                <a:schemeClr val="dk1"/>
              </a:solidFill>
              <a:latin typeface="Calibri"/>
              <a:ea typeface="Calibri"/>
              <a:cs typeface="Calibri"/>
              <a:sym typeface="Calibri"/>
            </a:endParaRPr>
          </a:p>
        </p:txBody>
      </p:sp>
      <p:sp>
        <p:nvSpPr>
          <p:cNvPr id="484" name="Google Shape;484;p17"/>
          <p:cNvSpPr/>
          <p:nvPr/>
        </p:nvSpPr>
        <p:spPr>
          <a:xfrm>
            <a:off x="548640" y="4892040"/>
            <a:ext cx="11091672" cy="1508760"/>
          </a:xfrm>
          <a:prstGeom prst="roundRect">
            <a:avLst>
              <a:gd fmla="val 5455" name="adj"/>
            </a:avLst>
          </a:prstGeom>
          <a:solidFill>
            <a:srgbClr val="1E293B"/>
          </a:solidFill>
          <a:ln>
            <a:noFill/>
          </a:ln>
          <a:effectLst>
            <a:outerShdw blurRad="1016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5" name="Google Shape;485;p17"/>
          <p:cNvSpPr/>
          <p:nvPr/>
        </p:nvSpPr>
        <p:spPr>
          <a:xfrm>
            <a:off x="822960" y="5326380"/>
            <a:ext cx="640080" cy="640080"/>
          </a:xfrm>
          <a:prstGeom prst="ellipse">
            <a:avLst/>
          </a:prstGeom>
          <a:solidFill>
            <a:srgbClr val="34D3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6" name="Google Shape;486;p17"/>
          <p:cNvSpPr/>
          <p:nvPr/>
        </p:nvSpPr>
        <p:spPr>
          <a:xfrm>
            <a:off x="822960" y="5326380"/>
            <a:ext cx="64008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72A"/>
              </a:buClr>
              <a:buSzPts val="2200"/>
              <a:buFont typeface="Calibri"/>
              <a:buNone/>
            </a:pPr>
            <a:r>
              <a:rPr b="1" lang="en-US" sz="2200">
                <a:solidFill>
                  <a:srgbClr val="0F172A"/>
                </a:solidFill>
                <a:latin typeface="Calibri"/>
                <a:ea typeface="Calibri"/>
                <a:cs typeface="Calibri"/>
                <a:sym typeface="Calibri"/>
              </a:rPr>
              <a:t>T3</a:t>
            </a:r>
            <a:endParaRPr sz="1800">
              <a:solidFill>
                <a:schemeClr val="dk1"/>
              </a:solidFill>
              <a:latin typeface="Calibri"/>
              <a:ea typeface="Calibri"/>
              <a:cs typeface="Calibri"/>
              <a:sym typeface="Calibri"/>
            </a:endParaRPr>
          </a:p>
        </p:txBody>
      </p:sp>
      <p:sp>
        <p:nvSpPr>
          <p:cNvPr id="487" name="Google Shape;487;p17"/>
          <p:cNvSpPr/>
          <p:nvPr/>
        </p:nvSpPr>
        <p:spPr>
          <a:xfrm>
            <a:off x="1783080" y="5029200"/>
            <a:ext cx="338328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F8FAFC"/>
              </a:buClr>
              <a:buSzPts val="1600"/>
              <a:buFont typeface="Calibri"/>
              <a:buNone/>
            </a:pPr>
            <a:r>
              <a:rPr b="1" lang="en-US" sz="1600">
                <a:solidFill>
                  <a:srgbClr val="F8FAFC"/>
                </a:solidFill>
                <a:latin typeface="Calibri"/>
                <a:ea typeface="Calibri"/>
                <a:cs typeface="Calibri"/>
                <a:sym typeface="Calibri"/>
              </a:rPr>
              <a:t>Multi-Tier Inference Cascade</a:t>
            </a:r>
            <a:endParaRPr sz="1500">
              <a:solidFill>
                <a:schemeClr val="dk1"/>
              </a:solidFill>
              <a:latin typeface="Calibri"/>
              <a:ea typeface="Calibri"/>
              <a:cs typeface="Calibri"/>
              <a:sym typeface="Calibri"/>
            </a:endParaRPr>
          </a:p>
        </p:txBody>
      </p:sp>
      <p:sp>
        <p:nvSpPr>
          <p:cNvPr id="488" name="Google Shape;488;p17"/>
          <p:cNvSpPr/>
          <p:nvPr/>
        </p:nvSpPr>
        <p:spPr>
          <a:xfrm>
            <a:off x="5303520" y="5029200"/>
            <a:ext cx="6062472" cy="123444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15000"/>
              </a:lnSpc>
              <a:spcBef>
                <a:spcPts val="0"/>
              </a:spcBef>
              <a:spcAft>
                <a:spcPts val="0"/>
              </a:spcAft>
              <a:buClr>
                <a:srgbClr val="94A3B8"/>
              </a:buClr>
              <a:buSzPts val="1300"/>
              <a:buFont typeface="Calibri"/>
              <a:buChar char="•"/>
            </a:pPr>
            <a:r>
              <a:rPr lang="en-US" sz="1300">
                <a:solidFill>
                  <a:srgbClr val="94A3B8"/>
                </a:solidFill>
                <a:latin typeface="Calibri"/>
                <a:ea typeface="Calibri"/>
                <a:cs typeface="Calibri"/>
                <a:sym typeface="Calibri"/>
              </a:rPr>
              <a:t>Air-gapped local Ollama (qwen2.5:3b) — primary, $0.00</a:t>
            </a:r>
            <a:endParaRPr sz="1050">
              <a:solidFill>
                <a:schemeClr val="dk1"/>
              </a:solidFill>
              <a:latin typeface="Calibri"/>
              <a:ea typeface="Calibri"/>
              <a:cs typeface="Calibri"/>
              <a:sym typeface="Calibri"/>
            </a:endParaRPr>
          </a:p>
          <a:p>
            <a:pPr indent="-342900" lvl="0" marL="342900" marR="0" rtl="0" algn="l">
              <a:lnSpc>
                <a:spcPct val="115000"/>
              </a:lnSpc>
              <a:spcBef>
                <a:spcPts val="300"/>
              </a:spcBef>
              <a:spcAft>
                <a:spcPts val="0"/>
              </a:spcAft>
              <a:buClr>
                <a:srgbClr val="94A3B8"/>
              </a:buClr>
              <a:buSzPts val="1300"/>
              <a:buFont typeface="Calibri"/>
              <a:buChar char="•"/>
            </a:pPr>
            <a:r>
              <a:rPr lang="en-US" sz="1300">
                <a:solidFill>
                  <a:srgbClr val="94A3B8"/>
                </a:solidFill>
                <a:latin typeface="Calibri"/>
                <a:ea typeface="Calibri"/>
                <a:cs typeface="Calibri"/>
                <a:sym typeface="Calibri"/>
              </a:rPr>
              <a:t>Groq API / Gemini API — cloud fallback for complex unformatted documents</a:t>
            </a:r>
            <a:endParaRPr sz="1050">
              <a:solidFill>
                <a:schemeClr val="dk1"/>
              </a:solidFill>
              <a:latin typeface="Calibri"/>
              <a:ea typeface="Calibri"/>
              <a:cs typeface="Calibri"/>
              <a:sym typeface="Calibri"/>
            </a:endParaRPr>
          </a:p>
        </p:txBody>
      </p:sp>
      <p:sp>
        <p:nvSpPr>
          <p:cNvPr id="489" name="Google Shape;489;p17"/>
          <p:cNvSpPr/>
          <p:nvPr/>
        </p:nvSpPr>
        <p:spPr>
          <a:xfrm>
            <a:off x="45720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172A"/>
              </a:buClr>
              <a:buSzPts val="1300"/>
              <a:buFont typeface="Calibri"/>
              <a:buNone/>
            </a:pPr>
            <a:r>
              <a:rPr lang="en-US" sz="1300">
                <a:solidFill>
                  <a:srgbClr val="0F172A"/>
                </a:solidFill>
                <a:latin typeface="Calibri"/>
                <a:ea typeface="Calibri"/>
                <a:cs typeface="Calibri"/>
                <a:sym typeface="Calibri"/>
              </a:rPr>
              <a:t>13 / 15   •   System Architecture</a:t>
            </a:r>
            <a:endParaRPr sz="9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pic>
        <p:nvPicPr>
          <p:cNvPr id="495" name="Google Shape;495;p18"/>
          <p:cNvPicPr preferRelativeResize="0"/>
          <p:nvPr/>
        </p:nvPicPr>
        <p:blipFill>
          <a:blip r:embed="rId3">
            <a:alphaModFix/>
          </a:blip>
          <a:stretch>
            <a:fillRect/>
          </a:stretch>
        </p:blipFill>
        <p:spPr>
          <a:xfrm>
            <a:off x="152400" y="152400"/>
            <a:ext cx="11887199" cy="3077271"/>
          </a:xfrm>
          <a:prstGeom prst="rect">
            <a:avLst/>
          </a:prstGeom>
          <a:noFill/>
          <a:ln>
            <a:noFill/>
          </a:ln>
        </p:spPr>
      </p:pic>
      <p:pic>
        <p:nvPicPr>
          <p:cNvPr id="496" name="Google Shape;496;p18"/>
          <p:cNvPicPr preferRelativeResize="0"/>
          <p:nvPr/>
        </p:nvPicPr>
        <p:blipFill>
          <a:blip r:embed="rId4">
            <a:alphaModFix/>
          </a:blip>
          <a:stretch>
            <a:fillRect/>
          </a:stretch>
        </p:blipFill>
        <p:spPr>
          <a:xfrm>
            <a:off x="2480675" y="2832900"/>
            <a:ext cx="6697249" cy="39634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pic>
        <p:nvPicPr>
          <p:cNvPr id="502" name="Google Shape;502;p19"/>
          <p:cNvPicPr preferRelativeResize="0"/>
          <p:nvPr/>
        </p:nvPicPr>
        <p:blipFill>
          <a:blip r:embed="rId3">
            <a:alphaModFix/>
          </a:blip>
          <a:stretch>
            <a:fillRect/>
          </a:stretch>
        </p:blipFill>
        <p:spPr>
          <a:xfrm>
            <a:off x="1009650" y="72025"/>
            <a:ext cx="9187409" cy="65532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507" name="Shape 507"/>
        <p:cNvGrpSpPr/>
        <p:nvPr/>
      </p:nvGrpSpPr>
      <p:grpSpPr>
        <a:xfrm>
          <a:off x="0" y="0"/>
          <a:ext cx="0" cy="0"/>
          <a:chOff x="0" y="0"/>
          <a:chExt cx="0" cy="0"/>
        </a:xfrm>
      </p:grpSpPr>
      <p:pic>
        <p:nvPicPr>
          <p:cNvPr descr="image.png" id="508" name="Google Shape;508;p2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509" name="Google Shape;509;p20"/>
          <p:cNvSpPr/>
          <p:nvPr/>
        </p:nvSpPr>
        <p:spPr>
          <a:xfrm>
            <a:off x="548640" y="347472"/>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172A"/>
              </a:buClr>
              <a:buSzPts val="1300"/>
              <a:buFont typeface="Calibri"/>
              <a:buNone/>
            </a:pPr>
            <a:r>
              <a:rPr b="1" lang="en-US" sz="1300">
                <a:solidFill>
                  <a:srgbClr val="0F172A"/>
                </a:solidFill>
                <a:latin typeface="Calibri"/>
                <a:ea typeface="Calibri"/>
                <a:cs typeface="Calibri"/>
                <a:sym typeface="Calibri"/>
              </a:rPr>
              <a:t>IMPLEMENTATION</a:t>
            </a:r>
            <a:endParaRPr sz="1100">
              <a:solidFill>
                <a:schemeClr val="dk1"/>
              </a:solidFill>
              <a:latin typeface="Calibri"/>
              <a:ea typeface="Calibri"/>
              <a:cs typeface="Calibri"/>
              <a:sym typeface="Calibri"/>
            </a:endParaRPr>
          </a:p>
        </p:txBody>
      </p:sp>
      <p:sp>
        <p:nvSpPr>
          <p:cNvPr id="510" name="Google Shape;510;p20"/>
          <p:cNvSpPr/>
          <p:nvPr/>
        </p:nvSpPr>
        <p:spPr>
          <a:xfrm>
            <a:off x="548640" y="603504"/>
            <a:ext cx="11064240" cy="86868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0F172A"/>
              </a:buClr>
              <a:buSzPts val="3200"/>
              <a:buFont typeface="Calibri"/>
              <a:buNone/>
            </a:pPr>
            <a:r>
              <a:rPr b="1" lang="en-US" sz="3200">
                <a:solidFill>
                  <a:srgbClr val="0F172A"/>
                </a:solidFill>
                <a:latin typeface="Calibri"/>
                <a:ea typeface="Calibri"/>
                <a:cs typeface="Calibri"/>
                <a:sym typeface="Calibri"/>
              </a:rPr>
              <a:t>Technologies Used &amp; Cost Analysis</a:t>
            </a:r>
            <a:endParaRPr sz="2800">
              <a:solidFill>
                <a:schemeClr val="dk1"/>
              </a:solidFill>
              <a:latin typeface="Calibri"/>
              <a:ea typeface="Calibri"/>
              <a:cs typeface="Calibri"/>
              <a:sym typeface="Calibri"/>
            </a:endParaRPr>
          </a:p>
        </p:txBody>
      </p:sp>
      <p:sp>
        <p:nvSpPr>
          <p:cNvPr id="511" name="Google Shape;511;p20"/>
          <p:cNvSpPr/>
          <p:nvPr/>
        </p:nvSpPr>
        <p:spPr>
          <a:xfrm>
            <a:off x="548640" y="1600200"/>
            <a:ext cx="3584448" cy="1417320"/>
          </a:xfrm>
          <a:prstGeom prst="roundRect">
            <a:avLst>
              <a:gd fmla="val 5806" name="adj"/>
            </a:avLst>
          </a:prstGeom>
          <a:solidFill>
            <a:srgbClr val="1E293B"/>
          </a:solidFill>
          <a:ln>
            <a:noFill/>
          </a:ln>
          <a:effectLst>
            <a:outerShdw blurRad="1016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2" name="Google Shape;512;p20"/>
          <p:cNvSpPr/>
          <p:nvPr/>
        </p:nvSpPr>
        <p:spPr>
          <a:xfrm>
            <a:off x="749808" y="1737360"/>
            <a:ext cx="3182112"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8BDF8"/>
              </a:buClr>
              <a:buSzPts val="1600"/>
              <a:buFont typeface="Calibri"/>
              <a:buNone/>
            </a:pPr>
            <a:r>
              <a:rPr b="1" lang="en-US" sz="1600">
                <a:solidFill>
                  <a:srgbClr val="38BDF8"/>
                </a:solidFill>
                <a:latin typeface="Calibri"/>
                <a:ea typeface="Calibri"/>
                <a:cs typeface="Calibri"/>
                <a:sym typeface="Calibri"/>
              </a:rPr>
              <a:t>Languages &amp; Runtimes</a:t>
            </a:r>
            <a:endParaRPr sz="1200">
              <a:solidFill>
                <a:schemeClr val="dk1"/>
              </a:solidFill>
              <a:latin typeface="Calibri"/>
              <a:ea typeface="Calibri"/>
              <a:cs typeface="Calibri"/>
              <a:sym typeface="Calibri"/>
            </a:endParaRPr>
          </a:p>
        </p:txBody>
      </p:sp>
      <p:sp>
        <p:nvSpPr>
          <p:cNvPr id="513" name="Google Shape;513;p20"/>
          <p:cNvSpPr/>
          <p:nvPr/>
        </p:nvSpPr>
        <p:spPr>
          <a:xfrm>
            <a:off x="749808" y="2084832"/>
            <a:ext cx="3182112" cy="82296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94A3B8"/>
              </a:buClr>
              <a:buSzPts val="1300"/>
              <a:buFont typeface="Calibri"/>
              <a:buNone/>
            </a:pPr>
            <a:r>
              <a:rPr lang="en-US" sz="1300">
                <a:solidFill>
                  <a:srgbClr val="94A3B8"/>
                </a:solidFill>
                <a:latin typeface="Calibri"/>
                <a:ea typeface="Calibri"/>
                <a:cs typeface="Calibri"/>
                <a:sym typeface="Calibri"/>
              </a:rPr>
              <a:t>Python 3.13, JavaScript (ES6+), HTML5, CSS3</a:t>
            </a:r>
            <a:endParaRPr sz="1000">
              <a:solidFill>
                <a:schemeClr val="dk1"/>
              </a:solidFill>
              <a:latin typeface="Calibri"/>
              <a:ea typeface="Calibri"/>
              <a:cs typeface="Calibri"/>
              <a:sym typeface="Calibri"/>
            </a:endParaRPr>
          </a:p>
        </p:txBody>
      </p:sp>
      <p:sp>
        <p:nvSpPr>
          <p:cNvPr id="514" name="Google Shape;514;p20"/>
          <p:cNvSpPr/>
          <p:nvPr/>
        </p:nvSpPr>
        <p:spPr>
          <a:xfrm>
            <a:off x="4279392" y="1600200"/>
            <a:ext cx="3584448" cy="1417320"/>
          </a:xfrm>
          <a:prstGeom prst="roundRect">
            <a:avLst>
              <a:gd fmla="val 5806" name="adj"/>
            </a:avLst>
          </a:prstGeom>
          <a:solidFill>
            <a:srgbClr val="1E293B"/>
          </a:solidFill>
          <a:ln>
            <a:noFill/>
          </a:ln>
          <a:effectLst>
            <a:outerShdw blurRad="1016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5" name="Google Shape;515;p20"/>
          <p:cNvSpPr/>
          <p:nvPr/>
        </p:nvSpPr>
        <p:spPr>
          <a:xfrm>
            <a:off x="4480560" y="1737360"/>
            <a:ext cx="3182112"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8BDF8"/>
              </a:buClr>
              <a:buSzPts val="1600"/>
              <a:buFont typeface="Calibri"/>
              <a:buNone/>
            </a:pPr>
            <a:r>
              <a:rPr b="1" lang="en-US" sz="1600">
                <a:solidFill>
                  <a:srgbClr val="38BDF8"/>
                </a:solidFill>
                <a:latin typeface="Calibri"/>
                <a:ea typeface="Calibri"/>
                <a:cs typeface="Calibri"/>
                <a:sym typeface="Calibri"/>
              </a:rPr>
              <a:t>Local Air-Gapped LLM</a:t>
            </a:r>
            <a:endParaRPr sz="1200">
              <a:solidFill>
                <a:schemeClr val="dk1"/>
              </a:solidFill>
              <a:latin typeface="Calibri"/>
              <a:ea typeface="Calibri"/>
              <a:cs typeface="Calibri"/>
              <a:sym typeface="Calibri"/>
            </a:endParaRPr>
          </a:p>
        </p:txBody>
      </p:sp>
      <p:sp>
        <p:nvSpPr>
          <p:cNvPr id="516" name="Google Shape;516;p20"/>
          <p:cNvSpPr/>
          <p:nvPr/>
        </p:nvSpPr>
        <p:spPr>
          <a:xfrm>
            <a:off x="4480560" y="2084832"/>
            <a:ext cx="3182112" cy="82296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94A3B8"/>
              </a:buClr>
              <a:buSzPts val="1300"/>
              <a:buFont typeface="Calibri"/>
              <a:buNone/>
            </a:pPr>
            <a:r>
              <a:rPr lang="en-US" sz="1300">
                <a:solidFill>
                  <a:srgbClr val="94A3B8"/>
                </a:solidFill>
                <a:latin typeface="Calibri"/>
                <a:ea typeface="Calibri"/>
                <a:cs typeface="Calibri"/>
                <a:sym typeface="Calibri"/>
              </a:rPr>
              <a:t>Ollama (qwen2.5:3b) — $0.00 marginal inference cost per SKU</a:t>
            </a:r>
            <a:endParaRPr sz="1000">
              <a:solidFill>
                <a:schemeClr val="dk1"/>
              </a:solidFill>
              <a:latin typeface="Calibri"/>
              <a:ea typeface="Calibri"/>
              <a:cs typeface="Calibri"/>
              <a:sym typeface="Calibri"/>
            </a:endParaRPr>
          </a:p>
        </p:txBody>
      </p:sp>
      <p:sp>
        <p:nvSpPr>
          <p:cNvPr id="517" name="Google Shape;517;p20"/>
          <p:cNvSpPr/>
          <p:nvPr/>
        </p:nvSpPr>
        <p:spPr>
          <a:xfrm>
            <a:off x="8010144" y="1600200"/>
            <a:ext cx="3584448" cy="1417320"/>
          </a:xfrm>
          <a:prstGeom prst="roundRect">
            <a:avLst>
              <a:gd fmla="val 5806" name="adj"/>
            </a:avLst>
          </a:prstGeom>
          <a:solidFill>
            <a:srgbClr val="1E293B"/>
          </a:solidFill>
          <a:ln>
            <a:noFill/>
          </a:ln>
          <a:effectLst>
            <a:outerShdw blurRad="1016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8" name="Google Shape;518;p20"/>
          <p:cNvSpPr/>
          <p:nvPr/>
        </p:nvSpPr>
        <p:spPr>
          <a:xfrm>
            <a:off x="8211312" y="1737360"/>
            <a:ext cx="3182112"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8BDF8"/>
              </a:buClr>
              <a:buSzPts val="1600"/>
              <a:buFont typeface="Calibri"/>
              <a:buNone/>
            </a:pPr>
            <a:r>
              <a:rPr b="1" lang="en-US" sz="1600">
                <a:solidFill>
                  <a:srgbClr val="38BDF8"/>
                </a:solidFill>
                <a:latin typeface="Calibri"/>
                <a:ea typeface="Calibri"/>
                <a:cs typeface="Calibri"/>
                <a:sym typeface="Calibri"/>
              </a:rPr>
              <a:t>Cloud Fallback Cascade</a:t>
            </a:r>
            <a:endParaRPr sz="1200">
              <a:solidFill>
                <a:schemeClr val="dk1"/>
              </a:solidFill>
              <a:latin typeface="Calibri"/>
              <a:ea typeface="Calibri"/>
              <a:cs typeface="Calibri"/>
              <a:sym typeface="Calibri"/>
            </a:endParaRPr>
          </a:p>
        </p:txBody>
      </p:sp>
      <p:sp>
        <p:nvSpPr>
          <p:cNvPr id="519" name="Google Shape;519;p20"/>
          <p:cNvSpPr/>
          <p:nvPr/>
        </p:nvSpPr>
        <p:spPr>
          <a:xfrm>
            <a:off x="8211312" y="2084832"/>
            <a:ext cx="3182112" cy="82296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94A3B8"/>
              </a:buClr>
              <a:buSzPts val="1300"/>
              <a:buFont typeface="Calibri"/>
              <a:buNone/>
            </a:pPr>
            <a:r>
              <a:rPr lang="en-US" sz="1300">
                <a:solidFill>
                  <a:srgbClr val="94A3B8"/>
                </a:solidFill>
                <a:latin typeface="Calibri"/>
                <a:ea typeface="Calibri"/>
                <a:cs typeface="Calibri"/>
                <a:sym typeface="Calibri"/>
              </a:rPr>
              <a:t>Groq API (llama-3.3-70b-versatile) &amp; Google Gemini 1.5 Pro</a:t>
            </a:r>
            <a:endParaRPr sz="1000">
              <a:solidFill>
                <a:schemeClr val="dk1"/>
              </a:solidFill>
              <a:latin typeface="Calibri"/>
              <a:ea typeface="Calibri"/>
              <a:cs typeface="Calibri"/>
              <a:sym typeface="Calibri"/>
            </a:endParaRPr>
          </a:p>
        </p:txBody>
      </p:sp>
      <p:sp>
        <p:nvSpPr>
          <p:cNvPr id="520" name="Google Shape;520;p20"/>
          <p:cNvSpPr/>
          <p:nvPr/>
        </p:nvSpPr>
        <p:spPr>
          <a:xfrm>
            <a:off x="548640" y="3163824"/>
            <a:ext cx="3584448" cy="1417320"/>
          </a:xfrm>
          <a:prstGeom prst="roundRect">
            <a:avLst>
              <a:gd fmla="val 5806" name="adj"/>
            </a:avLst>
          </a:prstGeom>
          <a:solidFill>
            <a:srgbClr val="1E293B"/>
          </a:solidFill>
          <a:ln>
            <a:noFill/>
          </a:ln>
          <a:effectLst>
            <a:outerShdw blurRad="1016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1" name="Google Shape;521;p20"/>
          <p:cNvSpPr/>
          <p:nvPr/>
        </p:nvSpPr>
        <p:spPr>
          <a:xfrm>
            <a:off x="749808" y="3300984"/>
            <a:ext cx="3182112"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8BDF8"/>
              </a:buClr>
              <a:buSzPts val="1600"/>
              <a:buFont typeface="Calibri"/>
              <a:buNone/>
            </a:pPr>
            <a:r>
              <a:rPr b="1" lang="en-US" sz="1600">
                <a:solidFill>
                  <a:srgbClr val="38BDF8"/>
                </a:solidFill>
                <a:latin typeface="Calibri"/>
                <a:ea typeface="Calibri"/>
                <a:cs typeface="Calibri"/>
                <a:sym typeface="Calibri"/>
              </a:rPr>
              <a:t>AI &amp; Vector Frameworks</a:t>
            </a:r>
            <a:endParaRPr sz="1200">
              <a:solidFill>
                <a:schemeClr val="dk1"/>
              </a:solidFill>
              <a:latin typeface="Calibri"/>
              <a:ea typeface="Calibri"/>
              <a:cs typeface="Calibri"/>
              <a:sym typeface="Calibri"/>
            </a:endParaRPr>
          </a:p>
        </p:txBody>
      </p:sp>
      <p:sp>
        <p:nvSpPr>
          <p:cNvPr id="522" name="Google Shape;522;p20"/>
          <p:cNvSpPr/>
          <p:nvPr/>
        </p:nvSpPr>
        <p:spPr>
          <a:xfrm>
            <a:off x="749808" y="3648456"/>
            <a:ext cx="3182112" cy="82296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94A3B8"/>
              </a:buClr>
              <a:buSzPts val="1300"/>
              <a:buFont typeface="Calibri"/>
              <a:buNone/>
            </a:pPr>
            <a:r>
              <a:rPr lang="en-US" sz="1300">
                <a:solidFill>
                  <a:srgbClr val="94A3B8"/>
                </a:solidFill>
                <a:latin typeface="Calibri"/>
                <a:ea typeface="Calibri"/>
                <a:cs typeface="Calibri"/>
                <a:sym typeface="Calibri"/>
              </a:rPr>
              <a:t>LangGraph, ChromaDB, Sentence-Transformers, NetworkX</a:t>
            </a:r>
            <a:endParaRPr sz="1000">
              <a:solidFill>
                <a:schemeClr val="dk1"/>
              </a:solidFill>
              <a:latin typeface="Calibri"/>
              <a:ea typeface="Calibri"/>
              <a:cs typeface="Calibri"/>
              <a:sym typeface="Calibri"/>
            </a:endParaRPr>
          </a:p>
        </p:txBody>
      </p:sp>
      <p:sp>
        <p:nvSpPr>
          <p:cNvPr id="523" name="Google Shape;523;p20"/>
          <p:cNvSpPr/>
          <p:nvPr/>
        </p:nvSpPr>
        <p:spPr>
          <a:xfrm>
            <a:off x="4279392" y="3163824"/>
            <a:ext cx="3584448" cy="1417320"/>
          </a:xfrm>
          <a:prstGeom prst="roundRect">
            <a:avLst>
              <a:gd fmla="val 5806" name="adj"/>
            </a:avLst>
          </a:prstGeom>
          <a:solidFill>
            <a:srgbClr val="1E293B"/>
          </a:solidFill>
          <a:ln>
            <a:noFill/>
          </a:ln>
          <a:effectLst>
            <a:outerShdw blurRad="1016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4" name="Google Shape;524;p20"/>
          <p:cNvSpPr/>
          <p:nvPr/>
        </p:nvSpPr>
        <p:spPr>
          <a:xfrm>
            <a:off x="4480560" y="3300984"/>
            <a:ext cx="3182112"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8BDF8"/>
              </a:buClr>
              <a:buSzPts val="1600"/>
              <a:buFont typeface="Calibri"/>
              <a:buNone/>
            </a:pPr>
            <a:r>
              <a:rPr b="1" lang="en-US" sz="1600">
                <a:solidFill>
                  <a:srgbClr val="38BDF8"/>
                </a:solidFill>
                <a:latin typeface="Calibri"/>
                <a:ea typeface="Calibri"/>
                <a:cs typeface="Calibri"/>
                <a:sym typeface="Calibri"/>
              </a:rPr>
              <a:t>Backend Infrastructure</a:t>
            </a:r>
            <a:endParaRPr sz="1200">
              <a:solidFill>
                <a:schemeClr val="dk1"/>
              </a:solidFill>
              <a:latin typeface="Calibri"/>
              <a:ea typeface="Calibri"/>
              <a:cs typeface="Calibri"/>
              <a:sym typeface="Calibri"/>
            </a:endParaRPr>
          </a:p>
        </p:txBody>
      </p:sp>
      <p:sp>
        <p:nvSpPr>
          <p:cNvPr id="525" name="Google Shape;525;p20"/>
          <p:cNvSpPr/>
          <p:nvPr/>
        </p:nvSpPr>
        <p:spPr>
          <a:xfrm>
            <a:off x="4480560" y="3648456"/>
            <a:ext cx="3182112" cy="82296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94A3B8"/>
              </a:buClr>
              <a:buSzPts val="1300"/>
              <a:buFont typeface="Calibri"/>
              <a:buNone/>
            </a:pPr>
            <a:r>
              <a:rPr lang="en-US" sz="1300">
                <a:solidFill>
                  <a:srgbClr val="94A3B8"/>
                </a:solidFill>
                <a:latin typeface="Calibri"/>
                <a:ea typeface="Calibri"/>
                <a:cs typeface="Calibri"/>
                <a:sym typeface="Calibri"/>
              </a:rPr>
              <a:t>FastAPI, Uvicorn, SQLite 3, PyMuPDF (fitz), Trafilatura, Requests</a:t>
            </a:r>
            <a:endParaRPr sz="1000">
              <a:solidFill>
                <a:schemeClr val="dk1"/>
              </a:solidFill>
              <a:latin typeface="Calibri"/>
              <a:ea typeface="Calibri"/>
              <a:cs typeface="Calibri"/>
              <a:sym typeface="Calibri"/>
            </a:endParaRPr>
          </a:p>
        </p:txBody>
      </p:sp>
      <p:sp>
        <p:nvSpPr>
          <p:cNvPr id="526" name="Google Shape;526;p20"/>
          <p:cNvSpPr/>
          <p:nvPr/>
        </p:nvSpPr>
        <p:spPr>
          <a:xfrm>
            <a:off x="8010144" y="3163824"/>
            <a:ext cx="3584448" cy="1417320"/>
          </a:xfrm>
          <a:prstGeom prst="roundRect">
            <a:avLst>
              <a:gd fmla="val 5806" name="adj"/>
            </a:avLst>
          </a:prstGeom>
          <a:solidFill>
            <a:srgbClr val="1E293B"/>
          </a:solidFill>
          <a:ln>
            <a:noFill/>
          </a:ln>
          <a:effectLst>
            <a:outerShdw blurRad="1016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7" name="Google Shape;527;p20"/>
          <p:cNvSpPr/>
          <p:nvPr/>
        </p:nvSpPr>
        <p:spPr>
          <a:xfrm>
            <a:off x="8211312" y="3300984"/>
            <a:ext cx="3182112"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8BDF8"/>
              </a:buClr>
              <a:buSzPts val="1600"/>
              <a:buFont typeface="Calibri"/>
              <a:buNone/>
            </a:pPr>
            <a:r>
              <a:rPr b="1" lang="en-US" sz="1600">
                <a:solidFill>
                  <a:srgbClr val="38BDF8"/>
                </a:solidFill>
                <a:latin typeface="Calibri"/>
                <a:ea typeface="Calibri"/>
                <a:cs typeface="Calibri"/>
                <a:sym typeface="Calibri"/>
              </a:rPr>
              <a:t>Frontend UI &amp; UX</a:t>
            </a:r>
            <a:endParaRPr sz="1200">
              <a:solidFill>
                <a:schemeClr val="dk1"/>
              </a:solidFill>
              <a:latin typeface="Calibri"/>
              <a:ea typeface="Calibri"/>
              <a:cs typeface="Calibri"/>
              <a:sym typeface="Calibri"/>
            </a:endParaRPr>
          </a:p>
        </p:txBody>
      </p:sp>
      <p:sp>
        <p:nvSpPr>
          <p:cNvPr id="528" name="Google Shape;528;p20"/>
          <p:cNvSpPr/>
          <p:nvPr/>
        </p:nvSpPr>
        <p:spPr>
          <a:xfrm>
            <a:off x="8211312" y="3648456"/>
            <a:ext cx="3182112" cy="82296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94A3B8"/>
              </a:buClr>
              <a:buSzPts val="1300"/>
              <a:buFont typeface="Calibri"/>
              <a:buNone/>
            </a:pPr>
            <a:r>
              <a:rPr lang="en-US" sz="1300">
                <a:solidFill>
                  <a:srgbClr val="94A3B8"/>
                </a:solidFill>
                <a:latin typeface="Calibri"/>
                <a:ea typeface="Calibri"/>
                <a:cs typeface="Calibri"/>
                <a:sym typeface="Calibri"/>
              </a:rPr>
              <a:t>React 18, Vite, Tailwind CSS, Lucide Icons</a:t>
            </a:r>
            <a:endParaRPr sz="1000">
              <a:solidFill>
                <a:schemeClr val="dk1"/>
              </a:solidFill>
              <a:latin typeface="Calibri"/>
              <a:ea typeface="Calibri"/>
              <a:cs typeface="Calibri"/>
              <a:sym typeface="Calibri"/>
            </a:endParaRPr>
          </a:p>
        </p:txBody>
      </p:sp>
      <p:sp>
        <p:nvSpPr>
          <p:cNvPr id="529" name="Google Shape;529;p20"/>
          <p:cNvSpPr/>
          <p:nvPr/>
        </p:nvSpPr>
        <p:spPr>
          <a:xfrm>
            <a:off x="548640" y="4773168"/>
            <a:ext cx="11091672" cy="1051560"/>
          </a:xfrm>
          <a:prstGeom prst="roundRect">
            <a:avLst>
              <a:gd fmla="val 7826" name="adj"/>
            </a:avLst>
          </a:prstGeom>
          <a:solidFill>
            <a:srgbClr val="16213A"/>
          </a:solidFill>
          <a:ln>
            <a:noFill/>
          </a:ln>
          <a:effectLst>
            <a:outerShdw blurRad="1016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0" name="Google Shape;530;p20"/>
          <p:cNvSpPr/>
          <p:nvPr/>
        </p:nvSpPr>
        <p:spPr>
          <a:xfrm>
            <a:off x="822960" y="4882896"/>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4D399"/>
              </a:buClr>
              <a:buSzPts val="1300"/>
              <a:buFont typeface="Calibri"/>
              <a:buNone/>
            </a:pPr>
            <a:r>
              <a:rPr b="1" lang="en-US" sz="1300">
                <a:solidFill>
                  <a:srgbClr val="34D399"/>
                </a:solidFill>
                <a:latin typeface="Calibri"/>
                <a:ea typeface="Calibri"/>
                <a:cs typeface="Calibri"/>
                <a:sym typeface="Calibri"/>
              </a:rPr>
              <a:t>COST ANALYSIS &amp; ROI</a:t>
            </a:r>
            <a:endParaRPr sz="1050">
              <a:solidFill>
                <a:schemeClr val="dk1"/>
              </a:solidFill>
              <a:latin typeface="Calibri"/>
              <a:ea typeface="Calibri"/>
              <a:cs typeface="Calibri"/>
              <a:sym typeface="Calibri"/>
            </a:endParaRPr>
          </a:p>
        </p:txBody>
      </p:sp>
      <p:sp>
        <p:nvSpPr>
          <p:cNvPr id="531" name="Google Shape;531;p20"/>
          <p:cNvSpPr/>
          <p:nvPr/>
        </p:nvSpPr>
        <p:spPr>
          <a:xfrm>
            <a:off x="822960" y="5184648"/>
            <a:ext cx="27432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8FAFC"/>
              </a:buClr>
              <a:buSzPts val="3200"/>
              <a:buFont typeface="Calibri"/>
              <a:buNone/>
            </a:pPr>
            <a:r>
              <a:rPr b="1" lang="en-US" sz="3200">
                <a:solidFill>
                  <a:srgbClr val="F8FAFC"/>
                </a:solidFill>
                <a:latin typeface="Calibri"/>
                <a:ea typeface="Calibri"/>
                <a:cs typeface="Calibri"/>
                <a:sym typeface="Calibri"/>
              </a:rPr>
              <a:t>$0.00 / SKU</a:t>
            </a:r>
            <a:endParaRPr sz="2200">
              <a:solidFill>
                <a:schemeClr val="dk1"/>
              </a:solidFill>
              <a:latin typeface="Calibri"/>
              <a:ea typeface="Calibri"/>
              <a:cs typeface="Calibri"/>
              <a:sym typeface="Calibri"/>
            </a:endParaRPr>
          </a:p>
        </p:txBody>
      </p:sp>
      <p:sp>
        <p:nvSpPr>
          <p:cNvPr id="532" name="Google Shape;532;p20"/>
          <p:cNvSpPr/>
          <p:nvPr/>
        </p:nvSpPr>
        <p:spPr>
          <a:xfrm>
            <a:off x="3657600" y="5230368"/>
            <a:ext cx="39319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4A3B8"/>
              </a:buClr>
              <a:buSzPts val="1300"/>
              <a:buFont typeface="Calibri"/>
              <a:buNone/>
            </a:pPr>
            <a:r>
              <a:rPr lang="en-US" sz="1300">
                <a:solidFill>
                  <a:srgbClr val="94A3B8"/>
                </a:solidFill>
                <a:latin typeface="Calibri"/>
                <a:ea typeface="Calibri"/>
                <a:cs typeface="Calibri"/>
                <a:sym typeface="Calibri"/>
              </a:rPr>
              <a:t>Primary LLM extraction — runs entirely on air-gapped local Ollama qwen2.5:3b</a:t>
            </a:r>
            <a:endParaRPr sz="1000">
              <a:solidFill>
                <a:schemeClr val="dk1"/>
              </a:solidFill>
              <a:latin typeface="Calibri"/>
              <a:ea typeface="Calibri"/>
              <a:cs typeface="Calibri"/>
              <a:sym typeface="Calibri"/>
            </a:endParaRPr>
          </a:p>
        </p:txBody>
      </p:sp>
      <p:sp>
        <p:nvSpPr>
          <p:cNvPr id="533" name="Google Shape;533;p20"/>
          <p:cNvSpPr/>
          <p:nvPr/>
        </p:nvSpPr>
        <p:spPr>
          <a:xfrm>
            <a:off x="7863850" y="4864604"/>
            <a:ext cx="2194500" cy="822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8FAFC"/>
              </a:buClr>
              <a:buSzPts val="3200"/>
              <a:buFont typeface="Calibri"/>
              <a:buNone/>
            </a:pPr>
            <a:r>
              <a:rPr b="1" lang="en-US" sz="2900">
                <a:solidFill>
                  <a:srgbClr val="F8FAFC"/>
                </a:solidFill>
                <a:latin typeface="Calibri"/>
                <a:ea typeface="Calibri"/>
                <a:cs typeface="Calibri"/>
                <a:sym typeface="Calibri"/>
              </a:rPr>
              <a:t>~$0.001 / SKU</a:t>
            </a:r>
            <a:endParaRPr sz="1900">
              <a:solidFill>
                <a:schemeClr val="dk1"/>
              </a:solidFill>
              <a:latin typeface="Calibri"/>
              <a:ea typeface="Calibri"/>
              <a:cs typeface="Calibri"/>
              <a:sym typeface="Calibri"/>
            </a:endParaRPr>
          </a:p>
        </p:txBody>
      </p:sp>
      <p:sp>
        <p:nvSpPr>
          <p:cNvPr id="534" name="Google Shape;534;p20"/>
          <p:cNvSpPr/>
          <p:nvPr/>
        </p:nvSpPr>
        <p:spPr>
          <a:xfrm>
            <a:off x="10058400" y="5230368"/>
            <a:ext cx="14630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4A3B8"/>
              </a:buClr>
              <a:buSzPts val="1300"/>
              <a:buFont typeface="Calibri"/>
              <a:buNone/>
            </a:pPr>
            <a:r>
              <a:rPr lang="en-US" sz="1300">
                <a:solidFill>
                  <a:srgbClr val="94A3B8"/>
                </a:solidFill>
                <a:latin typeface="Calibri"/>
                <a:ea typeface="Calibri"/>
                <a:cs typeface="Calibri"/>
                <a:sym typeface="Calibri"/>
              </a:rPr>
              <a:t>Search sourcing — Serper API free tier &amp; DuckDuckGo fallback</a:t>
            </a:r>
            <a:endParaRPr sz="900">
              <a:solidFill>
                <a:schemeClr val="dk1"/>
              </a:solidFill>
              <a:latin typeface="Calibri"/>
              <a:ea typeface="Calibri"/>
              <a:cs typeface="Calibri"/>
              <a:sym typeface="Calibri"/>
            </a:endParaRPr>
          </a:p>
        </p:txBody>
      </p:sp>
      <p:sp>
        <p:nvSpPr>
          <p:cNvPr id="535" name="Google Shape;535;p20"/>
          <p:cNvSpPr/>
          <p:nvPr/>
        </p:nvSpPr>
        <p:spPr>
          <a:xfrm>
            <a:off x="45720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172A"/>
              </a:buClr>
              <a:buSzPts val="1300"/>
              <a:buFont typeface="Calibri"/>
              <a:buNone/>
            </a:pPr>
            <a:r>
              <a:rPr lang="en-US" sz="1300">
                <a:solidFill>
                  <a:srgbClr val="0F172A"/>
                </a:solidFill>
                <a:latin typeface="Calibri"/>
                <a:ea typeface="Calibri"/>
                <a:cs typeface="Calibri"/>
                <a:sym typeface="Calibri"/>
              </a:rPr>
              <a:t>14 / 15   •   Tech Stack &amp; Cost</a:t>
            </a:r>
            <a:endParaRPr sz="9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540" name="Shape 540"/>
        <p:cNvGrpSpPr/>
        <p:nvPr/>
      </p:nvGrpSpPr>
      <p:grpSpPr>
        <a:xfrm>
          <a:off x="0" y="0"/>
          <a:ext cx="0" cy="0"/>
          <a:chOff x="0" y="0"/>
          <a:chExt cx="0" cy="0"/>
        </a:xfrm>
      </p:grpSpPr>
      <p:pic>
        <p:nvPicPr>
          <p:cNvPr descr="image.png" id="541" name="Google Shape;541;p2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542" name="Google Shape;542;p21"/>
          <p:cNvSpPr/>
          <p:nvPr/>
        </p:nvSpPr>
        <p:spPr>
          <a:xfrm>
            <a:off x="548640" y="347472"/>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172A"/>
              </a:buClr>
              <a:buSzPts val="1300"/>
              <a:buFont typeface="Calibri"/>
              <a:buNone/>
            </a:pPr>
            <a:r>
              <a:rPr b="1" lang="en-US" sz="1300">
                <a:solidFill>
                  <a:srgbClr val="0F172A"/>
                </a:solidFill>
                <a:latin typeface="Calibri"/>
                <a:ea typeface="Calibri"/>
                <a:cs typeface="Calibri"/>
                <a:sym typeface="Calibri"/>
              </a:rPr>
              <a:t>VALIDATION</a:t>
            </a:r>
            <a:endParaRPr sz="1100">
              <a:solidFill>
                <a:schemeClr val="dk1"/>
              </a:solidFill>
              <a:latin typeface="Calibri"/>
              <a:ea typeface="Calibri"/>
              <a:cs typeface="Calibri"/>
              <a:sym typeface="Calibri"/>
            </a:endParaRPr>
          </a:p>
        </p:txBody>
      </p:sp>
      <p:sp>
        <p:nvSpPr>
          <p:cNvPr id="543" name="Google Shape;543;p21"/>
          <p:cNvSpPr/>
          <p:nvPr/>
        </p:nvSpPr>
        <p:spPr>
          <a:xfrm>
            <a:off x="548640" y="603504"/>
            <a:ext cx="11064240" cy="86868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0F172A"/>
              </a:buClr>
              <a:buSzPts val="3200"/>
              <a:buFont typeface="Calibri"/>
              <a:buNone/>
            </a:pPr>
            <a:r>
              <a:rPr b="1" lang="en-US" sz="3200">
                <a:solidFill>
                  <a:srgbClr val="0F172A"/>
                </a:solidFill>
                <a:latin typeface="Calibri"/>
                <a:ea typeface="Calibri"/>
                <a:cs typeface="Calibri"/>
                <a:sym typeface="Calibri"/>
              </a:rPr>
              <a:t>Snapshots of the MVP &amp; Project Links</a:t>
            </a:r>
            <a:endParaRPr sz="2800">
              <a:solidFill>
                <a:schemeClr val="dk1"/>
              </a:solidFill>
              <a:latin typeface="Calibri"/>
              <a:ea typeface="Calibri"/>
              <a:cs typeface="Calibri"/>
              <a:sym typeface="Calibri"/>
            </a:endParaRPr>
          </a:p>
        </p:txBody>
      </p:sp>
      <p:sp>
        <p:nvSpPr>
          <p:cNvPr id="544" name="Google Shape;544;p21"/>
          <p:cNvSpPr/>
          <p:nvPr/>
        </p:nvSpPr>
        <p:spPr>
          <a:xfrm>
            <a:off x="548640" y="1600200"/>
            <a:ext cx="6537960" cy="4800600"/>
          </a:xfrm>
          <a:prstGeom prst="roundRect">
            <a:avLst>
              <a:gd fmla="val 1714" name="adj"/>
            </a:avLst>
          </a:prstGeom>
          <a:solidFill>
            <a:srgbClr val="1E293B"/>
          </a:solidFill>
          <a:ln>
            <a:noFill/>
          </a:ln>
          <a:effectLst>
            <a:outerShdw blurRad="1016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5" name="Google Shape;545;p21"/>
          <p:cNvSpPr/>
          <p:nvPr/>
        </p:nvSpPr>
        <p:spPr>
          <a:xfrm>
            <a:off x="822960" y="1810512"/>
            <a:ext cx="60350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8BDF8"/>
              </a:buClr>
              <a:buSzPts val="1600"/>
              <a:buFont typeface="Calibri"/>
              <a:buNone/>
            </a:pPr>
            <a:r>
              <a:rPr b="1" lang="en-US" sz="1600">
                <a:solidFill>
                  <a:srgbClr val="38BDF8"/>
                </a:solidFill>
                <a:latin typeface="Calibri"/>
                <a:ea typeface="Calibri"/>
                <a:cs typeface="Calibri"/>
                <a:sym typeface="Calibri"/>
              </a:rPr>
              <a:t>LIVE BENCHMARK TEST CASE — WHIRLPOOL DISHWASHER</a:t>
            </a:r>
            <a:endParaRPr sz="1200">
              <a:solidFill>
                <a:schemeClr val="dk1"/>
              </a:solidFill>
              <a:latin typeface="Calibri"/>
              <a:ea typeface="Calibri"/>
              <a:cs typeface="Calibri"/>
              <a:sym typeface="Calibri"/>
            </a:endParaRPr>
          </a:p>
        </p:txBody>
      </p:sp>
      <p:sp>
        <p:nvSpPr>
          <p:cNvPr id="546" name="Google Shape;546;p21"/>
          <p:cNvSpPr/>
          <p:nvPr/>
        </p:nvSpPr>
        <p:spPr>
          <a:xfrm>
            <a:off x="822960" y="2286000"/>
            <a:ext cx="603504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4A3B8"/>
              </a:buClr>
              <a:buSzPts val="1300"/>
              <a:buFont typeface="Calibri"/>
              <a:buNone/>
            </a:pPr>
            <a:r>
              <a:rPr b="1" lang="en-US" sz="1300">
                <a:solidFill>
                  <a:srgbClr val="94A3B8"/>
                </a:solidFill>
                <a:latin typeface="Calibri"/>
                <a:ea typeface="Calibri"/>
                <a:cs typeface="Calibri"/>
                <a:sym typeface="Calibri"/>
              </a:rPr>
              <a:t>RAW INPUT TESTED</a:t>
            </a:r>
            <a:endParaRPr sz="1000">
              <a:solidFill>
                <a:schemeClr val="dk1"/>
              </a:solidFill>
              <a:latin typeface="Calibri"/>
              <a:ea typeface="Calibri"/>
              <a:cs typeface="Calibri"/>
              <a:sym typeface="Calibri"/>
            </a:endParaRPr>
          </a:p>
        </p:txBody>
      </p:sp>
      <p:sp>
        <p:nvSpPr>
          <p:cNvPr id="547" name="Google Shape;547;p21"/>
          <p:cNvSpPr/>
          <p:nvPr/>
        </p:nvSpPr>
        <p:spPr>
          <a:xfrm>
            <a:off x="822960" y="2532888"/>
            <a:ext cx="6035040"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12000"/>
              </a:lnSpc>
              <a:spcBef>
                <a:spcPts val="0"/>
              </a:spcBef>
              <a:spcAft>
                <a:spcPts val="0"/>
              </a:spcAft>
              <a:buClr>
                <a:srgbClr val="F8FAFC"/>
              </a:buClr>
              <a:buSzPts val="1300"/>
              <a:buFont typeface="Calibri"/>
              <a:buNone/>
            </a:pPr>
            <a:r>
              <a:rPr lang="en-US" sz="1300">
                <a:solidFill>
                  <a:srgbClr val="F8FAFC"/>
                </a:solidFill>
                <a:latin typeface="Calibri"/>
                <a:ea typeface="Calibri"/>
                <a:cs typeface="Calibri"/>
                <a:sym typeface="Calibri"/>
              </a:rPr>
              <a:t>Brand='APPDE', MPN='WDTS7024RZ', Description='Dishwasher SS'</a:t>
            </a:r>
            <a:endParaRPr sz="1150">
              <a:solidFill>
                <a:schemeClr val="dk1"/>
              </a:solidFill>
              <a:latin typeface="Calibri"/>
              <a:ea typeface="Calibri"/>
              <a:cs typeface="Calibri"/>
              <a:sym typeface="Calibri"/>
            </a:endParaRPr>
          </a:p>
        </p:txBody>
      </p:sp>
      <p:sp>
        <p:nvSpPr>
          <p:cNvPr id="548" name="Google Shape;548;p21"/>
          <p:cNvSpPr/>
          <p:nvPr/>
        </p:nvSpPr>
        <p:spPr>
          <a:xfrm>
            <a:off x="822960" y="3017520"/>
            <a:ext cx="603504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4A3B8"/>
              </a:buClr>
              <a:buSzPts val="1300"/>
              <a:buFont typeface="Calibri"/>
              <a:buNone/>
            </a:pPr>
            <a:r>
              <a:rPr b="1" lang="en-US" sz="1300">
                <a:solidFill>
                  <a:srgbClr val="94A3B8"/>
                </a:solidFill>
                <a:latin typeface="Calibri"/>
                <a:ea typeface="Calibri"/>
                <a:cs typeface="Calibri"/>
                <a:sym typeface="Calibri"/>
              </a:rPr>
              <a:t>PIPELINE RESOLUTION</a:t>
            </a:r>
            <a:endParaRPr sz="1000">
              <a:solidFill>
                <a:schemeClr val="dk1"/>
              </a:solidFill>
              <a:latin typeface="Calibri"/>
              <a:ea typeface="Calibri"/>
              <a:cs typeface="Calibri"/>
              <a:sym typeface="Calibri"/>
            </a:endParaRPr>
          </a:p>
        </p:txBody>
      </p:sp>
      <p:sp>
        <p:nvSpPr>
          <p:cNvPr id="549" name="Google Shape;549;p21"/>
          <p:cNvSpPr/>
          <p:nvPr/>
        </p:nvSpPr>
        <p:spPr>
          <a:xfrm>
            <a:off x="822960" y="3264408"/>
            <a:ext cx="6035040"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12000"/>
              </a:lnSpc>
              <a:spcBef>
                <a:spcPts val="0"/>
              </a:spcBef>
              <a:spcAft>
                <a:spcPts val="0"/>
              </a:spcAft>
              <a:buClr>
                <a:srgbClr val="F8FAFC"/>
              </a:buClr>
              <a:buSzPts val="1300"/>
              <a:buFont typeface="Calibri"/>
              <a:buNone/>
            </a:pPr>
            <a:r>
              <a:rPr lang="en-US" sz="1300">
                <a:solidFill>
                  <a:srgbClr val="F8FAFC"/>
                </a:solidFill>
                <a:latin typeface="Calibri"/>
                <a:ea typeface="Calibri"/>
                <a:cs typeface="Calibri"/>
                <a:sym typeface="Calibri"/>
              </a:rPr>
              <a:t>Brand corrected to 'Whirlpool Corporation', classified to UNSPSC 83041100 (Built-In Dishwashers).</a:t>
            </a:r>
            <a:endParaRPr sz="1150">
              <a:solidFill>
                <a:schemeClr val="dk1"/>
              </a:solidFill>
              <a:latin typeface="Calibri"/>
              <a:ea typeface="Calibri"/>
              <a:cs typeface="Calibri"/>
              <a:sym typeface="Calibri"/>
            </a:endParaRPr>
          </a:p>
        </p:txBody>
      </p:sp>
      <p:sp>
        <p:nvSpPr>
          <p:cNvPr id="550" name="Google Shape;550;p21"/>
          <p:cNvSpPr/>
          <p:nvPr/>
        </p:nvSpPr>
        <p:spPr>
          <a:xfrm>
            <a:off x="822960" y="3749040"/>
            <a:ext cx="603504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4A3B8"/>
              </a:buClr>
              <a:buSzPts val="1300"/>
              <a:buFont typeface="Calibri"/>
              <a:buNone/>
            </a:pPr>
            <a:r>
              <a:rPr b="1" lang="en-US" sz="1300">
                <a:solidFill>
                  <a:srgbClr val="94A3B8"/>
                </a:solidFill>
                <a:latin typeface="Calibri"/>
                <a:ea typeface="Calibri"/>
                <a:cs typeface="Calibri"/>
                <a:sym typeface="Calibri"/>
              </a:rPr>
              <a:t>DOCUMENTATION SOURCED</a:t>
            </a:r>
            <a:endParaRPr sz="1000">
              <a:solidFill>
                <a:schemeClr val="dk1"/>
              </a:solidFill>
              <a:latin typeface="Calibri"/>
              <a:ea typeface="Calibri"/>
              <a:cs typeface="Calibri"/>
              <a:sym typeface="Calibri"/>
            </a:endParaRPr>
          </a:p>
        </p:txBody>
      </p:sp>
      <p:sp>
        <p:nvSpPr>
          <p:cNvPr id="551" name="Google Shape;551;p21"/>
          <p:cNvSpPr/>
          <p:nvPr/>
        </p:nvSpPr>
        <p:spPr>
          <a:xfrm>
            <a:off x="822960" y="3995928"/>
            <a:ext cx="6035040"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12000"/>
              </a:lnSpc>
              <a:spcBef>
                <a:spcPts val="0"/>
              </a:spcBef>
              <a:spcAft>
                <a:spcPts val="0"/>
              </a:spcAft>
              <a:buClr>
                <a:srgbClr val="F8FAFC"/>
              </a:buClr>
              <a:buSzPts val="1300"/>
              <a:buFont typeface="Calibri"/>
              <a:buNone/>
            </a:pPr>
            <a:r>
              <a:rPr lang="en-US" sz="1300">
                <a:solidFill>
                  <a:srgbClr val="F8FAFC"/>
                </a:solidFill>
                <a:latin typeface="Calibri"/>
                <a:ea typeface="Calibri"/>
                <a:cs typeface="Calibri"/>
                <a:sym typeface="Calibri"/>
              </a:rPr>
              <a:t>Official Whirlpool Specification PDF and Owner Manual.</a:t>
            </a:r>
            <a:endParaRPr sz="1150">
              <a:solidFill>
                <a:schemeClr val="dk1"/>
              </a:solidFill>
              <a:latin typeface="Calibri"/>
              <a:ea typeface="Calibri"/>
              <a:cs typeface="Calibri"/>
              <a:sym typeface="Calibri"/>
            </a:endParaRPr>
          </a:p>
        </p:txBody>
      </p:sp>
      <p:sp>
        <p:nvSpPr>
          <p:cNvPr id="552" name="Google Shape;552;p21"/>
          <p:cNvSpPr/>
          <p:nvPr/>
        </p:nvSpPr>
        <p:spPr>
          <a:xfrm>
            <a:off x="822960" y="4480560"/>
            <a:ext cx="603504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4A3B8"/>
              </a:buClr>
              <a:buSzPts val="1300"/>
              <a:buFont typeface="Calibri"/>
              <a:buNone/>
            </a:pPr>
            <a:r>
              <a:rPr b="1" lang="en-US" sz="1300">
                <a:solidFill>
                  <a:srgbClr val="94A3B8"/>
                </a:solidFill>
                <a:latin typeface="Calibri"/>
                <a:ea typeface="Calibri"/>
                <a:cs typeface="Calibri"/>
                <a:sym typeface="Calibri"/>
              </a:rPr>
              <a:t>ATTRIBUTES EXTRACTED</a:t>
            </a:r>
            <a:endParaRPr sz="1000">
              <a:solidFill>
                <a:schemeClr val="dk1"/>
              </a:solidFill>
              <a:latin typeface="Calibri"/>
              <a:ea typeface="Calibri"/>
              <a:cs typeface="Calibri"/>
              <a:sym typeface="Calibri"/>
            </a:endParaRPr>
          </a:p>
        </p:txBody>
      </p:sp>
      <p:sp>
        <p:nvSpPr>
          <p:cNvPr id="553" name="Google Shape;553;p21"/>
          <p:cNvSpPr/>
          <p:nvPr/>
        </p:nvSpPr>
        <p:spPr>
          <a:xfrm>
            <a:off x="822960" y="4727448"/>
            <a:ext cx="6035040"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12000"/>
              </a:lnSpc>
              <a:spcBef>
                <a:spcPts val="0"/>
              </a:spcBef>
              <a:spcAft>
                <a:spcPts val="0"/>
              </a:spcAft>
              <a:buClr>
                <a:srgbClr val="F8FAFC"/>
              </a:buClr>
              <a:buSzPts val="1300"/>
              <a:buFont typeface="Calibri"/>
              <a:buNone/>
            </a:pPr>
            <a:r>
              <a:rPr lang="en-US" sz="1300">
                <a:solidFill>
                  <a:srgbClr val="F8FAFC"/>
                </a:solidFill>
                <a:latin typeface="Calibri"/>
                <a:ea typeface="Calibri"/>
                <a:cs typeface="Calibri"/>
                <a:sym typeface="Calibri"/>
              </a:rPr>
              <a:t>31/31 required Unilog attributes (Voltage: 120V, Current: 15A, Noise: 47 dBA, Tub Material: Stainless Steel).</a:t>
            </a:r>
            <a:endParaRPr sz="1150">
              <a:solidFill>
                <a:schemeClr val="dk1"/>
              </a:solidFill>
              <a:latin typeface="Calibri"/>
              <a:ea typeface="Calibri"/>
              <a:cs typeface="Calibri"/>
              <a:sym typeface="Calibri"/>
            </a:endParaRPr>
          </a:p>
        </p:txBody>
      </p:sp>
      <p:sp>
        <p:nvSpPr>
          <p:cNvPr id="554" name="Google Shape;554;p21"/>
          <p:cNvSpPr/>
          <p:nvPr/>
        </p:nvSpPr>
        <p:spPr>
          <a:xfrm>
            <a:off x="822960" y="5257800"/>
            <a:ext cx="6035040" cy="868680"/>
          </a:xfrm>
          <a:prstGeom prst="roundRect">
            <a:avLst>
              <a:gd fmla="val 9474" name="adj"/>
            </a:avLst>
          </a:prstGeom>
          <a:solidFill>
            <a:srgbClr val="16213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5" name="Google Shape;555;p21"/>
          <p:cNvSpPr/>
          <p:nvPr/>
        </p:nvSpPr>
        <p:spPr>
          <a:xfrm>
            <a:off x="1051560" y="5367528"/>
            <a:ext cx="5577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4D399"/>
              </a:buClr>
              <a:buSzPts val="1300"/>
              <a:buFont typeface="Calibri"/>
              <a:buNone/>
            </a:pPr>
            <a:r>
              <a:rPr b="1" lang="en-US" sz="1300">
                <a:solidFill>
                  <a:srgbClr val="34D399"/>
                </a:solidFill>
                <a:latin typeface="Calibri"/>
                <a:ea typeface="Calibri"/>
                <a:cs typeface="Calibri"/>
                <a:sym typeface="Calibri"/>
              </a:rPr>
              <a:t>COMMERCIAL OUTPUT (INVOICE COPY, ≤40 CHARS)</a:t>
            </a:r>
            <a:endParaRPr sz="950">
              <a:solidFill>
                <a:schemeClr val="dk1"/>
              </a:solidFill>
              <a:latin typeface="Calibri"/>
              <a:ea typeface="Calibri"/>
              <a:cs typeface="Calibri"/>
              <a:sym typeface="Calibri"/>
            </a:endParaRPr>
          </a:p>
        </p:txBody>
      </p:sp>
      <p:sp>
        <p:nvSpPr>
          <p:cNvPr id="556" name="Google Shape;556;p21"/>
          <p:cNvSpPr/>
          <p:nvPr/>
        </p:nvSpPr>
        <p:spPr>
          <a:xfrm>
            <a:off x="1051560" y="5641848"/>
            <a:ext cx="55778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8FAFC"/>
              </a:buClr>
              <a:buSzPts val="1600"/>
              <a:buFont typeface="Calibri"/>
              <a:buNone/>
            </a:pPr>
            <a:r>
              <a:rPr b="1" lang="en-US" sz="1600">
                <a:solidFill>
                  <a:srgbClr val="F8FAFC"/>
                </a:solidFill>
                <a:latin typeface="Calibri"/>
                <a:ea typeface="Calibri"/>
                <a:cs typeface="Calibri"/>
                <a:sym typeface="Calibri"/>
              </a:rPr>
              <a:t>DISHWASHER SS 120V 15A 50-1/4IN</a:t>
            </a:r>
            <a:endParaRPr sz="1500">
              <a:solidFill>
                <a:schemeClr val="dk1"/>
              </a:solidFill>
              <a:latin typeface="Calibri"/>
              <a:ea typeface="Calibri"/>
              <a:cs typeface="Calibri"/>
              <a:sym typeface="Calibri"/>
            </a:endParaRPr>
          </a:p>
        </p:txBody>
      </p:sp>
      <p:sp>
        <p:nvSpPr>
          <p:cNvPr id="557" name="Google Shape;557;p21"/>
          <p:cNvSpPr/>
          <p:nvPr/>
        </p:nvSpPr>
        <p:spPr>
          <a:xfrm>
            <a:off x="7269480" y="1600200"/>
            <a:ext cx="4370832" cy="4800600"/>
          </a:xfrm>
          <a:prstGeom prst="roundRect">
            <a:avLst>
              <a:gd fmla="val 1883" name="adj"/>
            </a:avLst>
          </a:prstGeom>
          <a:solidFill>
            <a:srgbClr val="16213A"/>
          </a:solidFill>
          <a:ln>
            <a:noFill/>
          </a:ln>
          <a:effectLst>
            <a:outerShdw blurRad="1016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8" name="Google Shape;558;p21"/>
          <p:cNvSpPr/>
          <p:nvPr/>
        </p:nvSpPr>
        <p:spPr>
          <a:xfrm>
            <a:off x="7543800" y="1810512"/>
            <a:ext cx="3840480"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34D399"/>
              </a:buClr>
              <a:buSzPts val="1600"/>
              <a:buFont typeface="Calibri"/>
              <a:buNone/>
            </a:pPr>
            <a:r>
              <a:rPr b="1" lang="en-US" sz="1600">
                <a:solidFill>
                  <a:srgbClr val="34D399"/>
                </a:solidFill>
                <a:latin typeface="Calibri"/>
                <a:ea typeface="Calibri"/>
                <a:cs typeface="Calibri"/>
                <a:sym typeface="Calibri"/>
              </a:rPr>
              <a:t>PUBLIC PROJECT RESOURCES &amp; CODEBASE LINKS</a:t>
            </a:r>
            <a:endParaRPr sz="1200">
              <a:solidFill>
                <a:schemeClr val="dk1"/>
              </a:solidFill>
              <a:latin typeface="Calibri"/>
              <a:ea typeface="Calibri"/>
              <a:cs typeface="Calibri"/>
              <a:sym typeface="Calibri"/>
            </a:endParaRPr>
          </a:p>
        </p:txBody>
      </p:sp>
      <p:sp>
        <p:nvSpPr>
          <p:cNvPr id="559" name="Google Shape;559;p21"/>
          <p:cNvSpPr/>
          <p:nvPr/>
        </p:nvSpPr>
        <p:spPr>
          <a:xfrm>
            <a:off x="7543800" y="2514600"/>
            <a:ext cx="3840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8FAFC"/>
              </a:buClr>
              <a:buSzPts val="1300"/>
              <a:buFont typeface="Calibri"/>
              <a:buNone/>
            </a:pPr>
            <a:r>
              <a:rPr b="1" lang="en-US" sz="1300">
                <a:solidFill>
                  <a:srgbClr val="F8FAFC"/>
                </a:solidFill>
                <a:latin typeface="Calibri"/>
                <a:ea typeface="Calibri"/>
                <a:cs typeface="Calibri"/>
                <a:sym typeface="Calibri"/>
              </a:rPr>
              <a:t>GitHub Repository</a:t>
            </a:r>
            <a:endParaRPr sz="1150">
              <a:solidFill>
                <a:schemeClr val="dk1"/>
              </a:solidFill>
              <a:latin typeface="Calibri"/>
              <a:ea typeface="Calibri"/>
              <a:cs typeface="Calibri"/>
              <a:sym typeface="Calibri"/>
            </a:endParaRPr>
          </a:p>
        </p:txBody>
      </p:sp>
      <p:sp>
        <p:nvSpPr>
          <p:cNvPr id="560" name="Google Shape;560;p21"/>
          <p:cNvSpPr/>
          <p:nvPr/>
        </p:nvSpPr>
        <p:spPr>
          <a:xfrm>
            <a:off x="7543800" y="2788920"/>
            <a:ext cx="38404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8BDF8"/>
              </a:buClr>
              <a:buSzPts val="1300"/>
              <a:buFont typeface="Calibri"/>
              <a:buNone/>
            </a:pPr>
            <a:r>
              <a:rPr lang="en-US" sz="1300">
                <a:solidFill>
                  <a:srgbClr val="38BDF8"/>
                </a:solidFill>
                <a:latin typeface="Calibri"/>
                <a:ea typeface="Calibri"/>
                <a:cs typeface="Calibri"/>
                <a:sym typeface="Calibri"/>
              </a:rPr>
              <a:t>github.com/Charishma1707/product-intelligence</a:t>
            </a:r>
            <a:endParaRPr sz="1050">
              <a:solidFill>
                <a:schemeClr val="dk1"/>
              </a:solidFill>
              <a:latin typeface="Calibri"/>
              <a:ea typeface="Calibri"/>
              <a:cs typeface="Calibri"/>
              <a:sym typeface="Calibri"/>
            </a:endParaRPr>
          </a:p>
        </p:txBody>
      </p:sp>
      <p:sp>
        <p:nvSpPr>
          <p:cNvPr id="561" name="Google Shape;561;p21"/>
          <p:cNvSpPr/>
          <p:nvPr/>
        </p:nvSpPr>
        <p:spPr>
          <a:xfrm>
            <a:off x="7543800" y="3383280"/>
            <a:ext cx="3840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8FAFC"/>
              </a:buClr>
              <a:buSzPts val="1300"/>
              <a:buFont typeface="Calibri"/>
              <a:buNone/>
            </a:pPr>
            <a:r>
              <a:rPr b="1" lang="en-US" sz="1300">
                <a:solidFill>
                  <a:srgbClr val="F8FAFC"/>
                </a:solidFill>
                <a:latin typeface="Calibri"/>
                <a:ea typeface="Calibri"/>
                <a:cs typeface="Calibri"/>
                <a:sym typeface="Calibri"/>
              </a:rPr>
              <a:t>Interactive Frontend Dashboard</a:t>
            </a:r>
            <a:endParaRPr sz="1150">
              <a:solidFill>
                <a:schemeClr val="dk1"/>
              </a:solidFill>
              <a:latin typeface="Calibri"/>
              <a:ea typeface="Calibri"/>
              <a:cs typeface="Calibri"/>
              <a:sym typeface="Calibri"/>
            </a:endParaRPr>
          </a:p>
        </p:txBody>
      </p:sp>
      <p:sp>
        <p:nvSpPr>
          <p:cNvPr id="562" name="Google Shape;562;p21"/>
          <p:cNvSpPr/>
          <p:nvPr/>
        </p:nvSpPr>
        <p:spPr>
          <a:xfrm>
            <a:off x="7543800" y="3657600"/>
            <a:ext cx="38404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8BDF8"/>
              </a:buClr>
              <a:buSzPts val="1300"/>
              <a:buFont typeface="Calibri"/>
              <a:buNone/>
            </a:pPr>
            <a:r>
              <a:rPr lang="en-US" sz="1300">
                <a:solidFill>
                  <a:srgbClr val="38BDF8"/>
                </a:solidFill>
                <a:latin typeface="Calibri"/>
                <a:ea typeface="Calibri"/>
                <a:cs typeface="Calibri"/>
                <a:sym typeface="Calibri"/>
              </a:rPr>
              <a:t>localhost:5173</a:t>
            </a:r>
            <a:endParaRPr sz="1050">
              <a:solidFill>
                <a:schemeClr val="dk1"/>
              </a:solidFill>
              <a:latin typeface="Calibri"/>
              <a:ea typeface="Calibri"/>
              <a:cs typeface="Calibri"/>
              <a:sym typeface="Calibri"/>
            </a:endParaRPr>
          </a:p>
        </p:txBody>
      </p:sp>
      <p:sp>
        <p:nvSpPr>
          <p:cNvPr id="563" name="Google Shape;563;p21"/>
          <p:cNvSpPr/>
          <p:nvPr/>
        </p:nvSpPr>
        <p:spPr>
          <a:xfrm>
            <a:off x="7543800" y="4251960"/>
            <a:ext cx="3840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8FAFC"/>
              </a:buClr>
              <a:buSzPts val="1300"/>
              <a:buFont typeface="Calibri"/>
              <a:buNone/>
            </a:pPr>
            <a:r>
              <a:rPr b="1" lang="en-US" sz="1300">
                <a:solidFill>
                  <a:srgbClr val="F8FAFC"/>
                </a:solidFill>
                <a:latin typeface="Calibri"/>
                <a:ea typeface="Calibri"/>
                <a:cs typeface="Calibri"/>
                <a:sym typeface="Calibri"/>
              </a:rPr>
              <a:t>OpenAPI / Swagger Backend Docs</a:t>
            </a:r>
            <a:endParaRPr sz="1150">
              <a:solidFill>
                <a:schemeClr val="dk1"/>
              </a:solidFill>
              <a:latin typeface="Calibri"/>
              <a:ea typeface="Calibri"/>
              <a:cs typeface="Calibri"/>
              <a:sym typeface="Calibri"/>
            </a:endParaRPr>
          </a:p>
        </p:txBody>
      </p:sp>
      <p:sp>
        <p:nvSpPr>
          <p:cNvPr id="564" name="Google Shape;564;p21"/>
          <p:cNvSpPr/>
          <p:nvPr/>
        </p:nvSpPr>
        <p:spPr>
          <a:xfrm>
            <a:off x="7543800" y="4526280"/>
            <a:ext cx="38404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8BDF8"/>
              </a:buClr>
              <a:buSzPts val="1300"/>
              <a:buFont typeface="Calibri"/>
              <a:buNone/>
            </a:pPr>
            <a:r>
              <a:rPr lang="en-US" sz="1300">
                <a:solidFill>
                  <a:srgbClr val="38BDF8"/>
                </a:solidFill>
                <a:latin typeface="Calibri"/>
                <a:ea typeface="Calibri"/>
                <a:cs typeface="Calibri"/>
                <a:sym typeface="Calibri"/>
              </a:rPr>
              <a:t>localhost:8000/docs</a:t>
            </a:r>
            <a:endParaRPr sz="1050">
              <a:solidFill>
                <a:schemeClr val="dk1"/>
              </a:solidFill>
              <a:latin typeface="Calibri"/>
              <a:ea typeface="Calibri"/>
              <a:cs typeface="Calibri"/>
              <a:sym typeface="Calibri"/>
            </a:endParaRPr>
          </a:p>
        </p:txBody>
      </p:sp>
      <p:sp>
        <p:nvSpPr>
          <p:cNvPr id="565" name="Google Shape;565;p21"/>
          <p:cNvSpPr/>
          <p:nvPr/>
        </p:nvSpPr>
        <p:spPr>
          <a:xfrm>
            <a:off x="7543800" y="5806440"/>
            <a:ext cx="384048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94A3B8"/>
              </a:buClr>
              <a:buSzPts val="1300"/>
              <a:buFont typeface="Calibri"/>
              <a:buNone/>
            </a:pPr>
            <a:r>
              <a:rPr i="1" lang="en-US" sz="1300">
                <a:solidFill>
                  <a:srgbClr val="94A3B8"/>
                </a:solidFill>
                <a:latin typeface="Calibri"/>
                <a:ea typeface="Calibri"/>
                <a:cs typeface="Calibri"/>
                <a:sym typeface="Calibri"/>
              </a:rPr>
              <a:t>Built for UniHack — Product Intelligence &amp; Automated Catalog Enrichment</a:t>
            </a:r>
            <a:endParaRPr sz="950">
              <a:solidFill>
                <a:schemeClr val="dk1"/>
              </a:solidFill>
              <a:latin typeface="Calibri"/>
              <a:ea typeface="Calibri"/>
              <a:cs typeface="Calibri"/>
              <a:sym typeface="Calibri"/>
            </a:endParaRPr>
          </a:p>
        </p:txBody>
      </p:sp>
      <p:sp>
        <p:nvSpPr>
          <p:cNvPr id="566" name="Google Shape;566;p21"/>
          <p:cNvSpPr/>
          <p:nvPr/>
        </p:nvSpPr>
        <p:spPr>
          <a:xfrm>
            <a:off x="45720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172A"/>
              </a:buClr>
              <a:buSzPts val="1300"/>
              <a:buFont typeface="Calibri"/>
              <a:buNone/>
            </a:pPr>
            <a:r>
              <a:rPr lang="en-US" sz="1300">
                <a:solidFill>
                  <a:srgbClr val="0F172A"/>
                </a:solidFill>
                <a:latin typeface="Calibri"/>
                <a:ea typeface="Calibri"/>
                <a:cs typeface="Calibri"/>
                <a:sym typeface="Calibri"/>
              </a:rPr>
              <a:t>15 / 15   •   MVP Snapshots &amp; Links</a:t>
            </a:r>
            <a:endParaRPr sz="9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pic>
        <p:nvPicPr>
          <p:cNvPr id="572" name="Google Shape;572;p22" title="Screenshot 2026-08-23 165437.png"/>
          <p:cNvPicPr preferRelativeResize="0"/>
          <p:nvPr/>
        </p:nvPicPr>
        <p:blipFill>
          <a:blip r:embed="rId3">
            <a:alphaModFix/>
          </a:blip>
          <a:stretch>
            <a:fillRect/>
          </a:stretch>
        </p:blipFill>
        <p:spPr>
          <a:xfrm>
            <a:off x="152400" y="152400"/>
            <a:ext cx="11684766" cy="65532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pic>
        <p:nvPicPr>
          <p:cNvPr id="578" name="Google Shape;578;p23" title="Screenshot 2026-08-23 165459.png"/>
          <p:cNvPicPr preferRelativeResize="0"/>
          <p:nvPr/>
        </p:nvPicPr>
        <p:blipFill>
          <a:blip r:embed="rId3">
            <a:alphaModFix/>
          </a:blip>
          <a:stretch>
            <a:fillRect/>
          </a:stretch>
        </p:blipFill>
        <p:spPr>
          <a:xfrm>
            <a:off x="594425" y="152400"/>
            <a:ext cx="10724871" cy="65532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pic>
        <p:nvPicPr>
          <p:cNvPr id="584" name="Google Shape;584;p24" title="Screenshot 2026-08-23 165511.png"/>
          <p:cNvPicPr preferRelativeResize="0"/>
          <p:nvPr/>
        </p:nvPicPr>
        <p:blipFill>
          <a:blip r:embed="rId3">
            <a:alphaModFix/>
          </a:blip>
          <a:stretch>
            <a:fillRect/>
          </a:stretch>
        </p:blipFill>
        <p:spPr>
          <a:xfrm>
            <a:off x="152400" y="152400"/>
            <a:ext cx="11887196" cy="505138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pic>
        <p:nvPicPr>
          <p:cNvPr id="590" name="Google Shape;590;p25"/>
          <p:cNvPicPr preferRelativeResize="0"/>
          <p:nvPr/>
        </p:nvPicPr>
        <p:blipFill>
          <a:blip r:embed="rId3">
            <a:alphaModFix/>
          </a:blip>
          <a:stretch>
            <a:fillRect/>
          </a:stretch>
        </p:blipFill>
        <p:spPr>
          <a:xfrm>
            <a:off x="152400" y="152400"/>
            <a:ext cx="11887200" cy="617517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pic>
        <p:nvPicPr>
          <p:cNvPr id="596" name="Google Shape;596;p26"/>
          <p:cNvPicPr preferRelativeResize="0"/>
          <p:nvPr/>
        </p:nvPicPr>
        <p:blipFill>
          <a:blip r:embed="rId3">
            <a:alphaModFix/>
          </a:blip>
          <a:stretch>
            <a:fillRect/>
          </a:stretch>
        </p:blipFill>
        <p:spPr>
          <a:xfrm>
            <a:off x="152400" y="152400"/>
            <a:ext cx="11887199" cy="483535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pic>
        <p:nvPicPr>
          <p:cNvPr id="602" name="Google Shape;602;p27"/>
          <p:cNvPicPr preferRelativeResize="0"/>
          <p:nvPr/>
        </p:nvPicPr>
        <p:blipFill>
          <a:blip r:embed="rId3">
            <a:alphaModFix/>
          </a:blip>
          <a:stretch>
            <a:fillRect/>
          </a:stretch>
        </p:blipFill>
        <p:spPr>
          <a:xfrm>
            <a:off x="152400" y="152400"/>
            <a:ext cx="11887202" cy="4902947"/>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pic>
        <p:nvPicPr>
          <p:cNvPr id="608" name="Google Shape;608;p28"/>
          <p:cNvPicPr preferRelativeResize="0"/>
          <p:nvPr/>
        </p:nvPicPr>
        <p:blipFill>
          <a:blip r:embed="rId3">
            <a:alphaModFix/>
          </a:blip>
          <a:stretch>
            <a:fillRect/>
          </a:stretch>
        </p:blipFill>
        <p:spPr>
          <a:xfrm>
            <a:off x="152400" y="152400"/>
            <a:ext cx="11887200" cy="52317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pic>
        <p:nvPicPr>
          <p:cNvPr id="614" name="Google Shape;614;p29"/>
          <p:cNvPicPr preferRelativeResize="0"/>
          <p:nvPr/>
        </p:nvPicPr>
        <p:blipFill>
          <a:blip r:embed="rId3">
            <a:alphaModFix/>
          </a:blip>
          <a:stretch>
            <a:fillRect/>
          </a:stretch>
        </p:blipFill>
        <p:spPr>
          <a:xfrm>
            <a:off x="152400" y="152400"/>
            <a:ext cx="11887200" cy="574846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pic>
        <p:nvPicPr>
          <p:cNvPr id="620" name="Google Shape;620;p30"/>
          <p:cNvPicPr preferRelativeResize="0"/>
          <p:nvPr/>
        </p:nvPicPr>
        <p:blipFill>
          <a:blip r:embed="rId3">
            <a:alphaModFix/>
          </a:blip>
          <a:stretch>
            <a:fillRect/>
          </a:stretch>
        </p:blipFill>
        <p:spPr>
          <a:xfrm>
            <a:off x="152400" y="152400"/>
            <a:ext cx="11887198" cy="475634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pic>
        <p:nvPicPr>
          <p:cNvPr id="626" name="Google Shape;626;p31"/>
          <p:cNvPicPr preferRelativeResize="0"/>
          <p:nvPr/>
        </p:nvPicPr>
        <p:blipFill>
          <a:blip r:embed="rId3">
            <a:alphaModFix/>
          </a:blip>
          <a:stretch>
            <a:fillRect/>
          </a:stretch>
        </p:blipFill>
        <p:spPr>
          <a:xfrm>
            <a:off x="152400" y="152400"/>
            <a:ext cx="11887199" cy="531098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pic>
        <p:nvPicPr>
          <p:cNvPr id="632" name="Google Shape;632;p32"/>
          <p:cNvPicPr preferRelativeResize="0"/>
          <p:nvPr/>
        </p:nvPicPr>
        <p:blipFill>
          <a:blip r:embed="rId3">
            <a:alphaModFix/>
          </a:blip>
          <a:stretch>
            <a:fillRect/>
          </a:stretch>
        </p:blipFill>
        <p:spPr>
          <a:xfrm>
            <a:off x="152400" y="152400"/>
            <a:ext cx="11887198" cy="1097707"/>
          </a:xfrm>
          <a:prstGeom prst="rect">
            <a:avLst/>
          </a:prstGeom>
          <a:noFill/>
          <a:ln>
            <a:noFill/>
          </a:ln>
        </p:spPr>
      </p:pic>
      <p:sp>
        <p:nvSpPr>
          <p:cNvPr id="633" name="Google Shape;633;p32"/>
          <p:cNvSpPr txBox="1"/>
          <p:nvPr/>
        </p:nvSpPr>
        <p:spPr>
          <a:xfrm>
            <a:off x="684500" y="1250100"/>
            <a:ext cx="10541400" cy="52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t>i tested with similar series products ,to knwo is the </a:t>
            </a:r>
            <a:r>
              <a:rPr lang="en-US" sz="1600"/>
              <a:t>pipeline</a:t>
            </a:r>
            <a:r>
              <a:rPr lang="en-US" sz="1600"/>
              <a:t> using cache ,knowledge </a:t>
            </a:r>
            <a:r>
              <a:rPr lang="en-US" sz="1600"/>
              <a:t>graphs</a:t>
            </a:r>
            <a:r>
              <a:rPr lang="en-US" sz="1600"/>
              <a:t> (known already)</a:t>
            </a:r>
            <a:endParaRPr sz="1600"/>
          </a:p>
        </p:txBody>
      </p:sp>
      <p:pic>
        <p:nvPicPr>
          <p:cNvPr id="634" name="Google Shape;634;p32"/>
          <p:cNvPicPr preferRelativeResize="0"/>
          <p:nvPr/>
        </p:nvPicPr>
        <p:blipFill>
          <a:blip r:embed="rId4">
            <a:alphaModFix/>
          </a:blip>
          <a:stretch>
            <a:fillRect/>
          </a:stretch>
        </p:blipFill>
        <p:spPr>
          <a:xfrm>
            <a:off x="684500" y="2383950"/>
            <a:ext cx="9881049" cy="4351225"/>
          </a:xfrm>
          <a:prstGeom prst="rect">
            <a:avLst/>
          </a:prstGeom>
          <a:noFill/>
          <a:ln>
            <a:noFill/>
          </a:ln>
        </p:spPr>
      </p:pic>
      <p:sp>
        <p:nvSpPr>
          <p:cNvPr id="635" name="Google Shape;635;p32"/>
          <p:cNvSpPr txBox="1"/>
          <p:nvPr/>
        </p:nvSpPr>
        <p:spPr>
          <a:xfrm>
            <a:off x="1126250" y="1749975"/>
            <a:ext cx="9681000" cy="42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cache</a:t>
            </a:r>
            <a:r>
              <a:rPr lang="en-US"/>
              <a:t> hit for documents,supervisor agent is the agent which decides what to do after admin prompt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