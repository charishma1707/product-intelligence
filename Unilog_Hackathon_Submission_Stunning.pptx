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5143500" cx="9144000"/>
  <p:notesSz cx="6858000" cy="9144000"/>
  <p:embeddedFontLst>
    <p:embeddedFont>
      <p:font typeface="Google Sans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font" Target="fonts/GoogleSans-regular.fntdata"/><Relationship Id="rId23" Type="http://schemas.openxmlformats.org/officeDocument/2006/relationships/font" Target="fonts/GoogleSans-bold.fntdata"/><Relationship Id="rId24" Type="http://schemas.openxmlformats.org/officeDocument/2006/relationships/font" Target="fonts/GoogleSans-italic.fntdata"/><Relationship Id="rId25" Type="http://schemas.openxmlformats.org/officeDocument/2006/relationships/font" Target="fonts/GoogleSans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f97113ba4d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g3f97113ba4d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f97113ba4d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g3f97113ba4d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f97113ba4d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g3f97113ba4d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f971cbf117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f971cbf117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97113ba4d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g3f97113ba4d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f97113ba4d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g3f97113ba4d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f97113ba4d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g3f97113ba4d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f97113ba4d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g3f97113ba4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97113ba4d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g3f97113ba4d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f97113ba4d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g3f97113ba4d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f97113ba4d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g3f97113ba4d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f97113ba4d_0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g3f97113ba4d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f97113ba4d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g3f97113ba4d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f97113ba4d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g3f97113ba4d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f97113ba4d_0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g3f97113ba4d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3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4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5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25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25"/>
          <p:cNvSpPr txBox="1"/>
          <p:nvPr/>
        </p:nvSpPr>
        <p:spPr>
          <a:xfrm>
            <a:off x="436625" y="8810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GB" sz="4000" u="none" cap="none" strike="noStrike">
                <a:solidFill>
                  <a:schemeClr val="accent1"/>
                </a:solidFill>
                <a:latin typeface="Google Sans"/>
                <a:ea typeface="Google Sans"/>
                <a:cs typeface="Google Sans"/>
                <a:sym typeface="Google Sans"/>
              </a:rPr>
              <a:t>Guidelines</a:t>
            </a:r>
            <a:endParaRPr b="1" i="0" sz="4000" u="none" cap="none" strike="noStrike">
              <a:solidFill>
                <a:schemeClr val="accen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01" name="Google Shape;101;p25"/>
          <p:cNvSpPr txBox="1"/>
          <p:nvPr/>
        </p:nvSpPr>
        <p:spPr>
          <a:xfrm>
            <a:off x="609900" y="1711275"/>
            <a:ext cx="7924200" cy="19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Kindly use the given template for submitting your </a:t>
            </a: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prototype</a:t>
            </a: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(Make a copy of the template)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One team is only required to submit one project.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Follow this template while preparing your presentation.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You are welcome to add as many POCs and design concepts to support your project.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The project should be feasible and the team members should be capable enough, to come up with the fully functioning prototype of the same idea, if required.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26" title="Framedede 2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3"/>
            <a:ext cx="9144003" cy="5143476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Rounded Rectangle 106"/>
          <p:cNvSpPr/>
          <p:nvPr/>
        </p:nvSpPr>
        <p:spPr>
          <a:xfrm>
            <a:off x="365760" y="1188720"/>
            <a:ext cx="4023360" cy="3474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spcAft>
                <a:spcPts val="600"/>
              </a:spcAft>
              <a:defRPr sz="1300" b="1">
                <a:solidFill>
                  <a:srgbClr val="38BDF8"/>
                </a:solidFill>
              </a:defRPr>
            </a:pPr>
            <a:r>
              <a:t>TEAM INFORMATION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▪ Team Name: </a:t>
            </a:r>
            <a:r>
              <a:rPr sz="1000">
                <a:solidFill>
                  <a:srgbClr val="CBD5E1"/>
                </a:solidFill>
              </a:rPr>
              <a:t>codewithcofee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▪ Team Leader: </a:t>
            </a:r>
            <a:r>
              <a:rPr sz="1000">
                <a:solidFill>
                  <a:srgbClr val="CBD5E1"/>
                </a:solidFill>
              </a:rPr>
              <a:t>charishma alam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▪ Hackathon Track: </a:t>
            </a:r>
            <a:r>
              <a:rPr sz="1000">
                <a:solidFill>
                  <a:srgbClr val="CBD5E1"/>
                </a:solidFill>
              </a:rPr>
              <a:t>Unilog Product Intelligence Challenge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▪ Submission Stage: </a:t>
            </a:r>
            <a:r>
              <a:rPr sz="1000">
                <a:solidFill>
                  <a:srgbClr val="CBD5E1"/>
                </a:solidFill>
              </a:rPr>
              <a:t>Prototype / MVP Phase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4663440" y="1188720"/>
            <a:ext cx="4114800" cy="3474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spcAft>
                <a:spcPts val="600"/>
              </a:spcAft>
              <a:defRPr sz="1300" b="1">
                <a:solidFill>
                  <a:srgbClr val="38BDF8"/>
                </a:solidFill>
              </a:defRPr>
            </a:pPr>
            <a:r>
              <a:t>SOLUTION OBJECTIVE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▪ Core Focus: </a:t>
            </a:r>
            <a:r>
              <a:rPr sz="1000">
                <a:solidFill>
                  <a:srgbClr val="CBD5E1"/>
                </a:solidFill>
              </a:rPr>
              <a:t>Autonomous Industrial Catalog Intelligence &amp; Taxonomy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▪ Key Problem: </a:t>
            </a:r>
            <a:r>
              <a:rPr sz="1000">
                <a:solidFill>
                  <a:srgbClr val="CBD5E1"/>
                </a:solidFill>
              </a:rPr>
              <a:t>Transforming sparse distributor inputs (MPN + Description) into 250+ commerce specs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▪ Key Advantage: </a:t>
            </a:r>
            <a:r>
              <a:rPr sz="1000">
                <a:solidFill>
                  <a:srgbClr val="CBD5E1"/>
                </a:solidFill>
              </a:rPr>
              <a:t>Zero-hallucination exact MPN verification &amp; series knowledge reuse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▪ Engine Type: </a:t>
            </a:r>
            <a:r>
              <a:rPr sz="1000">
                <a:solidFill>
                  <a:srgbClr val="CBD5E1"/>
                </a:solidFill>
              </a:rPr>
              <a:t>LangGraph 10-Node State Machine Pipeline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27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Rounded Rectangle 112"/>
          <p:cNvSpPr/>
          <p:nvPr/>
        </p:nvSpPr>
        <p:spPr>
          <a:xfrm>
            <a:off x="365760" y="1188720"/>
            <a:ext cx="2651760" cy="3474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spcAft>
                <a:spcPts val="600"/>
              </a:spcAft>
              <a:defRPr sz="1300" b="1">
                <a:solidFill>
                  <a:srgbClr val="38BDF8"/>
                </a:solidFill>
              </a:defRPr>
            </a:pPr>
            <a:r>
              <a:t>10-Node Agentic Pipeline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▪ LangGraph State Machine: </a:t>
            </a:r>
            <a:r>
              <a:rPr sz="1000">
                <a:solidFill>
                  <a:srgbClr val="CBD5E1"/>
                </a:solidFill>
              </a:rPr>
              <a:t>Executes 10 distinct verification stages autonomously.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▪ Targeted RAG: </a:t>
            </a:r>
            <a:r>
              <a:rPr sz="1000">
                <a:solidFill>
                  <a:srgbClr val="CBD5E1"/>
                </a:solidFill>
              </a:rPr>
              <a:t>Queries ChromaDB per attribute to stay within fast context windows.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▪ Zero Hallucinations: </a:t>
            </a:r>
            <a:r>
              <a:rPr sz="1000">
                <a:solidFill>
                  <a:srgbClr val="CBD5E1"/>
                </a:solidFill>
              </a:rPr>
              <a:t>Every spec carries exact verbatim source quote evidence.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3246120" y="1188720"/>
            <a:ext cx="2651760" cy="3474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spcAft>
                <a:spcPts val="600"/>
              </a:spcAft>
              <a:defRPr sz="1300" b="1">
                <a:solidFill>
                  <a:srgbClr val="38BDF8"/>
                </a:solidFill>
              </a:defRPr>
            </a:pPr>
            <a:r>
              <a:t>Exact MPN Verification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▪ PDF Verbatim Match: </a:t>
            </a:r>
            <a:r>
              <a:rPr sz="1000">
                <a:solidFill>
                  <a:srgbClr val="CBD5E1"/>
                </a:solidFill>
              </a:rPr>
              <a:t>Directly checks if part number exists on source datasheet.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▪ Manufacturer Priority: </a:t>
            </a:r>
            <a:r>
              <a:rPr sz="1000">
                <a:solidFill>
                  <a:srgbClr val="CBD5E1"/>
                </a:solidFill>
              </a:rPr>
              <a:t>Prioritizes official domain PDFs over distributor web pages.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▪ High Confidence: </a:t>
            </a:r>
            <a:r>
              <a:rPr sz="1000">
                <a:solidFill>
                  <a:srgbClr val="CBD5E1"/>
                </a:solidFill>
              </a:rPr>
              <a:t>Assigns 0.95+ confidence to verified technical datasheets.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6126480" y="1188720"/>
            <a:ext cx="2651760" cy="3474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spcAft>
                <a:spcPts val="600"/>
              </a:spcAft>
              <a:defRPr sz="1300" b="1">
                <a:solidFill>
                  <a:srgbClr val="38BDF8"/>
                </a:solidFill>
              </a:defRPr>
            </a:pPr>
            <a:r>
              <a:t>Solve Once, Reuse N Times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▪ Document Hash Cache: </a:t>
            </a:r>
            <a:r>
              <a:rPr sz="1000">
                <a:solidFill>
                  <a:srgbClr val="CBD5E1"/>
                </a:solidFill>
              </a:rPr>
              <a:t>Hashes PDFs (SHA-256) to skip redundant downloads/parsing.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▪ Series Knowledge Graph: </a:t>
            </a:r>
            <a:r>
              <a:rPr sz="1000">
                <a:solidFill>
                  <a:srgbClr val="CBD5E1"/>
                </a:solidFill>
              </a:rPr>
              <a:t>Sibling products inherit verified series baseline attributes.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▪ Scalable Compute: </a:t>
            </a:r>
            <a:r>
              <a:rPr sz="1000">
                <a:solidFill>
                  <a:srgbClr val="CBD5E1"/>
                </a:solidFill>
              </a:rPr>
              <a:t>Reduces external web search and LLM calls by up to 80%.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28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28"/>
          <p:cNvSpPr txBox="1"/>
          <p:nvPr>
            <p:ph type="ctrTitle"/>
          </p:nvPr>
        </p:nvSpPr>
        <p:spPr>
          <a:xfrm>
            <a:off x="365760" y="274320"/>
            <a:ext cx="8412480" cy="73152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  <a:defRPr sz="900" b="1">
                <a:solidFill>
                  <a:srgbClr val="38BDF8"/>
                </a:solidFill>
              </a:defRPr>
            </a:pPr>
            <a:r>
              <a:t>TECHNICAL ARCHITECTURE</a:t>
            </a:r>
            <a:endParaRPr sz="1200"/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Core Solution Principles: Enrichment, Accuracy &amp; Scalability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365760" y="1143000"/>
            <a:ext cx="8412480" cy="1051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spcAft>
                <a:spcPts val="600"/>
              </a:spcAft>
              <a:defRPr sz="1300" b="1">
                <a:solidFill>
                  <a:srgbClr val="38BDF8"/>
                </a:solidFill>
              </a:defRPr>
            </a:pPr>
            <a:r>
              <a:t>1. Minimal Input Data Enrichment (Visual Flow)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▪ Pipeline Execution: </a:t>
            </a:r>
            <a:r>
              <a:rPr sz="1000">
                <a:solidFill>
                  <a:srgbClr val="CBD5E1"/>
                </a:solidFill>
              </a:rPr>
              <a:t>Sparse Input (Brand + MPN)  ➔  Taxonomy Classifier  ➔  Hybrid Web Retrieval  ➔  250+ Standardized Specs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365760" y="2331720"/>
            <a:ext cx="8412480" cy="1051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spcAft>
                <a:spcPts val="600"/>
              </a:spcAft>
              <a:defRPr sz="1300" b="1">
                <a:solidFill>
                  <a:srgbClr val="38BDF8"/>
                </a:solidFill>
              </a:defRPr>
            </a:pPr>
            <a:r>
              <a:t>2. Accuracy &amp; Trust Strategy (Zero-Hallucination Policy)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▪ Verification Strategy: </a:t>
            </a:r>
            <a:r>
              <a:rPr sz="1000">
                <a:solidFill>
                  <a:srgbClr val="CBD5E1"/>
                </a:solidFill>
              </a:rPr>
              <a:t>Multi-Source Corroboration  +  Exact MPN Match on PDF  +  Verbatim Citations  +  HITL Review Gate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365760" y="3520440"/>
            <a:ext cx="8412480" cy="1051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spcAft>
                <a:spcPts val="600"/>
              </a:spcAft>
              <a:defRPr sz="1300" b="1">
                <a:solidFill>
                  <a:srgbClr val="38BDF8"/>
                </a:solidFill>
              </a:defRPr>
            </a:pPr>
            <a:r>
              <a:t>3. Enterprise Scalability Architecture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▪ Scalability Engine: </a:t>
            </a:r>
            <a:r>
              <a:rPr sz="1000">
                <a:solidFill>
                  <a:srgbClr val="CBD5E1"/>
                </a:solidFill>
              </a:rPr>
              <a:t>SHA-256 PDF Document Hashing  +  Series Knowledge Inheritance  +  SQLite Self-Learning Knowledge Graph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9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Rounded Rectangle 124"/>
          <p:cNvSpPr/>
          <p:nvPr/>
        </p:nvSpPr>
        <p:spPr>
          <a:xfrm>
            <a:off x="365760" y="1188720"/>
            <a:ext cx="4023360" cy="3474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spcAft>
                <a:spcPts val="600"/>
              </a:spcAft>
              <a:defRPr sz="1300" b="1">
                <a:solidFill>
                  <a:srgbClr val="38BDF8"/>
                </a:solidFill>
              </a:defRPr>
            </a:pPr>
            <a:r>
              <a:t>HOW DIFFERENT IS IT? (Self-Learning Loop)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▪ Persistent Memory: </a:t>
            </a:r>
            <a:r>
              <a:rPr sz="1000">
                <a:solidFill>
                  <a:srgbClr val="CBD5E1"/>
                </a:solidFill>
              </a:rPr>
              <a:t>Not a one-off static LLM prompt wrapper.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▪ Human Knowledge Loop: </a:t>
            </a:r>
            <a:r>
              <a:rPr sz="1000">
                <a:solidFill>
                  <a:srgbClr val="CBD5E1"/>
                </a:solidFill>
              </a:rPr>
              <a:t>When a reviewer approves an abbreviation (e.g. BRS ➔ Brass), it saves to SQLite.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▪ Catalog Ingestion: </a:t>
            </a:r>
            <a:r>
              <a:rPr sz="1000">
                <a:solidFill>
                  <a:srgbClr val="CBD5E1"/>
                </a:solidFill>
              </a:rPr>
              <a:t>Subsequent ingestion runs auto-resolve learned shorthand without human intervention.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▪ Evolving Intelligence: </a:t>
            </a:r>
            <a:r>
              <a:rPr sz="1000">
                <a:solidFill>
                  <a:srgbClr val="CBD5E1"/>
                </a:solidFill>
              </a:rPr>
              <a:t>System gets faster and smarter with every processed batch.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4663440" y="1188720"/>
            <a:ext cx="4114800" cy="3474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spcAft>
                <a:spcPts val="600"/>
              </a:spcAft>
              <a:defRPr sz="1300" b="1">
                <a:solidFill>
                  <a:srgbClr val="38BDF8"/>
                </a:solidFill>
              </a:defRPr>
            </a:pPr>
            <a:r>
              <a:t>HOW IT SOLVES SPARSE DISTRIBUTOR DATA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▪ Autonomous Research: </a:t>
            </a:r>
            <a:r>
              <a:rPr sz="1000">
                <a:solidFill>
                  <a:srgbClr val="CBD5E1"/>
                </a:solidFill>
              </a:rPr>
              <a:t>Mimics a human domain engineer's research workflow.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▪ Document Sourcing: </a:t>
            </a:r>
            <a:r>
              <a:rPr sz="1000">
                <a:solidFill>
                  <a:srgbClr val="CBD5E1"/>
                </a:solidFill>
              </a:rPr>
              <a:t>Locates official spec sheets and extracts 250+ catalog fields.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▪ Strict Provenance: </a:t>
            </a:r>
            <a:r>
              <a:rPr sz="1000">
                <a:solidFill>
                  <a:srgbClr val="CBD5E1"/>
                </a:solidFill>
              </a:rPr>
              <a:t>Ensures unsupported values are marked MISSING rather than hallucinated.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▪ Commerce Ready: </a:t>
            </a:r>
            <a:r>
              <a:rPr sz="1000">
                <a:solidFill>
                  <a:srgbClr val="CBD5E1"/>
                </a:solidFill>
              </a:rPr>
              <a:t>Generates SEO descriptions and 250-column Unilog CSV exports.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30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Rounded Rectangle 130"/>
          <p:cNvSpPr/>
          <p:nvPr/>
        </p:nvSpPr>
        <p:spPr>
          <a:xfrm>
            <a:off x="365760" y="1188720"/>
            <a:ext cx="2651760" cy="1645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spcAft>
                <a:spcPts val="600"/>
              </a:spcAft>
              <a:defRPr sz="1300" b="1">
                <a:solidFill>
                  <a:srgbClr val="38BDF8"/>
                </a:solidFill>
              </a:defRPr>
            </a:pPr>
            <a:r>
              <a:t>Exact MPN Verification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▪ PDF Verification: </a:t>
            </a:r>
            <a:r>
              <a:rPr sz="1000">
                <a:solidFill>
                  <a:srgbClr val="CBD5E1"/>
                </a:solidFill>
              </a:rPr>
              <a:t>Matches part number directly on manufacturer datasheet.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3246120" y="1188720"/>
            <a:ext cx="2651760" cy="1645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spcAft>
                <a:spcPts val="600"/>
              </a:spcAft>
              <a:defRPr sz="1300" b="1">
                <a:solidFill>
                  <a:srgbClr val="38BDF8"/>
                </a:solidFill>
              </a:defRPr>
            </a:pPr>
            <a:r>
              <a:t>Series Knowledge Reuse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▪ Knowledge Inheritance: </a:t>
            </a:r>
            <a:r>
              <a:rPr sz="1000">
                <a:solidFill>
                  <a:srgbClr val="CBD5E1"/>
                </a:solidFill>
              </a:rPr>
              <a:t>Sibling products share verified series baseline specs.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6126480" y="1188720"/>
            <a:ext cx="2651760" cy="1645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spcAft>
                <a:spcPts val="600"/>
              </a:spcAft>
              <a:defRPr sz="1300" b="1">
                <a:solidFill>
                  <a:srgbClr val="38BDF8"/>
                </a:solidFill>
              </a:defRPr>
            </a:pPr>
            <a:r>
              <a:t>SHA-256 PDF Caching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▪ Document Hash Cache: </a:t>
            </a:r>
            <a:r>
              <a:rPr sz="1000">
                <a:solidFill>
                  <a:srgbClr val="CBD5E1"/>
                </a:solidFill>
              </a:rPr>
              <a:t>Prevents re-downloading identical manuals.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365760" y="3017520"/>
            <a:ext cx="2651760" cy="1645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spcAft>
                <a:spcPts val="600"/>
              </a:spcAft>
              <a:defRPr sz="1300" b="1">
                <a:solidFill>
                  <a:srgbClr val="38BDF8"/>
                </a:solidFill>
              </a:defRPr>
            </a:pPr>
            <a:r>
              <a:t>Self-Learning HITL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▪ Abbreviation Dictionary: </a:t>
            </a:r>
            <a:r>
              <a:rPr sz="1000">
                <a:solidFill>
                  <a:srgbClr val="CBD5E1"/>
                </a:solidFill>
              </a:rPr>
              <a:t>Reviewer approvals expand persistent SQLite dict.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3246120" y="3017520"/>
            <a:ext cx="2651760" cy="1645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spcAft>
                <a:spcPts val="600"/>
              </a:spcAft>
              <a:defRPr sz="1300" b="1">
                <a:solidFill>
                  <a:srgbClr val="38BDF8"/>
                </a:solidFill>
              </a:defRPr>
            </a:pPr>
            <a:r>
              <a:t>Evidence Citation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▪ Zero Hallucinations: </a:t>
            </a:r>
            <a:r>
              <a:rPr sz="1000">
                <a:solidFill>
                  <a:srgbClr val="CBD5E1"/>
                </a:solidFill>
              </a:rPr>
              <a:t>Every extracted field carries URL &amp; verbatim quote.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6126480" y="3017520"/>
            <a:ext cx="2651760" cy="1645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spcAft>
                <a:spcPts val="600"/>
              </a:spcAft>
              <a:defRPr sz="1300" b="1">
                <a:solidFill>
                  <a:srgbClr val="38BDF8"/>
                </a:solidFill>
              </a:defRPr>
            </a:pPr>
            <a:r>
              <a:t>250-Col Unilog CSV Export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▪ Commerce Ready: </a:t>
            </a:r>
            <a:r>
              <a:rPr sz="1000">
                <a:solidFill>
                  <a:srgbClr val="CBD5E1"/>
                </a:solidFill>
              </a:rPr>
              <a:t>Generates full Unilog-compliant export file.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31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Picture 136" descr="process_fl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1097280"/>
            <a:ext cx="8412480" cy="640656"/>
          </a:xfrm>
          <a:prstGeom prst="rect">
            <a:avLst/>
          </a:prstGeom>
        </p:spPr>
      </p:pic>
      <p:sp>
        <p:nvSpPr>
          <p:cNvPr id="138" name="Rounded Rectangle 137"/>
          <p:cNvSpPr/>
          <p:nvPr/>
        </p:nvSpPr>
        <p:spPr>
          <a:xfrm>
            <a:off x="365760" y="4114800"/>
            <a:ext cx="8412480" cy="6400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▪ Flow Summary: </a:t>
            </a:r>
            <a:r>
              <a:rPr sz="1000">
                <a:solidFill>
                  <a:srgbClr val="CBD5E1"/>
                </a:solidFill>
              </a:rPr>
              <a:t>Raw Input  ➔  Identity &amp; Taxonomy  ➔  Hybrid Search  ➔  RAG Extraction  ➔  HITL Review Gate  ➔  Commerce CSV Export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32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Rounded Rectangle 142"/>
          <p:cNvSpPr/>
          <p:nvPr/>
        </p:nvSpPr>
        <p:spPr>
          <a:xfrm>
            <a:off x="365760" y="1188720"/>
            <a:ext cx="4023360" cy="3474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spcAft>
                <a:spcPts val="600"/>
              </a:spcAft>
              <a:defRPr sz="1300" b="1">
                <a:solidFill>
                  <a:srgbClr val="38BDF8"/>
                </a:solidFill>
              </a:defRPr>
            </a:pPr>
            <a:r>
              <a:t>LINE-ITEM REVIEW CONSOLE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▪ Confidence Badges: </a:t>
            </a:r>
            <a:r>
              <a:rPr sz="1000">
                <a:solidFill>
                  <a:srgbClr val="CBD5E1"/>
                </a:solidFill>
              </a:rPr>
              <a:t>Color-coded indicators for High (&gt;=80%), Mid (50-79%), Low (&lt;50%).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▪ Provenance Drawer: </a:t>
            </a:r>
            <a:r>
              <a:rPr sz="1000">
                <a:solidFill>
                  <a:srgbClr val="CBD5E1"/>
                </a:solidFill>
              </a:rPr>
              <a:t>Displays verbatim quote snippet and direct source document URL.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▪ Human In Loop (HITL): </a:t>
            </a:r>
            <a:r>
              <a:rPr sz="1000">
                <a:solidFill>
                  <a:srgbClr val="CBD5E1"/>
                </a:solidFill>
              </a:rPr>
              <a:t>Interactive editor allows instant approval or rule correction.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▪ Status Tracking: </a:t>
            </a:r>
            <a:r>
              <a:rPr sz="1000">
                <a:solidFill>
                  <a:srgbClr val="CBD5E1"/>
                </a:solidFill>
              </a:rPr>
              <a:t>Flags missing or unverified fields for manual sign-off.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4663440" y="1188720"/>
            <a:ext cx="4114800" cy="3474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spcAft>
                <a:spcPts val="600"/>
              </a:spcAft>
              <a:defRPr sz="1300" b="1">
                <a:solidFill>
                  <a:srgbClr val="38BDF8"/>
                </a:solidFill>
              </a:defRPr>
            </a:pPr>
            <a:r>
              <a:t>LIVE SCALABILITY MONITOR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▪ Searches Avoided: </a:t>
            </a:r>
            <a:r>
              <a:rPr sz="1000">
                <a:solidFill>
                  <a:srgbClr val="CBD5E1"/>
                </a:solidFill>
              </a:rPr>
              <a:t>Tracks web search calls saved via cache and series hits.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▪ Documents Reused: </a:t>
            </a:r>
            <a:r>
              <a:rPr sz="1000">
                <a:solidFill>
                  <a:srgbClr val="CBD5E1"/>
                </a:solidFill>
              </a:rPr>
              <a:t>Displays total PDF manuals reused via SHA-256 hash match.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▪ Series Cached: </a:t>
            </a:r>
            <a:r>
              <a:rPr sz="1000">
                <a:solidFill>
                  <a:srgbClr val="CBD5E1"/>
                </a:solidFill>
              </a:rPr>
              <a:t>Shows distinct product families inheriting baseline attributes.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▪ Auto-Enriched Count: </a:t>
            </a:r>
            <a:r>
              <a:rPr sz="1000">
                <a:solidFill>
                  <a:srgbClr val="CBD5E1"/>
                </a:solidFill>
              </a:rPr>
              <a:t>Monitors high-confidence records auto-completed.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33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Picture 148" descr="architec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1097280"/>
            <a:ext cx="8412480" cy="7982105"/>
          </a:xfrm>
          <a:prstGeom prst="rect">
            <a:avLst/>
          </a:prstGeom>
        </p:spPr>
      </p:pic>
      <p:sp>
        <p:nvSpPr>
          <p:cNvPr id="150" name="Rounded Rectangle 149"/>
          <p:cNvSpPr/>
          <p:nvPr/>
        </p:nvSpPr>
        <p:spPr>
          <a:xfrm>
            <a:off x="365760" y="4114800"/>
            <a:ext cx="8412480" cy="6400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▪ Architecture Highlights: </a:t>
            </a:r>
            <a:r>
              <a:rPr sz="1000">
                <a:solidFill>
                  <a:srgbClr val="CBD5E1"/>
                </a:solidFill>
              </a:rPr>
              <a:t>10 Sequential &amp; Conditional LangGraph Nodes  |  SQLite Knowledge Store  |  ChromaDB Vector Store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34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Rounded Rectangle 154"/>
          <p:cNvSpPr/>
          <p:nvPr/>
        </p:nvSpPr>
        <p:spPr>
          <a:xfrm>
            <a:off x="365760" y="1188720"/>
            <a:ext cx="4023360" cy="1645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spcAft>
                <a:spcPts val="600"/>
              </a:spcAft>
              <a:defRPr sz="1300" b="1">
                <a:solidFill>
                  <a:srgbClr val="38BDF8"/>
                </a:solidFill>
              </a:defRPr>
            </a:pPr>
            <a:r>
              <a:t>Orchestration &amp; Workflow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▪ Core Stack: </a:t>
            </a:r>
            <a:r>
              <a:rPr sz="1000">
                <a:solidFill>
                  <a:srgbClr val="CBD5E1"/>
                </a:solidFill>
              </a:rPr>
              <a:t>LangGraph, LangChain, Python 3.11, FastAPI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4663440" y="1188720"/>
            <a:ext cx="4114800" cy="1645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spcAft>
                <a:spcPts val="600"/>
              </a:spcAft>
              <a:defRPr sz="1300" b="1">
                <a:solidFill>
                  <a:srgbClr val="38BDF8"/>
                </a:solidFill>
              </a:defRPr>
            </a:pPr>
            <a:r>
              <a:t>AI Reasoning &amp; Extraction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▪ LLM Models: </a:t>
            </a:r>
            <a:r>
              <a:rPr sz="1000">
                <a:solidFill>
                  <a:srgbClr val="CBD5E1"/>
                </a:solidFill>
              </a:rPr>
              <a:t>Gemini 2.5 Flash (Orchestration), Qwen2.5 / Llama3 (Local)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365760" y="3017520"/>
            <a:ext cx="4023360" cy="1645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spcAft>
                <a:spcPts val="600"/>
              </a:spcAft>
              <a:defRPr sz="1300" b="1">
                <a:solidFill>
                  <a:srgbClr val="38BDF8"/>
                </a:solidFill>
              </a:defRPr>
            </a:pPr>
            <a:r>
              <a:t>Storage &amp; Vector Search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▪ Databases: </a:t>
            </a:r>
            <a:r>
              <a:rPr sz="1000">
                <a:solidFill>
                  <a:srgbClr val="CBD5E1"/>
                </a:solidFill>
              </a:rPr>
              <a:t>SQLite (Knowledge Store), ChromaDB (Vector Store)</a:t>
            </a:r>
          </a:p>
        </p:txBody>
      </p:sp>
      <p:sp>
        <p:nvSpPr>
          <p:cNvPr id="158" name="Rounded Rectangle 157"/>
          <p:cNvSpPr/>
          <p:nvPr/>
        </p:nvSpPr>
        <p:spPr>
          <a:xfrm>
            <a:off x="4663440" y="3017520"/>
            <a:ext cx="4114800" cy="1645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spcAft>
                <a:spcPts val="600"/>
              </a:spcAft>
              <a:defRPr sz="1300" b="1">
                <a:solidFill>
                  <a:srgbClr val="38BDF8"/>
                </a:solidFill>
              </a:defRPr>
            </a:pPr>
            <a:r>
              <a:t>Parsing, Search &amp; UI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▪ Tools &amp; Frontend: </a:t>
            </a:r>
            <a:r>
              <a:rPr sz="1000">
                <a:solidFill>
                  <a:srgbClr val="CBD5E1"/>
                </a:solidFill>
              </a:rPr>
              <a:t>Serper API, DuckDuckGo, PyMuPDF, React.js, Vite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35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Rounded Rectangle 160"/>
          <p:cNvSpPr/>
          <p:nvPr/>
        </p:nvSpPr>
        <p:spPr>
          <a:xfrm>
            <a:off x="365760" y="1188720"/>
            <a:ext cx="2651760" cy="3474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spcAft>
                <a:spcPts val="600"/>
              </a:spcAft>
              <a:defRPr sz="1300" b="1">
                <a:solidFill>
                  <a:srgbClr val="38BDF8"/>
                </a:solidFill>
              </a:defRPr>
            </a:pPr>
            <a:r>
              <a:t>Micro Cost Per Product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▪ API Cost Efficiency: </a:t>
            </a:r>
            <a:r>
              <a:rPr sz="1000">
                <a:solidFill>
                  <a:srgbClr val="CBD5E1"/>
                </a:solidFill>
              </a:rPr>
              <a:t>$0.002 – $0.005 per product.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▪ Targeted Prompts: </a:t>
            </a:r>
            <a:r>
              <a:rPr sz="1000">
                <a:solidFill>
                  <a:srgbClr val="CBD5E1"/>
                </a:solidFill>
              </a:rPr>
              <a:t>Attribute RAG uses tiny focused contexts within fast LLM tiers.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▪ Budget Friendly: </a:t>
            </a:r>
            <a:r>
              <a:rPr sz="1000">
                <a:solidFill>
                  <a:srgbClr val="CBD5E1"/>
                </a:solidFill>
              </a:rPr>
              <a:t>Enables large catalog enrichment without massive cloud bills.</a:t>
            </a:r>
          </a:p>
        </p:txBody>
      </p:sp>
      <p:sp>
        <p:nvSpPr>
          <p:cNvPr id="162" name="Rounded Rectangle 161"/>
          <p:cNvSpPr/>
          <p:nvPr/>
        </p:nvSpPr>
        <p:spPr>
          <a:xfrm>
            <a:off x="3246120" y="1188720"/>
            <a:ext cx="2651760" cy="3474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spcAft>
                <a:spcPts val="600"/>
              </a:spcAft>
              <a:defRPr sz="1300" b="1">
                <a:solidFill>
                  <a:srgbClr val="38BDF8"/>
                </a:solidFill>
              </a:defRPr>
            </a:pPr>
            <a:r>
              <a:t>60-80% Call Reduction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▪ Document Hashing: </a:t>
            </a:r>
            <a:r>
              <a:rPr sz="1000">
                <a:solidFill>
                  <a:srgbClr val="CBD5E1"/>
                </a:solidFill>
              </a:rPr>
              <a:t>Identical PDF datasheets parsed once.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▪ Series Baseline: </a:t>
            </a:r>
            <a:r>
              <a:rPr sz="1000">
                <a:solidFill>
                  <a:srgbClr val="CBD5E1"/>
                </a:solidFill>
              </a:rPr>
              <a:t>Shared attributes inherited across sibling items.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▪ API Conservation: </a:t>
            </a:r>
            <a:r>
              <a:rPr sz="1000">
                <a:solidFill>
                  <a:srgbClr val="CBD5E1"/>
                </a:solidFill>
              </a:rPr>
              <a:t>Drastically minimizes web search quotas.</a:t>
            </a:r>
          </a:p>
        </p:txBody>
      </p:sp>
      <p:sp>
        <p:nvSpPr>
          <p:cNvPr id="163" name="Rounded Rectangle 162"/>
          <p:cNvSpPr/>
          <p:nvPr/>
        </p:nvSpPr>
        <p:spPr>
          <a:xfrm>
            <a:off x="6126480" y="1188720"/>
            <a:ext cx="2651760" cy="3474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spcAft>
                <a:spcPts val="600"/>
              </a:spcAft>
              <a:defRPr sz="1300" b="1">
                <a:solidFill>
                  <a:srgbClr val="38BDF8"/>
                </a:solidFill>
              </a:defRPr>
            </a:pPr>
            <a:r>
              <a:t>Lightweight Infra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▪ Standard Server: </a:t>
            </a:r>
            <a:r>
              <a:rPr sz="1000">
                <a:solidFill>
                  <a:srgbClr val="CBD5E1"/>
                </a:solidFill>
              </a:rPr>
              <a:t>Runs efficiently on modest server instances.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▪ SQLite Backend: </a:t>
            </a:r>
            <a:r>
              <a:rPr sz="1000">
                <a:solidFill>
                  <a:srgbClr val="CBD5E1"/>
                </a:solidFill>
              </a:rPr>
              <a:t>Zero complex database cluster overhead.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▪ Local Ollama Option: </a:t>
            </a:r>
            <a:r>
              <a:rPr sz="1000">
                <a:solidFill>
                  <a:srgbClr val="CBD5E1"/>
                </a:solidFill>
              </a:rPr>
              <a:t>Supports full offline demo execution.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36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Rounded Rectangle 166"/>
          <p:cNvSpPr/>
          <p:nvPr/>
        </p:nvSpPr>
        <p:spPr>
          <a:xfrm>
            <a:off x="365760" y="1188720"/>
            <a:ext cx="2651760" cy="3474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spcAft>
                <a:spcPts val="600"/>
              </a:spcAft>
              <a:defRPr sz="1300" b="1">
                <a:solidFill>
                  <a:srgbClr val="38BDF8"/>
                </a:solidFill>
              </a:defRPr>
            </a:pPr>
            <a:r>
              <a:t>Catalog Enrichment Engine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▪ Single &amp; Batch Mode: </a:t>
            </a:r>
            <a:r>
              <a:rPr sz="1000">
                <a:solidFill>
                  <a:srgbClr val="CBD5E1"/>
                </a:solidFill>
              </a:rPr>
              <a:t>Supports individual MPN lookup or batch CSV file processing.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▪ Live Pipeline Trace: </a:t>
            </a:r>
            <a:r>
              <a:rPr sz="1000">
                <a:solidFill>
                  <a:srgbClr val="CBD5E1"/>
                </a:solidFill>
              </a:rPr>
              <a:t>Step-by-step Execution Log showing exact node actions.</a:t>
            </a:r>
          </a:p>
        </p:txBody>
      </p:sp>
      <p:sp>
        <p:nvSpPr>
          <p:cNvPr id="168" name="Rounded Rectangle 167"/>
          <p:cNvSpPr/>
          <p:nvPr/>
        </p:nvSpPr>
        <p:spPr>
          <a:xfrm>
            <a:off x="3246120" y="1188720"/>
            <a:ext cx="2651760" cy="3474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spcAft>
                <a:spcPts val="600"/>
              </a:spcAft>
              <a:defRPr sz="1300" b="1">
                <a:solidFill>
                  <a:srgbClr val="38BDF8"/>
                </a:solidFill>
              </a:defRPr>
            </a:pPr>
            <a:r>
              <a:t>Evidence Provenance Drawer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▪ Verbatim Snippets: </a:t>
            </a:r>
            <a:r>
              <a:rPr sz="1000">
                <a:solidFill>
                  <a:srgbClr val="CBD5E1"/>
                </a:solidFill>
              </a:rPr>
              <a:t>Clickable source quotes verifying every extracted value.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▪ Direct Datasheet Link: </a:t>
            </a:r>
            <a:r>
              <a:rPr sz="1000">
                <a:solidFill>
                  <a:srgbClr val="CBD5E1"/>
                </a:solidFill>
              </a:rPr>
              <a:t>Provides direct URLs to official PDF spec sheets.</a:t>
            </a:r>
          </a:p>
        </p:txBody>
      </p:sp>
      <p:sp>
        <p:nvSpPr>
          <p:cNvPr id="169" name="Rounded Rectangle 168"/>
          <p:cNvSpPr/>
          <p:nvPr/>
        </p:nvSpPr>
        <p:spPr>
          <a:xfrm>
            <a:off x="6126480" y="1188720"/>
            <a:ext cx="2651760" cy="3474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spcAft>
                <a:spcPts val="600"/>
              </a:spcAft>
              <a:defRPr sz="1300" b="1">
                <a:solidFill>
                  <a:srgbClr val="38BDF8"/>
                </a:solidFill>
              </a:defRPr>
            </a:pPr>
            <a:r>
              <a:t>250-Column CSV Exporter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▪ Unilog Format: </a:t>
            </a:r>
            <a:r>
              <a:rPr sz="1000">
                <a:solidFill>
                  <a:srgbClr val="CBD5E1"/>
                </a:solidFill>
              </a:rPr>
              <a:t>Exports 250 standardized attributes into distributor CSV format.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▪ Automated SEO: </a:t>
            </a:r>
            <a:r>
              <a:rPr sz="1000">
                <a:solidFill>
                  <a:srgbClr val="CBD5E1"/>
                </a:solidFill>
              </a:rPr>
              <a:t>Generates short, long, and 20 feature bullet descriptions.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37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Rounded Rectangle 172"/>
          <p:cNvSpPr/>
          <p:nvPr/>
        </p:nvSpPr>
        <p:spPr>
          <a:xfrm>
            <a:off x="365760" y="1188720"/>
            <a:ext cx="2651760" cy="3474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spcAft>
                <a:spcPts val="600"/>
              </a:spcAft>
              <a:defRPr sz="1300" b="1">
                <a:solidFill>
                  <a:srgbClr val="38BDF8"/>
                </a:solidFill>
              </a:defRPr>
            </a:pPr>
            <a:r>
              <a:t>PHASE 1: PDF Vision Parser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▪ VLM Extraction: </a:t>
            </a:r>
            <a:r>
              <a:rPr sz="1000">
                <a:solidFill>
                  <a:srgbClr val="CBD5E1"/>
                </a:solidFill>
              </a:rPr>
              <a:t>Parse complex multi-page PDF spec tables via Vision-Language Models.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▪ Diagram OCR: </a:t>
            </a:r>
            <a:r>
              <a:rPr sz="1000">
                <a:solidFill>
                  <a:srgbClr val="CBD5E1"/>
                </a:solidFill>
              </a:rPr>
              <a:t>Extract dimensional specs from technical CAD drawings.</a:t>
            </a:r>
          </a:p>
        </p:txBody>
      </p:sp>
      <p:sp>
        <p:nvSpPr>
          <p:cNvPr id="174" name="Rounded Rectangle 173"/>
          <p:cNvSpPr/>
          <p:nvPr/>
        </p:nvSpPr>
        <p:spPr>
          <a:xfrm>
            <a:off x="3246120" y="1188720"/>
            <a:ext cx="2651760" cy="3474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spcAft>
                <a:spcPts val="600"/>
              </a:spcAft>
              <a:defRPr sz="1300" b="1">
                <a:solidFill>
                  <a:srgbClr val="38BDF8"/>
                </a:solidFill>
              </a:defRPr>
            </a:pPr>
            <a:r>
              <a:t>PHASE 2: Image Feature Vision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▪ Visual Specs: </a:t>
            </a:r>
            <a:r>
              <a:rPr sz="1000">
                <a:solidFill>
                  <a:srgbClr val="CBD5E1"/>
                </a:solidFill>
              </a:rPr>
              <a:t>Infer physical color, finish, and shape directly from product images.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▪ Packaging OCR: </a:t>
            </a:r>
            <a:r>
              <a:rPr sz="1000">
                <a:solidFill>
                  <a:srgbClr val="CBD5E1"/>
                </a:solidFill>
              </a:rPr>
              <a:t>Extract UPC/EAN barcodes from packaging photos.</a:t>
            </a:r>
          </a:p>
        </p:txBody>
      </p:sp>
      <p:sp>
        <p:nvSpPr>
          <p:cNvPr id="175" name="Rounded Rectangle 174"/>
          <p:cNvSpPr/>
          <p:nvPr/>
        </p:nvSpPr>
        <p:spPr>
          <a:xfrm>
            <a:off x="6126480" y="1188720"/>
            <a:ext cx="2651760" cy="3474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spcAft>
                <a:spcPts val="600"/>
              </a:spcAft>
              <a:defRPr sz="1300" b="1">
                <a:solidFill>
                  <a:srgbClr val="38BDF8"/>
                </a:solidFill>
              </a:defRPr>
            </a:pPr>
            <a:r>
              <a:t>PHASE 3: ERP Connectors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▪ Distributor Sync: </a:t>
            </a:r>
            <a:r>
              <a:rPr sz="1000">
                <a:solidFill>
                  <a:srgbClr val="CBD5E1"/>
                </a:solidFill>
              </a:rPr>
              <a:t>Direct API integration with ERP systems (SAP, Oracle).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▪ Real-Time Ingestion: </a:t>
            </a:r>
            <a:r>
              <a:rPr sz="1000">
                <a:solidFill>
                  <a:srgbClr val="CBD5E1"/>
                </a:solidFill>
              </a:rPr>
              <a:t>Automated catalog sync on new inventory additions.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38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Rounded Rectangle 178"/>
          <p:cNvSpPr/>
          <p:nvPr/>
        </p:nvSpPr>
        <p:spPr>
          <a:xfrm>
            <a:off x="365760" y="1188720"/>
            <a:ext cx="8412480" cy="9144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spcAft>
                <a:spcPts val="600"/>
              </a:spcAft>
              <a:defRPr sz="1300" b="1">
                <a:solidFill>
                  <a:srgbClr val="38BDF8"/>
                </a:solidFill>
              </a:defRPr>
            </a:pPr>
            <a:r>
              <a:t>GitHub Public Repository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▪ Repository URL: </a:t>
            </a:r>
            <a:r>
              <a:rPr sz="1000">
                <a:solidFill>
                  <a:srgbClr val="CBD5E1"/>
                </a:solidFill>
              </a:rPr>
              <a:t>https://github.com/Charishma1707/product-intelligence</a:t>
            </a:r>
          </a:p>
        </p:txBody>
      </p:sp>
      <p:sp>
        <p:nvSpPr>
          <p:cNvPr id="180" name="Rounded Rectangle 179"/>
          <p:cNvSpPr/>
          <p:nvPr/>
        </p:nvSpPr>
        <p:spPr>
          <a:xfrm>
            <a:off x="365760" y="2286000"/>
            <a:ext cx="8412480" cy="9144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spcAft>
                <a:spcPts val="600"/>
              </a:spcAft>
              <a:defRPr sz="1300" b="1">
                <a:solidFill>
                  <a:srgbClr val="38BDF8"/>
                </a:solidFill>
              </a:defRPr>
            </a:pPr>
            <a:r>
              <a:t>Demo Video Link (3 Minutes)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▪ Video URL: </a:t>
            </a:r>
            <a:r>
              <a:rPr sz="1000">
                <a:solidFill>
                  <a:srgbClr val="CBD5E1"/>
                </a:solidFill>
              </a:rPr>
              <a:t>https://youtu.be/example-demo-video</a:t>
            </a:r>
          </a:p>
        </p:txBody>
      </p:sp>
      <p:sp>
        <p:nvSpPr>
          <p:cNvPr id="181" name="Rounded Rectangle 180"/>
          <p:cNvSpPr/>
          <p:nvPr/>
        </p:nvSpPr>
        <p:spPr>
          <a:xfrm>
            <a:off x="365760" y="3383280"/>
            <a:ext cx="8412480" cy="9144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spcAft>
                <a:spcPts val="600"/>
              </a:spcAft>
              <a:defRPr sz="1300" b="1">
                <a:solidFill>
                  <a:srgbClr val="38BDF8"/>
                </a:solidFill>
              </a:defRPr>
            </a:pPr>
            <a:r>
              <a:t>Working Prototype Link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▪ Prototype Dashboard: </a:t>
            </a:r>
            <a:r>
              <a:rPr sz="1000">
                <a:solidFill>
                  <a:srgbClr val="CBD5E1"/>
                </a:solidFill>
              </a:rPr>
              <a:t>http://localhost:5173 (React HITL Review Console)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39" title="Framededede 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